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00000"/>
      </a:lnSpc>
      <a:spcBef>
        <a:spcPts val="59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200" algn="l" defTabSz="825500" rtl="0" fontAlgn="auto" latinLnBrk="0" hangingPunct="0">
      <a:lnSpc>
        <a:spcPct val="100000"/>
      </a:lnSpc>
      <a:spcBef>
        <a:spcPts val="59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400" algn="l" defTabSz="825500" rtl="0" fontAlgn="auto" latinLnBrk="0" hangingPunct="0">
      <a:lnSpc>
        <a:spcPct val="100000"/>
      </a:lnSpc>
      <a:spcBef>
        <a:spcPts val="59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600" algn="l" defTabSz="825500" rtl="0" fontAlgn="auto" latinLnBrk="0" hangingPunct="0">
      <a:lnSpc>
        <a:spcPct val="100000"/>
      </a:lnSpc>
      <a:spcBef>
        <a:spcPts val="59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800" algn="l" defTabSz="825500" rtl="0" fontAlgn="auto" latinLnBrk="0" hangingPunct="0">
      <a:lnSpc>
        <a:spcPct val="100000"/>
      </a:lnSpc>
      <a:spcBef>
        <a:spcPts val="59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6000" algn="l" defTabSz="825500" rtl="0" fontAlgn="auto" latinLnBrk="0" hangingPunct="0">
      <a:lnSpc>
        <a:spcPct val="100000"/>
      </a:lnSpc>
      <a:spcBef>
        <a:spcPts val="59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200" algn="l" defTabSz="825500" rtl="0" fontAlgn="auto" latinLnBrk="0" hangingPunct="0">
      <a:lnSpc>
        <a:spcPct val="100000"/>
      </a:lnSpc>
      <a:spcBef>
        <a:spcPts val="59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400" algn="l" defTabSz="825500" rtl="0" fontAlgn="auto" latinLnBrk="0" hangingPunct="0">
      <a:lnSpc>
        <a:spcPct val="100000"/>
      </a:lnSpc>
      <a:spcBef>
        <a:spcPts val="59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600" algn="l" defTabSz="825500" rtl="0" fontAlgn="auto" latinLnBrk="0" hangingPunct="0">
      <a:lnSpc>
        <a:spcPct val="100000"/>
      </a:lnSpc>
      <a:spcBef>
        <a:spcPts val="59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60" d="100"/>
          <a:sy n="6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ONIO BAHAMONDE RIONDA" userId="8b4bffbb-37df-44c9-965d-31febf8c2920" providerId="ADAL" clId="{3D0545C9-A33A-5F2F-9341-186D8E35A5EC}"/>
    <pc:docChg chg="undo custSel modSld">
      <pc:chgData name="ANTONIO BAHAMONDE RIONDA" userId="8b4bffbb-37df-44c9-965d-31febf8c2920" providerId="ADAL" clId="{3D0545C9-A33A-5F2F-9341-186D8E35A5EC}" dt="2025-11-26T10:53:54.788" v="14" actId="729"/>
      <pc:docMkLst>
        <pc:docMk/>
      </pc:docMkLst>
      <pc:sldChg chg="modSp mod">
        <pc:chgData name="ANTONIO BAHAMONDE RIONDA" userId="8b4bffbb-37df-44c9-965d-31febf8c2920" providerId="ADAL" clId="{3D0545C9-A33A-5F2F-9341-186D8E35A5EC}" dt="2025-11-26T10:42:41.010" v="9" actId="27636"/>
        <pc:sldMkLst>
          <pc:docMk/>
          <pc:sldMk cId="0" sldId="259"/>
        </pc:sldMkLst>
        <pc:spChg chg="mod">
          <ac:chgData name="ANTONIO BAHAMONDE RIONDA" userId="8b4bffbb-37df-44c9-965d-31febf8c2920" providerId="ADAL" clId="{3D0545C9-A33A-5F2F-9341-186D8E35A5EC}" dt="2025-11-26T10:42:41.010" v="9" actId="27636"/>
          <ac:spMkLst>
            <pc:docMk/>
            <pc:sldMk cId="0" sldId="259"/>
            <ac:spMk id="150" creationId="{00000000-0000-0000-0000-000000000000}"/>
          </ac:spMkLst>
        </pc:spChg>
        <pc:spChg chg="mod">
          <ac:chgData name="ANTONIO BAHAMONDE RIONDA" userId="8b4bffbb-37df-44c9-965d-31febf8c2920" providerId="ADAL" clId="{3D0545C9-A33A-5F2F-9341-186D8E35A5EC}" dt="2025-11-26T10:41:38.524" v="0" actId="14100"/>
          <ac:spMkLst>
            <pc:docMk/>
            <pc:sldMk cId="0" sldId="259"/>
            <ac:spMk id="152" creationId="{00000000-0000-0000-0000-000000000000}"/>
          </ac:spMkLst>
        </pc:spChg>
      </pc:sldChg>
      <pc:sldChg chg="modSp mod">
        <pc:chgData name="ANTONIO BAHAMONDE RIONDA" userId="8b4bffbb-37df-44c9-965d-31febf8c2920" providerId="ADAL" clId="{3D0545C9-A33A-5F2F-9341-186D8E35A5EC}" dt="2025-11-26T10:51:32.383" v="13" actId="732"/>
        <pc:sldMkLst>
          <pc:docMk/>
          <pc:sldMk cId="0" sldId="276"/>
        </pc:sldMkLst>
        <pc:spChg chg="mod">
          <ac:chgData name="ANTONIO BAHAMONDE RIONDA" userId="8b4bffbb-37df-44c9-965d-31febf8c2920" providerId="ADAL" clId="{3D0545C9-A33A-5F2F-9341-186D8E35A5EC}" dt="2025-11-26T10:51:17.359" v="12" actId="20577"/>
          <ac:spMkLst>
            <pc:docMk/>
            <pc:sldMk cId="0" sldId="276"/>
            <ac:spMk id="214" creationId="{00000000-0000-0000-0000-000000000000}"/>
          </ac:spMkLst>
        </pc:spChg>
        <pc:picChg chg="mod modCrop">
          <ac:chgData name="ANTONIO BAHAMONDE RIONDA" userId="8b4bffbb-37df-44c9-965d-31febf8c2920" providerId="ADAL" clId="{3D0545C9-A33A-5F2F-9341-186D8E35A5EC}" dt="2025-11-26T10:51:32.383" v="13" actId="732"/>
          <ac:picMkLst>
            <pc:docMk/>
            <pc:sldMk cId="0" sldId="276"/>
            <ac:picMk id="216" creationId="{00000000-0000-0000-0000-000000000000}"/>
          </ac:picMkLst>
        </pc:picChg>
      </pc:sldChg>
      <pc:sldChg chg="mod modShow">
        <pc:chgData name="ANTONIO BAHAMONDE RIONDA" userId="8b4bffbb-37df-44c9-965d-31febf8c2920" providerId="ADAL" clId="{3D0545C9-A33A-5F2F-9341-186D8E35A5EC}" dt="2025-11-26T10:53:54.788" v="14" actId="729"/>
        <pc:sldMkLst>
          <pc:docMk/>
          <pc:sldMk cId="0" sldId="286"/>
        </pc:sldMkLst>
      </pc:sldChg>
      <pc:sldChg chg="mod modShow">
        <pc:chgData name="ANTONIO BAHAMONDE RIONDA" userId="8b4bffbb-37df-44c9-965d-31febf8c2920" providerId="ADAL" clId="{3D0545C9-A33A-5F2F-9341-186D8E35A5EC}" dt="2025-11-26T10:53:54.788" v="14" actId="729"/>
        <pc:sldMkLst>
          <pc:docMk/>
          <pc:sldMk cId="0" sldId="287"/>
        </pc:sldMkLst>
      </pc:sldChg>
      <pc:sldChg chg="mod modShow">
        <pc:chgData name="ANTONIO BAHAMONDE RIONDA" userId="8b4bffbb-37df-44c9-965d-31febf8c2920" providerId="ADAL" clId="{3D0545C9-A33A-5F2F-9341-186D8E35A5EC}" dt="2025-11-26T10:53:54.788" v="14" actId="729"/>
        <pc:sldMkLst>
          <pc:docMk/>
          <pc:sldMk cId="0" sldId="288"/>
        </pc:sldMkLst>
      </pc:sldChg>
      <pc:sldChg chg="mod modShow">
        <pc:chgData name="ANTONIO BAHAMONDE RIONDA" userId="8b4bffbb-37df-44c9-965d-31febf8c2920" providerId="ADAL" clId="{3D0545C9-A33A-5F2F-9341-186D8E35A5EC}" dt="2025-11-26T10:53:54.788" v="14" actId="729"/>
        <pc:sldMkLst>
          <pc:docMk/>
          <pc:sldMk cId="0" sldId="289"/>
        </pc:sldMkLst>
      </pc:sldChg>
      <pc:sldChg chg="mod modShow">
        <pc:chgData name="ANTONIO BAHAMONDE RIONDA" userId="8b4bffbb-37df-44c9-965d-31febf8c2920" providerId="ADAL" clId="{3D0545C9-A33A-5F2F-9341-186D8E35A5EC}" dt="2025-11-26T10:53:54.788" v="14" actId="729"/>
        <pc:sldMkLst>
          <pc:docMk/>
          <pc:sldMk cId="0" sldId="290"/>
        </pc:sldMkLst>
      </pc:sldChg>
      <pc:sldChg chg="mod modShow">
        <pc:chgData name="ANTONIO BAHAMONDE RIONDA" userId="8b4bffbb-37df-44c9-965d-31febf8c2920" providerId="ADAL" clId="{3D0545C9-A33A-5F2F-9341-186D8E35A5EC}" dt="2025-11-26T10:53:54.788" v="14" actId="729"/>
        <pc:sldMkLst>
          <pc:docMk/>
          <pc:sldMk cId="0" sldId="291"/>
        </pc:sldMkLst>
      </pc:sldChg>
      <pc:sldChg chg="mod modShow">
        <pc:chgData name="ANTONIO BAHAMONDE RIONDA" userId="8b4bffbb-37df-44c9-965d-31febf8c2920" providerId="ADAL" clId="{3D0545C9-A33A-5F2F-9341-186D8E35A5EC}" dt="2025-11-26T10:53:54.788" v="14" actId="729"/>
        <pc:sldMkLst>
          <pc:docMk/>
          <pc:sldMk cId="0" sldId="292"/>
        </pc:sldMkLst>
      </pc:sldChg>
      <pc:sldChg chg="mod modShow">
        <pc:chgData name="ANTONIO BAHAMONDE RIONDA" userId="8b4bffbb-37df-44c9-965d-31febf8c2920" providerId="ADAL" clId="{3D0545C9-A33A-5F2F-9341-186D8E35A5EC}" dt="2025-11-26T10:53:54.788" v="14" actId="729"/>
        <pc:sldMkLst>
          <pc:docMk/>
          <pc:sldMk cId="0" sldId="29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xfrm>
            <a:off x="1143000" y="685800"/>
            <a:ext cx="4572000" cy="3429000"/>
          </a:xfrm>
          <a:prstGeom prst="rect">
            <a:avLst/>
          </a:prstGeom>
        </p:spPr>
        <p:txBody>
          <a:bodyPr/>
          <a:lstStyle/>
          <a:p>
            <a:endParaRPr/>
          </a:p>
        </p:txBody>
      </p:sp>
      <p:sp>
        <p:nvSpPr>
          <p:cNvPr id="135" name="Shape 13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Shape 153"/>
          <p:cNvSpPr>
            <a:spLocks noGrp="1" noRot="1" noChangeAspect="1"/>
          </p:cNvSpPr>
          <p:nvPr>
            <p:ph type="sldImg"/>
          </p:nvPr>
        </p:nvSpPr>
        <p:spPr>
          <a:xfrm>
            <a:off x="381000" y="685800"/>
            <a:ext cx="6096000" cy="3429000"/>
          </a:xfrm>
          <a:prstGeom prst="rect">
            <a:avLst/>
          </a:prstGeom>
        </p:spPr>
        <p:txBody>
          <a:bodyPr/>
          <a:lstStyle/>
          <a:p>
            <a:endParaRPr/>
          </a:p>
        </p:txBody>
      </p:sp>
      <p:sp>
        <p:nvSpPr>
          <p:cNvPr id="154" name="Shape 154"/>
          <p:cNvSpPr>
            <a:spLocks noGrp="1"/>
          </p:cNvSpPr>
          <p:nvPr>
            <p:ph type="body" sz="quarter" idx="1"/>
          </p:nvPr>
        </p:nvSpPr>
        <p:spPr>
          <a:prstGeom prst="rect">
            <a:avLst/>
          </a:prstGeom>
        </p:spPr>
        <p:txBody>
          <a:bodyPr/>
          <a:lstStyle/>
          <a:p>
            <a:r>
              <a:t>El concurso se convocó con el reto de aprender de un conjunto de datos con estas características.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Shape 165"/>
          <p:cNvSpPr>
            <a:spLocks noGrp="1" noRot="1" noChangeAspect="1"/>
          </p:cNvSpPr>
          <p:nvPr>
            <p:ph type="sldImg"/>
          </p:nvPr>
        </p:nvSpPr>
        <p:spPr>
          <a:prstGeom prst="rect">
            <a:avLst/>
          </a:prstGeom>
        </p:spPr>
        <p:txBody>
          <a:bodyPr/>
          <a:lstStyle/>
          <a:p>
            <a:endParaRPr/>
          </a:p>
        </p:txBody>
      </p:sp>
      <p:sp>
        <p:nvSpPr>
          <p:cNvPr id="166" name="Shape 166"/>
          <p:cNvSpPr>
            <a:spLocks noGrp="1"/>
          </p:cNvSpPr>
          <p:nvPr>
            <p:ph type="body" sz="quarter" idx="1"/>
          </p:nvPr>
        </p:nvSpPr>
        <p:spPr>
          <a:prstGeom prst="rect">
            <a:avLst/>
          </a:prstGeom>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ítulo">
    <p:spTree>
      <p:nvGrpSpPr>
        <p:cNvPr id="1" name=""/>
        <p:cNvGrpSpPr/>
        <p:nvPr/>
      </p:nvGrpSpPr>
      <p:grpSpPr>
        <a:xfrm>
          <a:off x="0" y="0"/>
          <a:ext cx="0" cy="0"/>
          <a:chOff x="0" y="0"/>
          <a:chExt cx="0" cy="0"/>
        </a:xfrm>
      </p:grpSpPr>
      <p:sp>
        <p:nvSpPr>
          <p:cNvPr id="11" name="Texto del título"/>
          <p:cNvSpPr txBox="1">
            <a:spLocks noGrp="1"/>
          </p:cNvSpPr>
          <p:nvPr>
            <p:ph type="title"/>
          </p:nvPr>
        </p:nvSpPr>
        <p:spPr>
          <a:xfrm>
            <a:off x="1778000" y="2298700"/>
            <a:ext cx="20828000" cy="4648200"/>
          </a:xfrm>
          <a:prstGeom prst="rect">
            <a:avLst/>
          </a:prstGeom>
        </p:spPr>
        <p:txBody>
          <a:bodyPr anchor="b"/>
          <a:lstStyle/>
          <a:p>
            <a:r>
              <a:t>Texto del título</a:t>
            </a:r>
          </a:p>
        </p:txBody>
      </p:sp>
      <p:sp>
        <p:nvSpPr>
          <p:cNvPr id="12" name="Nivel de texto 1…"/>
          <p:cNvSpPr txBox="1">
            <a:spLocks noGrp="1"/>
          </p:cNvSpPr>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Nivel de texto 1</a:t>
            </a:r>
          </a:p>
          <a:p>
            <a:pPr lvl="1"/>
            <a:r>
              <a:t>Nivel de texto 2</a:t>
            </a:r>
          </a:p>
          <a:p>
            <a:pPr lvl="2"/>
            <a:r>
              <a:t>Nivel de texto 3</a:t>
            </a:r>
          </a:p>
          <a:p>
            <a:pPr lvl="3"/>
            <a:r>
              <a:t>Nivel de texto 4</a:t>
            </a:r>
          </a:p>
          <a:p>
            <a:pPr lvl="4"/>
            <a:r>
              <a:t>Nivel de texto 5</a:t>
            </a:r>
          </a:p>
        </p:txBody>
      </p:sp>
      <p:sp>
        <p:nvSpPr>
          <p:cNvPr id="1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oto (horizontal)">
    <p:spTree>
      <p:nvGrpSpPr>
        <p:cNvPr id="1" name=""/>
        <p:cNvGrpSpPr/>
        <p:nvPr/>
      </p:nvGrpSpPr>
      <p:grpSpPr>
        <a:xfrm>
          <a:off x="0" y="0"/>
          <a:ext cx="0" cy="0"/>
          <a:chOff x="0" y="0"/>
          <a:chExt cx="0" cy="0"/>
        </a:xfrm>
      </p:grpSpPr>
      <p:sp>
        <p:nvSpPr>
          <p:cNvPr id="20" name="Vista de la playa y el mar desde una duna de arena cubierta de hierba"/>
          <p:cNvSpPr>
            <a:spLocks noGrp="1"/>
          </p:cNvSpPr>
          <p:nvPr>
            <p:ph type="pic" idx="21"/>
          </p:nvPr>
        </p:nvSpPr>
        <p:spPr>
          <a:xfrm>
            <a:off x="3125968" y="-393700"/>
            <a:ext cx="18135601" cy="12090400"/>
          </a:xfrm>
          <a:prstGeom prst="rect">
            <a:avLst/>
          </a:prstGeom>
        </p:spPr>
        <p:txBody>
          <a:bodyPr lIns="91439" tIns="45719" rIns="91439" bIns="45719" anchor="t">
            <a:noAutofit/>
          </a:bodyPr>
          <a:lstStyle/>
          <a:p>
            <a:endParaRPr/>
          </a:p>
        </p:txBody>
      </p:sp>
      <p:sp>
        <p:nvSpPr>
          <p:cNvPr id="21" name="Texto del título"/>
          <p:cNvSpPr txBox="1">
            <a:spLocks noGrp="1"/>
          </p:cNvSpPr>
          <p:nvPr>
            <p:ph type="title"/>
          </p:nvPr>
        </p:nvSpPr>
        <p:spPr>
          <a:xfrm>
            <a:off x="635000" y="9512300"/>
            <a:ext cx="23114000" cy="2006600"/>
          </a:xfrm>
          <a:prstGeom prst="rect">
            <a:avLst/>
          </a:prstGeom>
        </p:spPr>
        <p:txBody>
          <a:bodyPr anchor="b"/>
          <a:lstStyle/>
          <a:p>
            <a:r>
              <a:t>Texto del título</a:t>
            </a:r>
          </a:p>
        </p:txBody>
      </p:sp>
      <p:sp>
        <p:nvSpPr>
          <p:cNvPr id="22" name="Nivel de texto 1…"/>
          <p:cNvSpPr txBox="1">
            <a:spLocks noGrp="1"/>
          </p:cNvSpPr>
          <p:nvPr>
            <p:ph type="body" sz="quarter"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Nivel de texto 1</a:t>
            </a:r>
          </a:p>
          <a:p>
            <a:pPr lvl="1"/>
            <a:r>
              <a:t>Nivel de texto 2</a:t>
            </a:r>
          </a:p>
          <a:p>
            <a:pPr lvl="2"/>
            <a:r>
              <a:t>Nivel de texto 3</a:t>
            </a:r>
          </a:p>
          <a:p>
            <a:pPr lvl="3"/>
            <a:r>
              <a:t>Nivel de texto 4</a:t>
            </a:r>
          </a:p>
          <a:p>
            <a:pPr lvl="4"/>
            <a:r>
              <a:t>Nivel de texto 5</a:t>
            </a:r>
          </a:p>
        </p:txBody>
      </p:sp>
      <p:sp>
        <p:nvSpPr>
          <p:cNvPr id="2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ítulo (centro)">
    <p:spTree>
      <p:nvGrpSpPr>
        <p:cNvPr id="1" name=""/>
        <p:cNvGrpSpPr/>
        <p:nvPr/>
      </p:nvGrpSpPr>
      <p:grpSpPr>
        <a:xfrm>
          <a:off x="0" y="0"/>
          <a:ext cx="0" cy="0"/>
          <a:chOff x="0" y="0"/>
          <a:chExt cx="0" cy="0"/>
        </a:xfrm>
      </p:grpSpPr>
      <p:sp>
        <p:nvSpPr>
          <p:cNvPr id="30" name="Texto del título"/>
          <p:cNvSpPr txBox="1">
            <a:spLocks noGrp="1"/>
          </p:cNvSpPr>
          <p:nvPr>
            <p:ph type="title"/>
          </p:nvPr>
        </p:nvSpPr>
        <p:spPr>
          <a:xfrm>
            <a:off x="1778000" y="4533900"/>
            <a:ext cx="20828000" cy="4648200"/>
          </a:xfrm>
          <a:prstGeom prst="rect">
            <a:avLst/>
          </a:prstGeom>
        </p:spPr>
        <p:txBody>
          <a:bodyPr/>
          <a:lstStyle/>
          <a:p>
            <a:r>
              <a:t>Texto del título</a:t>
            </a:r>
          </a:p>
        </p:txBody>
      </p:sp>
      <p:sp>
        <p:nvSpPr>
          <p:cNvPr id="31"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Foto (vertical)">
    <p:spTree>
      <p:nvGrpSpPr>
        <p:cNvPr id="1" name=""/>
        <p:cNvGrpSpPr/>
        <p:nvPr/>
      </p:nvGrpSpPr>
      <p:grpSpPr>
        <a:xfrm>
          <a:off x="0" y="0"/>
          <a:ext cx="0" cy="0"/>
          <a:chOff x="0" y="0"/>
          <a:chExt cx="0" cy="0"/>
        </a:xfrm>
      </p:grpSpPr>
      <p:sp>
        <p:nvSpPr>
          <p:cNvPr id="38" name="Garza volando bajo en una playa con una pequeña valla en primer plano"/>
          <p:cNvSpPr>
            <a:spLocks noGrp="1"/>
          </p:cNvSpPr>
          <p:nvPr>
            <p:ph type="pic" sz="half" idx="21"/>
          </p:nvPr>
        </p:nvSpPr>
        <p:spPr>
          <a:xfrm>
            <a:off x="12827000" y="952500"/>
            <a:ext cx="11468100" cy="11468100"/>
          </a:xfrm>
          <a:prstGeom prst="rect">
            <a:avLst/>
          </a:prstGeom>
        </p:spPr>
        <p:txBody>
          <a:bodyPr lIns="91439" tIns="45719" rIns="91439" bIns="45719" anchor="t">
            <a:noAutofit/>
          </a:bodyPr>
          <a:lstStyle/>
          <a:p>
            <a:endParaRPr/>
          </a:p>
        </p:txBody>
      </p:sp>
      <p:sp>
        <p:nvSpPr>
          <p:cNvPr id="39" name="Texto del título"/>
          <p:cNvSpPr txBox="1">
            <a:spLocks noGrp="1"/>
          </p:cNvSpPr>
          <p:nvPr>
            <p:ph type="title"/>
          </p:nvPr>
        </p:nvSpPr>
        <p:spPr>
          <a:xfrm>
            <a:off x="1651000" y="952500"/>
            <a:ext cx="10223500" cy="5549900"/>
          </a:xfrm>
          <a:prstGeom prst="rect">
            <a:avLst/>
          </a:prstGeom>
        </p:spPr>
        <p:txBody>
          <a:bodyPr anchor="b"/>
          <a:lstStyle>
            <a:lvl1pPr>
              <a:defRPr sz="8400"/>
            </a:lvl1pPr>
          </a:lstStyle>
          <a:p>
            <a:r>
              <a:t>Texto del título</a:t>
            </a:r>
          </a:p>
        </p:txBody>
      </p:sp>
      <p:sp>
        <p:nvSpPr>
          <p:cNvPr id="40" name="Nivel de texto 1…"/>
          <p:cNvSpPr txBox="1">
            <a:spLocks noGrp="1"/>
          </p:cNvSpPr>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Nivel de texto 1</a:t>
            </a:r>
          </a:p>
          <a:p>
            <a:pPr lvl="1"/>
            <a:r>
              <a:t>Nivel de texto 2</a:t>
            </a:r>
          </a:p>
          <a:p>
            <a:pPr lvl="2"/>
            <a:r>
              <a:t>Nivel de texto 3</a:t>
            </a:r>
          </a:p>
          <a:p>
            <a:pPr lvl="3"/>
            <a:r>
              <a:t>Nivel de texto 4</a:t>
            </a:r>
          </a:p>
          <a:p>
            <a:pPr lvl="4"/>
            <a:r>
              <a:t>Nivel de texto 5</a:t>
            </a:r>
          </a:p>
        </p:txBody>
      </p:sp>
      <p:sp>
        <p:nvSpPr>
          <p:cNvPr id="41"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ítulo (arriba)">
    <p:spTree>
      <p:nvGrpSpPr>
        <p:cNvPr id="1" name=""/>
        <p:cNvGrpSpPr/>
        <p:nvPr/>
      </p:nvGrpSpPr>
      <p:grpSpPr>
        <a:xfrm>
          <a:off x="0" y="0"/>
          <a:ext cx="0" cy="0"/>
          <a:chOff x="0" y="0"/>
          <a:chExt cx="0" cy="0"/>
        </a:xfrm>
      </p:grpSpPr>
      <p:sp>
        <p:nvSpPr>
          <p:cNvPr id="48" name="Texto del título"/>
          <p:cNvSpPr txBox="1">
            <a:spLocks noGrp="1"/>
          </p:cNvSpPr>
          <p:nvPr>
            <p:ph type="title"/>
          </p:nvPr>
        </p:nvSpPr>
        <p:spPr>
          <a:prstGeom prst="rect">
            <a:avLst/>
          </a:prstGeom>
        </p:spPr>
        <p:txBody>
          <a:bodyPr/>
          <a:lstStyle/>
          <a:p>
            <a:r>
              <a:t>Texto del título</a:t>
            </a:r>
          </a:p>
        </p:txBody>
      </p:sp>
      <p:sp>
        <p:nvSpPr>
          <p:cNvPr id="49"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ítulo y viñetas">
    <p:spTree>
      <p:nvGrpSpPr>
        <p:cNvPr id="1" name=""/>
        <p:cNvGrpSpPr/>
        <p:nvPr/>
      </p:nvGrpSpPr>
      <p:grpSpPr>
        <a:xfrm>
          <a:off x="0" y="0"/>
          <a:ext cx="0" cy="0"/>
          <a:chOff x="0" y="0"/>
          <a:chExt cx="0" cy="0"/>
        </a:xfrm>
      </p:grpSpPr>
      <p:sp>
        <p:nvSpPr>
          <p:cNvPr id="56" name="Texto del título"/>
          <p:cNvSpPr txBox="1">
            <a:spLocks noGrp="1"/>
          </p:cNvSpPr>
          <p:nvPr>
            <p:ph type="title"/>
          </p:nvPr>
        </p:nvSpPr>
        <p:spPr>
          <a:prstGeom prst="rect">
            <a:avLst/>
          </a:prstGeom>
        </p:spPr>
        <p:txBody>
          <a:bodyPr/>
          <a:lstStyle/>
          <a:p>
            <a:r>
              <a:t>Texto del título</a:t>
            </a:r>
          </a:p>
        </p:txBody>
      </p:sp>
      <p:sp>
        <p:nvSpPr>
          <p:cNvPr id="57" name="Nivel de texto 1…"/>
          <p:cNvSpPr txBox="1">
            <a:spLocks noGrp="1"/>
          </p:cNvSpPr>
          <p:nvPr>
            <p:ph type="body" idx="1"/>
          </p:nvPr>
        </p:nvSpPr>
        <p:spPr>
          <a:prstGeom prst="rect">
            <a:avLst/>
          </a:prstGeom>
        </p:spPr>
        <p:txBody>
          <a:bodyPr/>
          <a:lstStyle>
            <a:lvl1pPr>
              <a:defRPr sz="4800"/>
            </a:lvl1pPr>
            <a:lvl2pPr>
              <a:defRPr sz="4800"/>
            </a:lvl2pPr>
            <a:lvl3pPr>
              <a:defRPr sz="4800"/>
            </a:lvl3pPr>
            <a:lvl4pPr>
              <a:defRPr sz="4800"/>
            </a:lvl4pPr>
            <a:lvl5pPr>
              <a:defRPr sz="4800"/>
            </a:lvl5pPr>
          </a:lstStyle>
          <a:p>
            <a:r>
              <a:t>Nivel de texto 1</a:t>
            </a:r>
          </a:p>
          <a:p>
            <a:pPr lvl="1"/>
            <a:r>
              <a:t>Nivel de texto 2</a:t>
            </a:r>
          </a:p>
          <a:p>
            <a:pPr lvl="2"/>
            <a:r>
              <a:t>Nivel de texto 3</a:t>
            </a:r>
          </a:p>
          <a:p>
            <a:pPr lvl="3"/>
            <a:r>
              <a:t>Nivel de texto 4</a:t>
            </a:r>
          </a:p>
          <a:p>
            <a:pPr lvl="4"/>
            <a:r>
              <a:t>Nivel de texto 5</a:t>
            </a:r>
          </a:p>
        </p:txBody>
      </p:sp>
      <p:sp>
        <p:nvSpPr>
          <p:cNvPr id="58"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ítulo, viñetas y foto">
    <p:spTree>
      <p:nvGrpSpPr>
        <p:cNvPr id="1" name=""/>
        <p:cNvGrpSpPr/>
        <p:nvPr/>
      </p:nvGrpSpPr>
      <p:grpSpPr>
        <a:xfrm>
          <a:off x="0" y="0"/>
          <a:ext cx="0" cy="0"/>
          <a:chOff x="0" y="0"/>
          <a:chExt cx="0" cy="0"/>
        </a:xfrm>
      </p:grpSpPr>
      <p:sp>
        <p:nvSpPr>
          <p:cNvPr id="65" name="Camino de arena entre dos colinas que lleva al mar"/>
          <p:cNvSpPr>
            <a:spLocks noGrp="1"/>
          </p:cNvSpPr>
          <p:nvPr>
            <p:ph type="pic" sz="half" idx="21"/>
          </p:nvPr>
        </p:nvSpPr>
        <p:spPr>
          <a:xfrm>
            <a:off x="10960100" y="3149600"/>
            <a:ext cx="13944600" cy="9296400"/>
          </a:xfrm>
          <a:prstGeom prst="rect">
            <a:avLst/>
          </a:prstGeom>
        </p:spPr>
        <p:txBody>
          <a:bodyPr lIns="91439" tIns="45719" rIns="91439" bIns="45719" anchor="t">
            <a:noAutofit/>
          </a:bodyPr>
          <a:lstStyle/>
          <a:p>
            <a:endParaRPr/>
          </a:p>
        </p:txBody>
      </p:sp>
      <p:sp>
        <p:nvSpPr>
          <p:cNvPr id="66" name="Texto del título"/>
          <p:cNvSpPr txBox="1">
            <a:spLocks noGrp="1"/>
          </p:cNvSpPr>
          <p:nvPr>
            <p:ph type="title"/>
          </p:nvPr>
        </p:nvSpPr>
        <p:spPr>
          <a:prstGeom prst="rect">
            <a:avLst/>
          </a:prstGeom>
        </p:spPr>
        <p:txBody>
          <a:bodyPr/>
          <a:lstStyle/>
          <a:p>
            <a:r>
              <a:t>Texto del título</a:t>
            </a:r>
          </a:p>
        </p:txBody>
      </p:sp>
      <p:sp>
        <p:nvSpPr>
          <p:cNvPr id="67" name="Nivel de texto 1…"/>
          <p:cNvSpPr txBox="1">
            <a:spLocks noGrp="1"/>
          </p:cNvSpPr>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r>
              <a:t>Nivel de texto 1</a:t>
            </a:r>
          </a:p>
          <a:p>
            <a:pPr lvl="1"/>
            <a:r>
              <a:t>Nivel de texto 2</a:t>
            </a:r>
          </a:p>
          <a:p>
            <a:pPr lvl="2"/>
            <a:r>
              <a:t>Nivel de texto 3</a:t>
            </a:r>
          </a:p>
          <a:p>
            <a:pPr lvl="3"/>
            <a:r>
              <a:t>Nivel de texto 4</a:t>
            </a:r>
          </a:p>
          <a:p>
            <a:pPr lvl="4"/>
            <a:r>
              <a:t>Nivel de texto 5</a:t>
            </a:r>
          </a:p>
        </p:txBody>
      </p:sp>
      <p:sp>
        <p:nvSpPr>
          <p:cNvPr id="68"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ítulo, viñetas y vídeo pequeño">
    <p:spTree>
      <p:nvGrpSpPr>
        <p:cNvPr id="1" name=""/>
        <p:cNvGrpSpPr/>
        <p:nvPr/>
      </p:nvGrpSpPr>
      <p:grpSpPr>
        <a:xfrm>
          <a:off x="0" y="0"/>
          <a:ext cx="0" cy="0"/>
          <a:chOff x="0" y="0"/>
          <a:chExt cx="0" cy="0"/>
        </a:xfrm>
      </p:grpSpPr>
      <p:sp>
        <p:nvSpPr>
          <p:cNvPr id="75" name="Texto del título"/>
          <p:cNvSpPr txBox="1">
            <a:spLocks noGrp="1"/>
          </p:cNvSpPr>
          <p:nvPr>
            <p:ph type="title"/>
          </p:nvPr>
        </p:nvSpPr>
        <p:spPr>
          <a:prstGeom prst="rect">
            <a:avLst/>
          </a:prstGeom>
        </p:spPr>
        <p:txBody>
          <a:bodyPr/>
          <a:lstStyle/>
          <a:p>
            <a:r>
              <a:t>Texto del título</a:t>
            </a:r>
          </a:p>
        </p:txBody>
      </p:sp>
      <p:sp>
        <p:nvSpPr>
          <p:cNvPr id="76" name="Nivel de texto 1…"/>
          <p:cNvSpPr txBox="1">
            <a:spLocks noGrp="1"/>
          </p:cNvSpPr>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r>
              <a:t>Nivel de texto 1</a:t>
            </a:r>
          </a:p>
          <a:p>
            <a:pPr lvl="1"/>
            <a:r>
              <a:t>Nivel de texto 2</a:t>
            </a:r>
          </a:p>
          <a:p>
            <a:pPr lvl="2"/>
            <a:r>
              <a:t>Nivel de texto 3</a:t>
            </a:r>
          </a:p>
          <a:p>
            <a:pPr lvl="3"/>
            <a:r>
              <a:t>Nivel de texto 4</a:t>
            </a:r>
          </a:p>
          <a:p>
            <a:pPr lvl="4"/>
            <a:r>
              <a:t>Nivel de texto 5</a:t>
            </a:r>
          </a:p>
        </p:txBody>
      </p:sp>
      <p:sp>
        <p:nvSpPr>
          <p:cNvPr id="77"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ítulo, viñetas y vídeo grande">
    <p:spTree>
      <p:nvGrpSpPr>
        <p:cNvPr id="1" name=""/>
        <p:cNvGrpSpPr/>
        <p:nvPr/>
      </p:nvGrpSpPr>
      <p:grpSpPr>
        <a:xfrm>
          <a:off x="0" y="0"/>
          <a:ext cx="0" cy="0"/>
          <a:chOff x="0" y="0"/>
          <a:chExt cx="0" cy="0"/>
        </a:xfrm>
      </p:grpSpPr>
      <p:sp>
        <p:nvSpPr>
          <p:cNvPr id="84" name="Texto del título"/>
          <p:cNvSpPr txBox="1">
            <a:spLocks noGrp="1"/>
          </p:cNvSpPr>
          <p:nvPr>
            <p:ph type="title"/>
          </p:nvPr>
        </p:nvSpPr>
        <p:spPr>
          <a:prstGeom prst="rect">
            <a:avLst/>
          </a:prstGeom>
        </p:spPr>
        <p:txBody>
          <a:bodyPr/>
          <a:lstStyle/>
          <a:p>
            <a:r>
              <a:t>Texto del título</a:t>
            </a:r>
          </a:p>
        </p:txBody>
      </p:sp>
      <p:sp>
        <p:nvSpPr>
          <p:cNvPr id="85" name="Nivel de texto 1…"/>
          <p:cNvSpPr txBox="1">
            <a:spLocks noGrp="1"/>
          </p:cNvSpPr>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r>
              <a:t>Nivel de texto 1</a:t>
            </a:r>
          </a:p>
          <a:p>
            <a:pPr lvl="1"/>
            <a:r>
              <a:t>Nivel de texto 2</a:t>
            </a:r>
          </a:p>
          <a:p>
            <a:pPr lvl="2"/>
            <a:r>
              <a:t>Nivel de texto 3</a:t>
            </a:r>
          </a:p>
          <a:p>
            <a:pPr lvl="3"/>
            <a:r>
              <a:t>Nivel de texto 4</a:t>
            </a:r>
          </a:p>
          <a:p>
            <a:pPr lvl="4"/>
            <a:r>
              <a:t>Nivel de texto 5</a:t>
            </a:r>
          </a:p>
        </p:txBody>
      </p:sp>
      <p:sp>
        <p:nvSpPr>
          <p:cNvPr id="86"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Viñetas">
    <p:spTree>
      <p:nvGrpSpPr>
        <p:cNvPr id="1" name=""/>
        <p:cNvGrpSpPr/>
        <p:nvPr/>
      </p:nvGrpSpPr>
      <p:grpSpPr>
        <a:xfrm>
          <a:off x="0" y="0"/>
          <a:ext cx="0" cy="0"/>
          <a:chOff x="0" y="0"/>
          <a:chExt cx="0" cy="0"/>
        </a:xfrm>
      </p:grpSpPr>
      <p:sp>
        <p:nvSpPr>
          <p:cNvPr id="93" name="Nivel de texto 1…"/>
          <p:cNvSpPr txBox="1">
            <a:spLocks noGrp="1"/>
          </p:cNvSpPr>
          <p:nvPr>
            <p:ph type="body" idx="1"/>
          </p:nvPr>
        </p:nvSpPr>
        <p:spPr>
          <a:xfrm>
            <a:off x="1689100" y="1778000"/>
            <a:ext cx="21005800" cy="10160000"/>
          </a:xfrm>
          <a:prstGeom prst="rect">
            <a:avLst/>
          </a:prstGeom>
        </p:spPr>
        <p:txBody>
          <a:bodyPr/>
          <a:lstStyle>
            <a:lvl1pPr>
              <a:defRPr sz="4800"/>
            </a:lvl1pPr>
            <a:lvl2pPr>
              <a:defRPr sz="4800"/>
            </a:lvl2pPr>
            <a:lvl3pPr>
              <a:defRPr sz="4800"/>
            </a:lvl3pPr>
            <a:lvl4pPr>
              <a:defRPr sz="4800"/>
            </a:lvl4pPr>
            <a:lvl5pPr>
              <a:defRPr sz="4800"/>
            </a:lvl5pPr>
          </a:lstStyle>
          <a:p>
            <a:r>
              <a:t>Nivel de texto 1</a:t>
            </a:r>
          </a:p>
          <a:p>
            <a:pPr lvl="1"/>
            <a:r>
              <a:t>Nivel de texto 2</a:t>
            </a:r>
          </a:p>
          <a:p>
            <a:pPr lvl="2"/>
            <a:r>
              <a:t>Nivel de texto 3</a:t>
            </a:r>
          </a:p>
          <a:p>
            <a:pPr lvl="3"/>
            <a:r>
              <a:t>Nivel de texto 4</a:t>
            </a:r>
          </a:p>
          <a:p>
            <a:pPr lvl="4"/>
            <a:r>
              <a:t>Nivel de texto 5</a:t>
            </a:r>
          </a:p>
        </p:txBody>
      </p:sp>
      <p:sp>
        <p:nvSpPr>
          <p:cNvPr id="94"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3 fotos">
    <p:spTree>
      <p:nvGrpSpPr>
        <p:cNvPr id="1" name=""/>
        <p:cNvGrpSpPr/>
        <p:nvPr/>
      </p:nvGrpSpPr>
      <p:grpSpPr>
        <a:xfrm>
          <a:off x="0" y="0"/>
          <a:ext cx="0" cy="0"/>
          <a:chOff x="0" y="0"/>
          <a:chExt cx="0" cy="0"/>
        </a:xfrm>
      </p:grpSpPr>
      <p:sp>
        <p:nvSpPr>
          <p:cNvPr id="101" name="Camino de arena entre dos colinas que lleva al mar"/>
          <p:cNvSpPr>
            <a:spLocks noGrp="1"/>
          </p:cNvSpPr>
          <p:nvPr>
            <p:ph type="pic" sz="quarter" idx="21"/>
          </p:nvPr>
        </p:nvSpPr>
        <p:spPr>
          <a:xfrm>
            <a:off x="15300325" y="7048500"/>
            <a:ext cx="8324850" cy="5549900"/>
          </a:xfrm>
          <a:prstGeom prst="rect">
            <a:avLst/>
          </a:prstGeom>
        </p:spPr>
        <p:txBody>
          <a:bodyPr lIns="91439" tIns="45719" rIns="91439" bIns="45719" anchor="t">
            <a:noAutofit/>
          </a:bodyPr>
          <a:lstStyle/>
          <a:p>
            <a:endParaRPr/>
          </a:p>
        </p:txBody>
      </p:sp>
      <p:sp>
        <p:nvSpPr>
          <p:cNvPr id="102" name="Garza volando bajo en una playa con una pequeña valla en primer plano"/>
          <p:cNvSpPr>
            <a:spLocks noGrp="1"/>
          </p:cNvSpPr>
          <p:nvPr>
            <p:ph type="pic" sz="quarter" idx="22"/>
          </p:nvPr>
        </p:nvSpPr>
        <p:spPr>
          <a:xfrm>
            <a:off x="15760700" y="863600"/>
            <a:ext cx="7404100" cy="7404100"/>
          </a:xfrm>
          <a:prstGeom prst="rect">
            <a:avLst/>
          </a:prstGeom>
        </p:spPr>
        <p:txBody>
          <a:bodyPr lIns="91439" tIns="45719" rIns="91439" bIns="45719" anchor="t">
            <a:noAutofit/>
          </a:bodyPr>
          <a:lstStyle/>
          <a:p>
            <a:endParaRPr/>
          </a:p>
        </p:txBody>
      </p:sp>
      <p:sp>
        <p:nvSpPr>
          <p:cNvPr id="103" name="Vista de la playa y el mar desde una duna de arena cubierta de hierba"/>
          <p:cNvSpPr>
            <a:spLocks noGrp="1"/>
          </p:cNvSpPr>
          <p:nvPr>
            <p:ph type="pic" idx="23"/>
          </p:nvPr>
        </p:nvSpPr>
        <p:spPr>
          <a:xfrm>
            <a:off x="-990600" y="1130300"/>
            <a:ext cx="17202150" cy="11468100"/>
          </a:xfrm>
          <a:prstGeom prst="rect">
            <a:avLst/>
          </a:prstGeom>
        </p:spPr>
        <p:txBody>
          <a:bodyPr lIns="91439" tIns="45719" rIns="91439" bIns="45719" anchor="t">
            <a:noAutofit/>
          </a:bodyPr>
          <a:lstStyle/>
          <a:p>
            <a:endParaRPr/>
          </a:p>
        </p:txBody>
      </p:sp>
      <p:sp>
        <p:nvSpPr>
          <p:cNvPr id="104"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Cita">
    <p:spTree>
      <p:nvGrpSpPr>
        <p:cNvPr id="1" name=""/>
        <p:cNvGrpSpPr/>
        <p:nvPr/>
      </p:nvGrpSpPr>
      <p:grpSpPr>
        <a:xfrm>
          <a:off x="0" y="0"/>
          <a:ext cx="0" cy="0"/>
          <a:chOff x="0" y="0"/>
          <a:chExt cx="0" cy="0"/>
        </a:xfrm>
      </p:grpSpPr>
      <p:sp>
        <p:nvSpPr>
          <p:cNvPr id="111" name="– Juan López"/>
          <p:cNvSpPr txBox="1">
            <a:spLocks noGrp="1"/>
          </p:cNvSpPr>
          <p:nvPr>
            <p:ph type="body" sz="quarter" idx="21"/>
          </p:nvPr>
        </p:nvSpPr>
        <p:spPr>
          <a:xfrm>
            <a:off x="2387600" y="8953500"/>
            <a:ext cx="19621500" cy="585521"/>
          </a:xfrm>
          <a:prstGeom prst="rect">
            <a:avLst/>
          </a:prstGeom>
        </p:spPr>
        <p:txBody>
          <a:bodyPr anchor="t">
            <a:spAutoFit/>
          </a:bodyPr>
          <a:lstStyle>
            <a:lvl1pPr marL="0" indent="0" algn="ctr">
              <a:spcBef>
                <a:spcPts val="0"/>
              </a:spcBef>
              <a:buSzTx/>
              <a:buNone/>
              <a:defRPr sz="3200" i="1"/>
            </a:lvl1pPr>
          </a:lstStyle>
          <a:p>
            <a:r>
              <a:t>– Juan López</a:t>
            </a:r>
          </a:p>
        </p:txBody>
      </p:sp>
      <p:sp>
        <p:nvSpPr>
          <p:cNvPr id="112" name="“Escribe una cita aquí”"/>
          <p:cNvSpPr txBox="1">
            <a:spLocks noGrp="1"/>
          </p:cNvSpPr>
          <p:nvPr>
            <p:ph type="body" sz="quarter" idx="22"/>
          </p:nvPr>
        </p:nvSpPr>
        <p:spPr>
          <a:xfrm>
            <a:off x="2387600" y="6076950"/>
            <a:ext cx="19621500" cy="825500"/>
          </a:xfrm>
          <a:prstGeom prst="rect">
            <a:avLst/>
          </a:prstGeom>
        </p:spPr>
        <p:txBody>
          <a:bodyPr>
            <a:spAutoFit/>
          </a:bodyPr>
          <a:lstStyle>
            <a:lvl1pPr marL="0" indent="0" algn="ctr">
              <a:spcBef>
                <a:spcPts val="0"/>
              </a:spcBef>
              <a:buSzTx/>
              <a:buNone/>
              <a:defRPr sz="4800">
                <a:latin typeface="+mn-lt"/>
                <a:ea typeface="+mn-ea"/>
                <a:cs typeface="+mn-cs"/>
                <a:sym typeface="Helvetica Neue Medium"/>
              </a:defRPr>
            </a:lvl1pPr>
          </a:lstStyle>
          <a:p>
            <a:r>
              <a:t>“Escribe una cita aquí”</a:t>
            </a:r>
          </a:p>
        </p:txBody>
      </p:sp>
      <p:sp>
        <p:nvSpPr>
          <p:cNvPr id="11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20" name="Vista de la playa y el mar desde una duna de arena cubierta de hierba"/>
          <p:cNvSpPr>
            <a:spLocks noGrp="1"/>
          </p:cNvSpPr>
          <p:nvPr>
            <p:ph type="pic" idx="21"/>
          </p:nvPr>
        </p:nvSpPr>
        <p:spPr>
          <a:xfrm>
            <a:off x="-50800" y="-1270000"/>
            <a:ext cx="24485600" cy="16323734"/>
          </a:xfrm>
          <a:prstGeom prst="rect">
            <a:avLst/>
          </a:prstGeom>
        </p:spPr>
        <p:txBody>
          <a:bodyPr lIns="91439" tIns="45719" rIns="91439" bIns="45719" anchor="t">
            <a:noAutofit/>
          </a:bodyPr>
          <a:lstStyle/>
          <a:p>
            <a:endParaRPr/>
          </a:p>
        </p:txBody>
      </p:sp>
      <p:sp>
        <p:nvSpPr>
          <p:cNvPr id="121"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En blanco">
    <p:spTree>
      <p:nvGrpSpPr>
        <p:cNvPr id="1" name=""/>
        <p:cNvGrpSpPr/>
        <p:nvPr/>
      </p:nvGrpSpPr>
      <p:grpSpPr>
        <a:xfrm>
          <a:off x="0" y="0"/>
          <a:ext cx="0" cy="0"/>
          <a:chOff x="0" y="0"/>
          <a:chExt cx="0" cy="0"/>
        </a:xfrm>
      </p:grpSpPr>
      <p:sp>
        <p:nvSpPr>
          <p:cNvPr id="128"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o del título"/>
          <p:cNvSpPr txBox="1">
            <a:spLocks noGrp="1"/>
          </p:cNvSpPr>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Texto del título</a:t>
            </a:r>
          </a:p>
        </p:txBody>
      </p:sp>
      <p:sp>
        <p:nvSpPr>
          <p:cNvPr id="3" name="Nivel de texto 1…"/>
          <p:cNvSpPr txBox="1">
            <a:spLocks noGrp="1"/>
          </p:cNvSpPr>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Nivel de texto 1</a:t>
            </a:r>
          </a:p>
          <a:p>
            <a:pPr lvl="1"/>
            <a:r>
              <a:t>Nivel de texto 2</a:t>
            </a:r>
          </a:p>
          <a:p>
            <a:pPr lvl="2"/>
            <a:r>
              <a:t>Nivel de texto 3</a:t>
            </a:r>
          </a:p>
          <a:p>
            <a:pPr lvl="3"/>
            <a:r>
              <a:t>Nivel de texto 4</a:t>
            </a:r>
          </a:p>
          <a:p>
            <a:pPr lvl="4"/>
            <a:r>
              <a:t>Nivel de texto 5</a:t>
            </a:r>
          </a:p>
        </p:txBody>
      </p:sp>
      <p:sp>
        <p:nvSpPr>
          <p:cNvPr id="4" name="Número de diapositiva"/>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lgn="ctr">
              <a:spcBef>
                <a:spcPts val="0"/>
              </a:spcBef>
              <a:defRPr sz="2400">
                <a:latin typeface="Helvetica Neue Light"/>
                <a:ea typeface="Helvetica Neue Light"/>
                <a:cs typeface="Helvetica Neue Light"/>
                <a:sym typeface="Helvetica Neue Light"/>
              </a:defRPr>
            </a:lvl1pPr>
          </a:lstStyle>
          <a:p>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txStyles>
    <p:titleStyle>
      <a:lvl1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1pPr>
      <a:lvl2pPr marL="0" marR="0" indent="4572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2pPr>
      <a:lvl3pPr marL="0" marR="0" indent="9144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3pPr>
      <a:lvl4pPr marL="0" marR="0" indent="13716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4pPr>
      <a:lvl5pPr marL="0" marR="0" indent="18288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5pPr>
      <a:lvl6pPr marL="0" marR="0" indent="22860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6pPr>
      <a:lvl7pPr marL="0" marR="0" indent="27432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7pPr>
      <a:lvl8pPr marL="0" marR="0" indent="32004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8pPr>
      <a:lvl9pPr marL="0" marR="0" indent="36576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9pPr>
    </p:titleStyle>
    <p:bodyStyle>
      <a:lvl1pPr marL="63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1pPr>
      <a:lvl2pPr marL="127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2pPr>
      <a:lvl3pPr marL="190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1pPr>
      <a:lvl2pPr marL="0" marR="0" indent="4572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2pPr>
      <a:lvl3pPr marL="0" marR="0" indent="9144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3pPr>
      <a:lvl4pPr marL="0" marR="0" indent="13716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4pPr>
      <a:lvl5pPr marL="0" marR="0" indent="18288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5pPr>
      <a:lvl6pPr marL="0" marR="0" indent="22860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6pPr>
      <a:lvl7pPr marL="0" marR="0" indent="27432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7pPr>
      <a:lvl8pPr marL="0" marR="0" indent="32004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8pPr>
      <a:lvl9pPr marL="0" marR="0" indent="36576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Anomalies Antonio Bahamonde…"/>
          <p:cNvSpPr txBox="1"/>
          <p:nvPr/>
        </p:nvSpPr>
        <p:spPr>
          <a:xfrm>
            <a:off x="591376" y="9403318"/>
            <a:ext cx="11080624" cy="3522473"/>
          </a:xfrm>
          <a:prstGeom prst="rect">
            <a:avLst/>
          </a:prstGeom>
          <a:solidFill>
            <a:schemeClr val="accent4">
              <a:hueOff val="-461056"/>
              <a:satOff val="4338"/>
              <a:lumOff val="-10225"/>
            </a:schemeClr>
          </a:solidFill>
          <a:ln w="12700">
            <a:miter lim="400000"/>
          </a:ln>
          <a:effectLst>
            <a:outerShdw blurRad="635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7535" tIns="97535" rIns="97535" bIns="97535" anchor="ctr">
            <a:spAutoFit/>
          </a:bodyPr>
          <a:lstStyle/>
          <a:p>
            <a:pPr algn="ctr">
              <a:spcBef>
                <a:spcPts val="0"/>
              </a:spcBef>
              <a:defRPr sz="5400"/>
            </a:pPr>
            <a:r>
              <a:rPr sz="11700" b="1"/>
              <a:t>Anomalies</a:t>
            </a:r>
            <a:br/>
            <a:r>
              <a:t>Antonio Bahamonde</a:t>
            </a:r>
          </a:p>
          <a:p>
            <a:pPr marR="81279" algn="ctr" defTabSz="1828800">
              <a:spcBef>
                <a:spcPts val="0"/>
              </a:spcBef>
              <a:defRPr sz="4600" b="1">
                <a:uFill>
                  <a:solidFill>
                    <a:srgbClr val="000000"/>
                  </a:solidFill>
                </a:uFill>
                <a:latin typeface="Helvetica"/>
                <a:ea typeface="Helvetica"/>
                <a:cs typeface="Helvetica"/>
                <a:sym typeface="Helvetica"/>
              </a:defRPr>
            </a:pPr>
            <a:r>
              <a:rPr b="0">
                <a:latin typeface="Abadi MT Condensed Light"/>
                <a:ea typeface="Abadi MT Condensed Light"/>
                <a:cs typeface="Abadi MT Condensed Light"/>
                <a:sym typeface="Abadi MT Condensed Light"/>
              </a:rPr>
              <a:t>Departamento de informática</a:t>
            </a:r>
            <a:r>
              <a:t> </a:t>
            </a:r>
          </a:p>
        </p:txBody>
      </p:sp>
      <p:sp>
        <p:nvSpPr>
          <p:cNvPr id="138" name="Intelligent Systems"/>
          <p:cNvSpPr txBox="1"/>
          <p:nvPr/>
        </p:nvSpPr>
        <p:spPr>
          <a:xfrm rot="900000">
            <a:off x="581663" y="1950186"/>
            <a:ext cx="10476557" cy="3263772"/>
          </a:xfrm>
          <a:prstGeom prst="rect">
            <a:avLst/>
          </a:prstGeom>
          <a:solidFill>
            <a:schemeClr val="accent4">
              <a:hueOff val="-461056"/>
              <a:satOff val="4338"/>
              <a:lumOff val="-10225"/>
            </a:schemeClr>
          </a:solidFill>
          <a:ln w="12700">
            <a:miter lim="400000"/>
          </a:ln>
          <a:effectLst>
            <a:outerShdw blurRad="889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6440" tIns="96440" rIns="96440" bIns="96440" anchor="ctr">
            <a:spAutoFit/>
          </a:bodyPr>
          <a:lstStyle>
            <a:lvl1pPr algn="ctr" defTabSz="2571750">
              <a:lnSpc>
                <a:spcPct val="90000"/>
              </a:lnSpc>
              <a:spcBef>
                <a:spcPts val="0"/>
              </a:spcBef>
              <a:defRPr sz="11200" b="1">
                <a:uFill>
                  <a:solidFill>
                    <a:schemeClr val="accent4">
                      <a:hueOff val="-1081314"/>
                      <a:satOff val="4338"/>
                      <a:lumOff val="-8931"/>
                    </a:schemeClr>
                  </a:solidFill>
                </a:uFill>
                <a:latin typeface="Arial"/>
                <a:ea typeface="Arial"/>
                <a:cs typeface="Arial"/>
                <a:sym typeface="Arial"/>
              </a:defRPr>
            </a:lvl1pPr>
          </a:lstStyle>
          <a:p>
            <a:r>
              <a:t>Intelligent Systems</a:t>
            </a:r>
          </a:p>
        </p:txBody>
      </p:sp>
      <p:pic>
        <p:nvPicPr>
          <p:cNvPr id="139" name="ChatGPT Image 14 may 2025, 18_01_30.png" descr="ChatGPT Image 14 may 2025, 18_01_30.png"/>
          <p:cNvPicPr>
            <a:picLocks noChangeAspect="1"/>
          </p:cNvPicPr>
          <p:nvPr/>
        </p:nvPicPr>
        <p:blipFill>
          <a:blip r:embed="rId2"/>
          <a:srcRect t="32862"/>
          <a:stretch>
            <a:fillRect/>
          </a:stretch>
        </p:blipFill>
        <p:spPr>
          <a:xfrm>
            <a:off x="12047675" y="2626851"/>
            <a:ext cx="12052575" cy="8091845"/>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Haz doble clic para editar"/>
          <p:cNvSpPr txBox="1">
            <a:spLocks noGrp="1"/>
          </p:cNvSpPr>
          <p:nvPr>
            <p:ph type="ctrTitle"/>
          </p:nvPr>
        </p:nvSpPr>
        <p:spPr>
          <a:prstGeom prst="rect">
            <a:avLst/>
          </a:prstGeom>
        </p:spPr>
        <p:txBody>
          <a:bodyPr/>
          <a:lstStyle/>
          <a:p>
            <a:endParaRPr/>
          </a:p>
        </p:txBody>
      </p:sp>
      <p:sp>
        <p:nvSpPr>
          <p:cNvPr id="142" name="Haz doble clic para editar"/>
          <p:cNvSpPr txBox="1">
            <a:spLocks noGrp="1"/>
          </p:cNvSpPr>
          <p:nvPr>
            <p:ph type="subTitle" sz="quarter" idx="1"/>
          </p:nvPr>
        </p:nvSpPr>
        <p:spPr>
          <a:prstGeom prst="rect">
            <a:avLst/>
          </a:prstGeom>
        </p:spPr>
        <p:txBody>
          <a:bodyPr/>
          <a:lstStyle/>
          <a:p>
            <a:endParaRPr/>
          </a:p>
        </p:txBody>
      </p:sp>
      <p:pic>
        <p:nvPicPr>
          <p:cNvPr id="143" name="Imagen" descr="Imagen"/>
          <p:cNvPicPr>
            <a:picLocks noChangeAspect="1"/>
          </p:cNvPicPr>
          <p:nvPr/>
        </p:nvPicPr>
        <p:blipFill>
          <a:blip r:embed="rId2"/>
          <a:stretch>
            <a:fillRect/>
          </a:stretch>
        </p:blipFill>
        <p:spPr>
          <a:xfrm>
            <a:off x="1744831" y="1434231"/>
            <a:ext cx="21650783" cy="12178566"/>
          </a:xfrm>
          <a:prstGeom prst="rect">
            <a:avLst/>
          </a:prstGeom>
          <a:ln w="12700">
            <a:miter lim="400000"/>
          </a:ln>
        </p:spPr>
      </p:pic>
      <p:sp>
        <p:nvSpPr>
          <p:cNvPr id="144" name="Andrew Ng. Stanford University"/>
          <p:cNvSpPr txBox="1"/>
          <p:nvPr/>
        </p:nvSpPr>
        <p:spPr>
          <a:xfrm>
            <a:off x="13088670" y="11600580"/>
            <a:ext cx="8682839" cy="8084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Andrew Ng. Stanford University</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Contents"/>
          <p:cNvSpPr txBox="1">
            <a:spLocks noGrp="1"/>
          </p:cNvSpPr>
          <p:nvPr>
            <p:ph type="title"/>
          </p:nvPr>
        </p:nvSpPr>
        <p:spPr>
          <a:prstGeom prst="rect">
            <a:avLst/>
          </a:prstGeom>
        </p:spPr>
        <p:txBody>
          <a:bodyPr/>
          <a:lstStyle/>
          <a:p>
            <a:r>
              <a:t>Contents</a:t>
            </a:r>
          </a:p>
        </p:txBody>
      </p:sp>
      <p:sp>
        <p:nvSpPr>
          <p:cNvPr id="147" name="What is an Anomaly?…"/>
          <p:cNvSpPr txBox="1">
            <a:spLocks noGrp="1"/>
          </p:cNvSpPr>
          <p:nvPr>
            <p:ph type="body" idx="1"/>
          </p:nvPr>
        </p:nvSpPr>
        <p:spPr>
          <a:prstGeom prst="rect">
            <a:avLst/>
          </a:prstGeom>
        </p:spPr>
        <p:txBody>
          <a:bodyPr/>
          <a:lstStyle/>
          <a:p>
            <a:pPr marL="0" indent="0" defTabSz="457200">
              <a:spcBef>
                <a:spcPts val="0"/>
              </a:spcBef>
              <a:buSzTx/>
              <a:buNone/>
              <a:tabLst>
                <a:tab pos="495300" algn="l"/>
                <a:tab pos="990600" algn="l"/>
                <a:tab pos="1498600" algn="l"/>
                <a:tab pos="1993900" algn="l"/>
                <a:tab pos="2489200" algn="l"/>
                <a:tab pos="2997200" algn="l"/>
                <a:tab pos="3492500" algn="l"/>
                <a:tab pos="4000500" algn="l"/>
                <a:tab pos="4495800" algn="l"/>
                <a:tab pos="4991100" algn="l"/>
                <a:tab pos="5499100" algn="l"/>
                <a:tab pos="5994400" algn="l"/>
              </a:tabLst>
              <a:defRPr sz="6700">
                <a:latin typeface="Helvetica"/>
                <a:ea typeface="Helvetica"/>
                <a:cs typeface="Helvetica"/>
                <a:sym typeface="Helvetica"/>
              </a:defRPr>
            </a:pPr>
            <a:r>
              <a:t>What is an Anomaly?</a:t>
            </a:r>
          </a:p>
          <a:p>
            <a:pPr marL="0" lvl="2" indent="914400" defTabSz="12700">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6700">
                <a:latin typeface="Helvetica"/>
                <a:ea typeface="Helvetica"/>
                <a:cs typeface="Helvetica"/>
                <a:sym typeface="Helvetica"/>
              </a:defRPr>
            </a:pPr>
            <a:r>
              <a:t>Definition</a:t>
            </a:r>
          </a:p>
          <a:p>
            <a:pPr marL="0" lvl="2" indent="914400" defTabSz="12700">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6700">
                <a:latin typeface="Helvetica"/>
                <a:ea typeface="Helvetica"/>
                <a:cs typeface="Helvetica"/>
                <a:sym typeface="Helvetica"/>
              </a:defRPr>
            </a:pPr>
            <a:r>
              <a:t>Applications</a:t>
            </a:r>
          </a:p>
          <a:p>
            <a:pPr marL="0" lvl="2" indent="914400" defTabSz="12700">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6700">
                <a:latin typeface="Helvetica"/>
                <a:ea typeface="Helvetica"/>
                <a:cs typeface="Helvetica"/>
                <a:sym typeface="Helvetica"/>
              </a:defRPr>
            </a:pPr>
            <a:r>
              <a:t>Evaluation</a:t>
            </a:r>
          </a:p>
          <a:p>
            <a:pPr marL="0" indent="0" defTabSz="12700">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6700">
                <a:latin typeface="Helvetica"/>
                <a:ea typeface="Helvetica"/>
                <a:cs typeface="Helvetica"/>
                <a:sym typeface="Helvetica"/>
              </a:defRPr>
            </a:pPr>
            <a:r>
              <a:t>Gaussian Detection Algorithms</a:t>
            </a:r>
          </a:p>
          <a:p>
            <a:pPr marL="0" indent="0" defTabSz="12700">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6700">
                <a:latin typeface="Helvetica"/>
                <a:ea typeface="Helvetica"/>
                <a:cs typeface="Helvetica"/>
                <a:sym typeface="Helvetica"/>
              </a:defRPr>
            </a:pPr>
            <a:r>
              <a:t>Other Methods</a:t>
            </a:r>
          </a:p>
          <a:p>
            <a:pPr marL="0" indent="0" defTabSz="12700">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6700">
                <a:latin typeface="Helvetica"/>
                <a:ea typeface="Helvetica"/>
                <a:cs typeface="Helvetica"/>
                <a:sym typeface="Helvetica"/>
              </a:defRPr>
            </a:pPr>
            <a:r>
              <a:t>Images</a:t>
            </a:r>
          </a:p>
          <a:p>
            <a:pPr marL="0" indent="0" defTabSz="12700">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6700">
                <a:latin typeface="Helvetica"/>
                <a:ea typeface="Helvetica"/>
                <a:cs typeface="Helvetica"/>
                <a:sym typeface="Helvetica"/>
              </a:defRPr>
            </a:pPr>
            <a:r>
              <a:t>Conclusions</a:t>
            </a:r>
          </a:p>
        </p:txBody>
      </p:sp>
      <p:sp>
        <p:nvSpPr>
          <p:cNvPr id="148" name="Número de diapositiva"/>
          <p:cNvSpPr txBox="1">
            <a:spLocks noGrp="1"/>
          </p:cNvSpPr>
          <p:nvPr>
            <p:ph type="sldNum" sz="quarter" idx="4294967295"/>
          </p:nvPr>
        </p:nvSpPr>
        <p:spPr>
          <a:xfrm>
            <a:off x="12043765" y="13081000"/>
            <a:ext cx="283770" cy="4610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An anomaly (or outlier) is an observation that significantly deviates from the general pattern of the data.…"/>
          <p:cNvSpPr txBox="1">
            <a:spLocks noGrp="1"/>
          </p:cNvSpPr>
          <p:nvPr>
            <p:ph type="body" idx="1"/>
          </p:nvPr>
        </p:nvSpPr>
        <p:spPr>
          <a:prstGeom prst="rect">
            <a:avLst/>
          </a:prstGeom>
        </p:spPr>
        <p:txBody>
          <a:bodyPr>
            <a:normAutofit lnSpcReduction="10000"/>
          </a:bodyPr>
          <a:lstStyle/>
          <a:p>
            <a:pPr marL="0" indent="0" defTabSz="457200">
              <a:lnSpc>
                <a:spcPct val="120000"/>
              </a:lnSpc>
              <a:spcBef>
                <a:spcPts val="0"/>
              </a:spcBef>
              <a:buSzTx/>
              <a:buNone/>
              <a:defRPr sz="4600">
                <a:latin typeface="Helvetica"/>
                <a:ea typeface="Helvetica"/>
                <a:cs typeface="Helvetica"/>
                <a:sym typeface="Helvetica"/>
              </a:defRPr>
            </a:pPr>
            <a:r>
              <a:rPr dirty="0"/>
              <a:t>An anomaly (or outlier) is an observation that significantly deviates from the general pattern of the data.</a:t>
            </a:r>
          </a:p>
          <a:p>
            <a:pPr marL="0" indent="0" defTabSz="457200">
              <a:lnSpc>
                <a:spcPct val="120000"/>
              </a:lnSpc>
              <a:spcBef>
                <a:spcPts val="0"/>
              </a:spcBef>
              <a:buSzTx/>
              <a:buNone/>
              <a:defRPr sz="4600">
                <a:latin typeface="Verdana"/>
                <a:ea typeface="Verdana"/>
                <a:cs typeface="Verdana"/>
                <a:sym typeface="Verdana"/>
              </a:defRPr>
            </a:pPr>
            <a:endParaRPr dirty="0"/>
          </a:p>
          <a:p>
            <a:pPr marL="0" indent="0" defTabSz="457200">
              <a:lnSpc>
                <a:spcPct val="120000"/>
              </a:lnSpc>
              <a:spcBef>
                <a:spcPts val="0"/>
              </a:spcBef>
              <a:buSzTx/>
              <a:buNone/>
              <a:defRPr sz="4600">
                <a:latin typeface="Helvetica"/>
                <a:ea typeface="Helvetica"/>
                <a:cs typeface="Helvetica"/>
                <a:sym typeface="Helvetica"/>
              </a:defRPr>
            </a:pPr>
            <a:r>
              <a:rPr dirty="0"/>
              <a:t>A data point that is generated by a different process than the one generating the "nominal" points. Also called abnormalities, deviants, or outliers.</a:t>
            </a:r>
          </a:p>
          <a:p>
            <a:pPr marL="0" indent="0" defTabSz="457200">
              <a:lnSpc>
                <a:spcPct val="120000"/>
              </a:lnSpc>
              <a:spcBef>
                <a:spcPts val="0"/>
              </a:spcBef>
              <a:buSzTx/>
              <a:buNone/>
              <a:defRPr sz="4600">
                <a:latin typeface="Verdana"/>
                <a:ea typeface="Verdana"/>
                <a:cs typeface="Verdana"/>
                <a:sym typeface="Verdana"/>
              </a:defRPr>
            </a:pPr>
            <a:endParaRPr dirty="0"/>
          </a:p>
          <a:p>
            <a:pPr marL="0" indent="0" defTabSz="457200">
              <a:lnSpc>
                <a:spcPct val="120000"/>
              </a:lnSpc>
              <a:spcBef>
                <a:spcPts val="0"/>
              </a:spcBef>
              <a:buSzTx/>
              <a:buNone/>
              <a:defRPr sz="4600">
                <a:latin typeface="Helvetica"/>
                <a:ea typeface="Helvetica"/>
                <a:cs typeface="Helvetica"/>
                <a:sym typeface="Helvetica"/>
              </a:defRPr>
            </a:pPr>
            <a:r>
              <a:rPr dirty="0"/>
              <a:t>The goal of anomaly detection (also known as outlier detection) is to identify all such instances.</a:t>
            </a:r>
            <a:endParaRPr lang="es-ES" dirty="0"/>
          </a:p>
          <a:p>
            <a:pPr marL="0" indent="0" defTabSz="457200">
              <a:lnSpc>
                <a:spcPct val="120000"/>
              </a:lnSpc>
              <a:spcBef>
                <a:spcPts val="0"/>
              </a:spcBef>
              <a:buSzTx/>
              <a:buNone/>
              <a:defRPr sz="4600">
                <a:latin typeface="Verdana"/>
                <a:ea typeface="Verdana"/>
                <a:cs typeface="Verdana"/>
                <a:sym typeface="Verdana"/>
              </a:defRPr>
            </a:pPr>
            <a:endParaRPr lang="es-ES" dirty="0"/>
          </a:p>
          <a:p>
            <a:pPr marL="0" indent="0" defTabSz="457200">
              <a:lnSpc>
                <a:spcPct val="120000"/>
              </a:lnSpc>
              <a:spcBef>
                <a:spcPts val="0"/>
              </a:spcBef>
              <a:buSzTx/>
              <a:buNone/>
              <a:defRPr sz="4600">
                <a:latin typeface="Helvetica"/>
                <a:ea typeface="Helvetica"/>
                <a:cs typeface="Helvetica"/>
                <a:sym typeface="Helvetica"/>
              </a:defRPr>
            </a:pPr>
            <a:r>
              <a:rPr dirty="0"/>
              <a:t>Anomalies can be caused by errors in the data but sometimes indicate a new, previously unknown, underlying process (different mechanism).</a:t>
            </a:r>
          </a:p>
        </p:txBody>
      </p:sp>
      <p:sp>
        <p:nvSpPr>
          <p:cNvPr id="151" name="Número de diapositiva"/>
          <p:cNvSpPr txBox="1">
            <a:spLocks noGrp="1"/>
          </p:cNvSpPr>
          <p:nvPr>
            <p:ph type="sldNum" sz="quarter" idx="4294967295"/>
          </p:nvPr>
        </p:nvSpPr>
        <p:spPr>
          <a:xfrm>
            <a:off x="12043765" y="13081000"/>
            <a:ext cx="283770" cy="4610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
        <p:nvSpPr>
          <p:cNvPr id="152" name="Definition anomaly"/>
          <p:cNvSpPr txBox="1"/>
          <p:nvPr/>
        </p:nvSpPr>
        <p:spPr>
          <a:xfrm>
            <a:off x="4833937" y="357188"/>
            <a:ext cx="14716126" cy="19181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lvl1pPr algn="ctr">
              <a:spcBef>
                <a:spcPts val="0"/>
              </a:spcBef>
              <a:defRPr sz="11200">
                <a:latin typeface="+mn-lt"/>
                <a:ea typeface="+mn-ea"/>
                <a:cs typeface="+mn-cs"/>
                <a:sym typeface="Helvetica Neue Medium"/>
              </a:defRPr>
            </a:lvl1pPr>
          </a:lstStyle>
          <a:p>
            <a:r>
              <a:rPr dirty="0"/>
              <a:t>Definition anomaly</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Types of Anomalies"/>
          <p:cNvSpPr txBox="1">
            <a:spLocks noGrp="1"/>
          </p:cNvSpPr>
          <p:nvPr>
            <p:ph type="title"/>
          </p:nvPr>
        </p:nvSpPr>
        <p:spPr>
          <a:prstGeom prst="rect">
            <a:avLst/>
          </a:prstGeom>
        </p:spPr>
        <p:txBody>
          <a:bodyPr/>
          <a:lstStyle/>
          <a:p>
            <a:r>
              <a:t>Types of Anomalies</a:t>
            </a:r>
          </a:p>
        </p:txBody>
      </p:sp>
      <p:sp>
        <p:nvSpPr>
          <p:cNvPr id="157" name="One-off: A single piece of data that deviates significantly from the rest. For example, a credit card transaction with a very high value.…"/>
          <p:cNvSpPr txBox="1">
            <a:spLocks noGrp="1"/>
          </p:cNvSpPr>
          <p:nvPr>
            <p:ph type="body" idx="1"/>
          </p:nvPr>
        </p:nvSpPr>
        <p:spPr>
          <a:prstGeom prst="rect">
            <a:avLst/>
          </a:prstGeom>
        </p:spPr>
        <p:txBody>
          <a:bodyPr/>
          <a:lstStyle/>
          <a:p>
            <a:pPr marL="687916" indent="-687916" defTabSz="457200">
              <a:spcBef>
                <a:spcPts val="0"/>
              </a:spcBef>
              <a:buSzPct val="50000"/>
              <a:buBlip>
                <a:blip r:embed="rId2"/>
              </a:buBlip>
              <a:defRPr sz="5200">
                <a:latin typeface="Verdana"/>
                <a:ea typeface="Verdana"/>
                <a:cs typeface="Verdana"/>
                <a:sym typeface="Verdana"/>
              </a:defRPr>
            </a:pPr>
            <a:r>
              <a:rPr b="1"/>
              <a:t>One-off</a:t>
            </a:r>
            <a:r>
              <a:t>: A single piece of data that deviates significantly from the rest. For example, a credit card transaction with a very high value. </a:t>
            </a:r>
          </a:p>
          <a:p>
            <a:pPr marL="687916" indent="-687916" defTabSz="457200">
              <a:spcBef>
                <a:spcPts val="0"/>
              </a:spcBef>
              <a:buSzPct val="50000"/>
              <a:buBlip>
                <a:blip r:embed="rId2"/>
              </a:buBlip>
              <a:defRPr sz="5200">
                <a:latin typeface="Verdana"/>
                <a:ea typeface="Verdana"/>
                <a:cs typeface="Verdana"/>
                <a:sym typeface="Verdana"/>
              </a:defRPr>
            </a:pPr>
            <a:r>
              <a:rPr b="1"/>
              <a:t>Contextual</a:t>
            </a:r>
            <a:r>
              <a:t>: A data that is anomalous in a specific context, but not in another. For example, a temperature of 30°C in winter in Oviedo. </a:t>
            </a:r>
          </a:p>
          <a:p>
            <a:pPr marL="687916" indent="-687916" defTabSz="457200">
              <a:spcBef>
                <a:spcPts val="0"/>
              </a:spcBef>
              <a:buSzPct val="50000"/>
              <a:buBlip>
                <a:blip r:embed="rId2"/>
              </a:buBlip>
              <a:defRPr sz="5200">
                <a:latin typeface="Verdana"/>
                <a:ea typeface="Verdana"/>
                <a:cs typeface="Verdana"/>
                <a:sym typeface="Verdana"/>
              </a:defRPr>
            </a:pPr>
            <a:r>
              <a:rPr b="1"/>
              <a:t>Collective</a:t>
            </a:r>
            <a:r>
              <a:t>: A group of data that, although in themselves are not anomalous, their joint occurrence is. For example, an unusual sequence of requests to a server.</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Applications"/>
          <p:cNvSpPr txBox="1">
            <a:spLocks noGrp="1"/>
          </p:cNvSpPr>
          <p:nvPr>
            <p:ph type="title"/>
          </p:nvPr>
        </p:nvSpPr>
        <p:spPr>
          <a:prstGeom prst="rect">
            <a:avLst/>
          </a:prstGeom>
        </p:spPr>
        <p:txBody>
          <a:bodyPr/>
          <a:lstStyle/>
          <a:p>
            <a:r>
              <a:t>Applications</a:t>
            </a:r>
          </a:p>
        </p:txBody>
      </p:sp>
      <p:sp>
        <p:nvSpPr>
          <p:cNvPr id="160" name="Fraud Detection: Unusual transaction patterns.…"/>
          <p:cNvSpPr txBox="1">
            <a:spLocks noGrp="1"/>
          </p:cNvSpPr>
          <p:nvPr>
            <p:ph type="body" idx="1"/>
          </p:nvPr>
        </p:nvSpPr>
        <p:spPr>
          <a:prstGeom prst="rect">
            <a:avLst/>
          </a:prstGeom>
        </p:spPr>
        <p:txBody>
          <a:bodyPr/>
          <a:lstStyle/>
          <a:p>
            <a:pPr marL="687916" indent="-687916" defTabSz="457200">
              <a:spcBef>
                <a:spcPts val="0"/>
              </a:spcBef>
              <a:buSzPct val="50000"/>
              <a:buBlip>
                <a:blip r:embed="rId2"/>
              </a:buBlip>
              <a:defRPr sz="5200" b="1">
                <a:latin typeface="Verdana"/>
                <a:ea typeface="Verdana"/>
                <a:cs typeface="Verdana"/>
                <a:sym typeface="Verdana"/>
              </a:defRPr>
            </a:pPr>
            <a:r>
              <a:t>Fraud Detection:</a:t>
            </a:r>
            <a:r>
              <a:rPr b="0"/>
              <a:t> Unusual transaction patterns.</a:t>
            </a:r>
          </a:p>
          <a:p>
            <a:pPr marL="687916" indent="-687916" defTabSz="457200">
              <a:spcBef>
                <a:spcPts val="0"/>
              </a:spcBef>
              <a:buSzPct val="50000"/>
              <a:buBlip>
                <a:blip r:embed="rId2"/>
              </a:buBlip>
              <a:defRPr sz="5200" b="1">
                <a:latin typeface="Verdana"/>
                <a:ea typeface="Verdana"/>
                <a:cs typeface="Verdana"/>
                <a:sym typeface="Verdana"/>
              </a:defRPr>
            </a:pPr>
            <a:r>
              <a:t>Cybersecurity</a:t>
            </a:r>
            <a:r>
              <a:rPr b="0"/>
              <a:t>: Detection of intrusions and anomalous behavior in networks.</a:t>
            </a:r>
          </a:p>
          <a:p>
            <a:pPr marL="687916" indent="-687916" defTabSz="457200">
              <a:spcBef>
                <a:spcPts val="0"/>
              </a:spcBef>
              <a:buSzPct val="50000"/>
              <a:buBlip>
                <a:blip r:embed="rId2"/>
              </a:buBlip>
              <a:defRPr sz="5200" b="1">
                <a:latin typeface="Verdana"/>
                <a:ea typeface="Verdana"/>
                <a:cs typeface="Verdana"/>
                <a:sym typeface="Verdana"/>
              </a:defRPr>
            </a:pPr>
            <a:r>
              <a:t>Predictive Maintenance</a:t>
            </a:r>
            <a:r>
              <a:rPr b="0"/>
              <a:t>: Identification of anomalous sensor readings that indicate possible failures.</a:t>
            </a:r>
          </a:p>
          <a:p>
            <a:pPr marL="687916" indent="-687916" defTabSz="457200">
              <a:spcBef>
                <a:spcPts val="0"/>
              </a:spcBef>
              <a:buSzPct val="50000"/>
              <a:buBlip>
                <a:blip r:embed="rId2"/>
              </a:buBlip>
              <a:defRPr sz="5200" b="1">
                <a:latin typeface="Verdana"/>
                <a:ea typeface="Verdana"/>
                <a:cs typeface="Verdana"/>
                <a:sym typeface="Verdana"/>
              </a:defRPr>
            </a:pPr>
            <a:r>
              <a:t>Data Quality</a:t>
            </a:r>
            <a:r>
              <a:rPr b="0"/>
              <a:t>: Identification of errors or inconsistencies in data sets.</a:t>
            </a:r>
          </a:p>
          <a:p>
            <a:pPr marL="687916" indent="-687916" defTabSz="457200">
              <a:spcBef>
                <a:spcPts val="0"/>
              </a:spcBef>
              <a:buSzPct val="50000"/>
              <a:buBlip>
                <a:blip r:embed="rId2"/>
              </a:buBlip>
              <a:defRPr sz="5200" b="1">
                <a:latin typeface="Verdana"/>
                <a:ea typeface="Verdana"/>
                <a:cs typeface="Verdana"/>
                <a:sym typeface="Verdana"/>
              </a:defRPr>
            </a:pPr>
            <a:r>
              <a:t>Time Series Anomaly Detection</a:t>
            </a:r>
            <a:r>
              <a:rPr b="0"/>
              <a:t>: Unusual temporal patterns.</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Data cleaning…"/>
          <p:cNvSpPr txBox="1">
            <a:spLocks noGrp="1"/>
          </p:cNvSpPr>
          <p:nvPr>
            <p:ph type="body" idx="1"/>
          </p:nvPr>
        </p:nvSpPr>
        <p:spPr>
          <a:prstGeom prst="rect">
            <a:avLst/>
          </a:prstGeom>
        </p:spPr>
        <p:txBody>
          <a:bodyPr/>
          <a:lstStyle/>
          <a:p>
            <a:pPr marL="590550" indent="-590550" defTabSz="511809">
              <a:spcBef>
                <a:spcPts val="2000"/>
              </a:spcBef>
              <a:buSzPct val="50000"/>
              <a:buBlip>
                <a:blip r:embed="rId3"/>
              </a:buBlip>
              <a:defRPr sz="4464"/>
            </a:pPr>
            <a:r>
              <a:t>Data cleaning</a:t>
            </a:r>
          </a:p>
          <a:p>
            <a:pPr marL="590550" indent="-590550" defTabSz="511809">
              <a:spcBef>
                <a:spcPts val="2000"/>
              </a:spcBef>
              <a:buSzPct val="50000"/>
              <a:buBlip>
                <a:blip r:embed="rId3"/>
              </a:buBlip>
              <a:defRPr sz="4464"/>
            </a:pPr>
            <a:r>
              <a:t>Novel categories</a:t>
            </a:r>
          </a:p>
          <a:p>
            <a:pPr marL="590550" indent="-590550" defTabSz="511809">
              <a:spcBef>
                <a:spcPts val="2000"/>
              </a:spcBef>
              <a:buSzPct val="50000"/>
              <a:buBlip>
                <a:blip r:embed="rId3"/>
              </a:buBlip>
              <a:defRPr sz="4464"/>
            </a:pPr>
            <a:r>
              <a:t>Agriculture</a:t>
            </a:r>
          </a:p>
          <a:p>
            <a:pPr marL="590550" indent="-590550" defTabSz="511809">
              <a:spcBef>
                <a:spcPts val="2000"/>
              </a:spcBef>
              <a:buSzPct val="50000"/>
              <a:buBlip>
                <a:blip r:embed="rId3"/>
              </a:buBlip>
              <a:defRPr sz="4464"/>
            </a:pPr>
            <a:r>
              <a:t>Fraud Detection</a:t>
            </a:r>
          </a:p>
          <a:p>
            <a:pPr marL="590550" indent="-590550" defTabSz="511809">
              <a:spcBef>
                <a:spcPts val="2000"/>
              </a:spcBef>
              <a:buSzPct val="50000"/>
              <a:buBlip>
                <a:blip r:embed="rId3"/>
              </a:buBlip>
              <a:defRPr sz="4464"/>
            </a:pPr>
            <a:r>
              <a:t>Cyber-Intrusion attacks Detection; Log-Anomaly Detection</a:t>
            </a:r>
          </a:p>
          <a:p>
            <a:pPr marL="590550" indent="-590550" defTabSz="511809">
              <a:spcBef>
                <a:spcPts val="2000"/>
              </a:spcBef>
              <a:buSzPct val="50000"/>
              <a:buBlip>
                <a:blip r:embed="rId3"/>
              </a:buBlip>
              <a:defRPr sz="4464"/>
            </a:pPr>
            <a:r>
              <a:t>Medical Anomaly Detection; Novel diseases</a:t>
            </a:r>
          </a:p>
          <a:p>
            <a:pPr marL="590550" indent="-590550" defTabSz="511809">
              <a:spcBef>
                <a:spcPts val="2000"/>
              </a:spcBef>
              <a:buSzPct val="50000"/>
              <a:buBlip>
                <a:blip r:embed="rId3"/>
              </a:buBlip>
              <a:defRPr sz="4464"/>
            </a:pPr>
            <a:r>
              <a:t>Sensor Networks Anomaly Detection</a:t>
            </a:r>
          </a:p>
          <a:p>
            <a:pPr marL="590550" indent="-590550" defTabSz="511809">
              <a:spcBef>
                <a:spcPts val="2000"/>
              </a:spcBef>
              <a:buSzPct val="50000"/>
              <a:buBlip>
                <a:blip r:embed="rId3"/>
              </a:buBlip>
              <a:defRPr sz="4464"/>
            </a:pPr>
            <a:r>
              <a:t>Internet Of Things (IoT) Big-data Anomaly Detection</a:t>
            </a:r>
          </a:p>
          <a:p>
            <a:pPr marL="590550" indent="-590550" defTabSz="511809">
              <a:spcBef>
                <a:spcPts val="2000"/>
              </a:spcBef>
              <a:buSzPct val="50000"/>
              <a:buBlip>
                <a:blip r:embed="rId3"/>
              </a:buBlip>
              <a:defRPr sz="4464"/>
            </a:pPr>
            <a:r>
              <a:t>Video Surveillance</a:t>
            </a:r>
          </a:p>
          <a:p>
            <a:pPr marL="590550" indent="-590550" defTabSz="511809">
              <a:spcBef>
                <a:spcPts val="2000"/>
              </a:spcBef>
              <a:buSzPct val="50000"/>
              <a:buBlip>
                <a:blip r:embed="rId3"/>
              </a:buBlip>
              <a:defRPr sz="4464"/>
            </a:pPr>
            <a:r>
              <a:t>Industrial Damage Detection</a:t>
            </a:r>
          </a:p>
        </p:txBody>
      </p:sp>
      <p:sp>
        <p:nvSpPr>
          <p:cNvPr id="163" name="Número de diapositiva"/>
          <p:cNvSpPr txBox="1">
            <a:spLocks noGrp="1"/>
          </p:cNvSpPr>
          <p:nvPr>
            <p:ph type="sldNum" sz="quarter" idx="4294967295"/>
          </p:nvPr>
        </p:nvSpPr>
        <p:spPr>
          <a:xfrm>
            <a:off x="12043765" y="13081000"/>
            <a:ext cx="283770" cy="46105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a:t>
            </a:fld>
            <a:endParaRPr/>
          </a:p>
        </p:txBody>
      </p:sp>
      <p:sp>
        <p:nvSpPr>
          <p:cNvPr id="164" name="Applications"/>
          <p:cNvSpPr txBox="1"/>
          <p:nvPr/>
        </p:nvSpPr>
        <p:spPr>
          <a:xfrm>
            <a:off x="4833937" y="357187"/>
            <a:ext cx="14716126" cy="25764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lvl1pPr algn="ctr">
              <a:spcBef>
                <a:spcPts val="0"/>
              </a:spcBef>
              <a:defRPr sz="11200">
                <a:latin typeface="+mn-lt"/>
                <a:ea typeface="+mn-ea"/>
                <a:cs typeface="+mn-cs"/>
                <a:sym typeface="Helvetica Neue Medium"/>
              </a:defRPr>
            </a:lvl1pPr>
          </a:lstStyle>
          <a:p>
            <a:r>
              <a:t>Applications</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Agriculture"/>
          <p:cNvSpPr txBox="1">
            <a:spLocks noGrp="1"/>
          </p:cNvSpPr>
          <p:nvPr>
            <p:ph type="title"/>
          </p:nvPr>
        </p:nvSpPr>
        <p:spPr>
          <a:xfrm rot="16860000">
            <a:off x="-2663364" y="5675835"/>
            <a:ext cx="10674037" cy="2286001"/>
          </a:xfrm>
          <a:prstGeom prst="rect">
            <a:avLst/>
          </a:prstGeom>
        </p:spPr>
        <p:txBody>
          <a:bodyPr/>
          <a:lstStyle>
            <a:lvl1pPr>
              <a:defRPr sz="13500"/>
            </a:lvl1pPr>
          </a:lstStyle>
          <a:p>
            <a:r>
              <a:t>Agriculture</a:t>
            </a:r>
          </a:p>
        </p:txBody>
      </p:sp>
      <p:pic>
        <p:nvPicPr>
          <p:cNvPr id="169" name="DJI_20250331134258_0424_D.JPG" descr="DJI_20250331134258_0424_D.JPG"/>
          <p:cNvPicPr>
            <a:picLocks noChangeAspect="1"/>
          </p:cNvPicPr>
          <p:nvPr/>
        </p:nvPicPr>
        <p:blipFill>
          <a:blip r:embed="rId2"/>
          <a:stretch>
            <a:fillRect/>
          </a:stretch>
        </p:blipFill>
        <p:spPr>
          <a:xfrm>
            <a:off x="5285938" y="281771"/>
            <a:ext cx="17554342" cy="13152458"/>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 name="Imagen" descr="Imagen"/>
          <p:cNvPicPr>
            <a:picLocks noChangeAspect="1"/>
          </p:cNvPicPr>
          <p:nvPr/>
        </p:nvPicPr>
        <p:blipFill>
          <a:blip r:embed="rId2"/>
          <a:stretch>
            <a:fillRect/>
          </a:stretch>
        </p:blipFill>
        <p:spPr>
          <a:xfrm>
            <a:off x="1072587" y="603330"/>
            <a:ext cx="21718219" cy="12216498"/>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 name="Imagen" descr="Imagen"/>
          <p:cNvPicPr>
            <a:picLocks noChangeAspect="1"/>
          </p:cNvPicPr>
          <p:nvPr/>
        </p:nvPicPr>
        <p:blipFill>
          <a:blip r:embed="rId2"/>
          <a:stretch>
            <a:fillRect/>
          </a:stretch>
        </p:blipFill>
        <p:spPr>
          <a:xfrm>
            <a:off x="1823658" y="318263"/>
            <a:ext cx="20980839" cy="11801721"/>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Little or no labeled data…"/>
          <p:cNvSpPr txBox="1">
            <a:spLocks noGrp="1"/>
          </p:cNvSpPr>
          <p:nvPr>
            <p:ph type="body" idx="1"/>
          </p:nvPr>
        </p:nvSpPr>
        <p:spPr>
          <a:prstGeom prst="rect">
            <a:avLst/>
          </a:prstGeom>
        </p:spPr>
        <p:txBody>
          <a:bodyPr/>
          <a:lstStyle/>
          <a:p>
            <a:pPr marL="881591" indent="-881591" defTabSz="17502">
              <a:spcBef>
                <a:spcPts val="0"/>
              </a:spcBef>
              <a:buSzPct val="50000"/>
              <a:buBlip>
                <a:blip r:embed="rId2"/>
              </a:buBlip>
              <a:tabLst>
                <a:tab pos="482600" algn="l"/>
                <a:tab pos="977900" algn="l"/>
                <a:tab pos="1460500" algn="l"/>
                <a:tab pos="1955800" algn="l"/>
                <a:tab pos="2438400" algn="l"/>
                <a:tab pos="2933700" algn="l"/>
                <a:tab pos="3429000" algn="l"/>
                <a:tab pos="3911600" algn="l"/>
                <a:tab pos="4406900" algn="l"/>
                <a:tab pos="4889500" algn="l"/>
                <a:tab pos="5384800" algn="l"/>
                <a:tab pos="5880100" algn="l"/>
              </a:tabLst>
              <a:defRPr sz="6664">
                <a:latin typeface="Helvetica"/>
                <a:ea typeface="Helvetica"/>
                <a:cs typeface="Helvetica"/>
                <a:sym typeface="Helvetica"/>
              </a:defRPr>
            </a:pPr>
            <a:r>
              <a:rPr>
                <a:latin typeface="Verdana"/>
                <a:ea typeface="Verdana"/>
                <a:cs typeface="Verdana"/>
                <a:sym typeface="Verdana"/>
              </a:rPr>
              <a:t>Little or no labeled data</a:t>
            </a:r>
          </a:p>
          <a:p>
            <a:pPr marL="881591" indent="-881591" defTabSz="17502">
              <a:spcBef>
                <a:spcPts val="0"/>
              </a:spcBef>
              <a:buSzPct val="50000"/>
              <a:buBlip>
                <a:blip r:embed="rId2"/>
              </a:buBlip>
              <a:tabLst>
                <a:tab pos="482600" algn="l"/>
                <a:tab pos="977900" algn="l"/>
                <a:tab pos="1460500" algn="l"/>
                <a:tab pos="1955800" algn="l"/>
                <a:tab pos="2438400" algn="l"/>
                <a:tab pos="2933700" algn="l"/>
                <a:tab pos="3429000" algn="l"/>
                <a:tab pos="3911600" algn="l"/>
                <a:tab pos="4406900" algn="l"/>
                <a:tab pos="4889500" algn="l"/>
                <a:tab pos="5384800" algn="l"/>
                <a:tab pos="5880100" algn="l"/>
              </a:tabLst>
              <a:defRPr sz="6664">
                <a:latin typeface="Verdana"/>
                <a:ea typeface="Verdana"/>
                <a:cs typeface="Verdana"/>
                <a:sym typeface="Verdana"/>
              </a:defRPr>
            </a:pPr>
            <a:r>
              <a:t>Anomalies are rare</a:t>
            </a:r>
          </a:p>
          <a:p>
            <a:pPr marL="881591" indent="-881591" defTabSz="17502">
              <a:spcBef>
                <a:spcPts val="0"/>
              </a:spcBef>
              <a:buSzPct val="50000"/>
              <a:buBlip>
                <a:blip r:embed="rId2"/>
              </a:buBlip>
              <a:tabLst>
                <a:tab pos="482600" algn="l"/>
                <a:tab pos="977900" algn="l"/>
                <a:tab pos="1460500" algn="l"/>
                <a:tab pos="1955800" algn="l"/>
                <a:tab pos="2438400" algn="l"/>
                <a:tab pos="2933700" algn="l"/>
                <a:tab pos="3429000" algn="l"/>
                <a:tab pos="3911600" algn="l"/>
                <a:tab pos="4406900" algn="l"/>
                <a:tab pos="4889500" algn="l"/>
                <a:tab pos="5384800" algn="l"/>
                <a:tab pos="5880100" algn="l"/>
              </a:tabLst>
              <a:defRPr sz="6664">
                <a:latin typeface="Verdana"/>
                <a:ea typeface="Verdana"/>
                <a:cs typeface="Verdana"/>
                <a:sym typeface="Verdana"/>
              </a:defRPr>
            </a:pPr>
            <a:r>
              <a:t>Anomalies may not come from a well-defined probability distribution (especially in adversarial settings)</a:t>
            </a:r>
          </a:p>
          <a:p>
            <a:pPr marL="881591" indent="-881591" defTabSz="17502">
              <a:spcBef>
                <a:spcPts val="0"/>
              </a:spcBef>
              <a:buSzPct val="50000"/>
              <a:buBlip>
                <a:blip r:embed="rId2"/>
              </a:buBlip>
              <a:tabLst>
                <a:tab pos="482600" algn="l"/>
                <a:tab pos="977900" algn="l"/>
                <a:tab pos="1460500" algn="l"/>
                <a:tab pos="1955800" algn="l"/>
                <a:tab pos="2438400" algn="l"/>
                <a:tab pos="2933700" algn="l"/>
                <a:tab pos="3429000" algn="l"/>
                <a:tab pos="3911600" algn="l"/>
                <a:tab pos="4406900" algn="l"/>
                <a:tab pos="4889500" algn="l"/>
                <a:tab pos="5384800" algn="l"/>
                <a:tab pos="5880100" algn="l"/>
              </a:tabLst>
              <a:defRPr sz="6664">
                <a:latin typeface="Verdana"/>
                <a:ea typeface="Verdana"/>
                <a:cs typeface="Verdana"/>
                <a:sym typeface="Verdana"/>
              </a:defRPr>
            </a:pPr>
            <a:r>
              <a:t>Nuisance Novelty: Not all anomalies are relevant to the task or use-case</a:t>
            </a:r>
          </a:p>
          <a:p>
            <a:pPr marL="881591" indent="-881591" defTabSz="17502">
              <a:spcBef>
                <a:spcPts val="0"/>
              </a:spcBef>
              <a:buSzPct val="50000"/>
              <a:buBlip>
                <a:blip r:embed="rId2"/>
              </a:buBlip>
              <a:tabLst>
                <a:tab pos="482600" algn="l"/>
                <a:tab pos="977900" algn="l"/>
                <a:tab pos="1460500" algn="l"/>
                <a:tab pos="1955800" algn="l"/>
                <a:tab pos="2438400" algn="l"/>
                <a:tab pos="2933700" algn="l"/>
                <a:tab pos="3429000" algn="l"/>
                <a:tab pos="3911600" algn="l"/>
                <a:tab pos="4406900" algn="l"/>
                <a:tab pos="4889500" algn="l"/>
                <a:tab pos="5384800" algn="l"/>
                <a:tab pos="5880100" algn="l"/>
              </a:tabLst>
              <a:defRPr sz="6664">
                <a:latin typeface="Verdana"/>
                <a:ea typeface="Verdana"/>
                <a:cs typeface="Verdana"/>
                <a:sym typeface="Verdana"/>
              </a:defRPr>
            </a:pPr>
            <a:r>
              <a:t>Changes in image background or context</a:t>
            </a:r>
          </a:p>
        </p:txBody>
      </p:sp>
      <p:sp>
        <p:nvSpPr>
          <p:cNvPr id="176" name="Número de diapositiva"/>
          <p:cNvSpPr txBox="1">
            <a:spLocks noGrp="1"/>
          </p:cNvSpPr>
          <p:nvPr>
            <p:ph type="sldNum" sz="quarter" idx="4294967295"/>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11</a:t>
            </a:fld>
            <a:endParaRPr/>
          </a:p>
        </p:txBody>
      </p:sp>
      <p:sp>
        <p:nvSpPr>
          <p:cNvPr id="177" name="Challenges"/>
          <p:cNvSpPr txBox="1"/>
          <p:nvPr/>
        </p:nvSpPr>
        <p:spPr>
          <a:xfrm>
            <a:off x="4833937" y="357187"/>
            <a:ext cx="14716126" cy="3429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lvl1pPr algn="ctr">
              <a:spcBef>
                <a:spcPts val="0"/>
              </a:spcBef>
              <a:defRPr sz="11200">
                <a:latin typeface="+mn-lt"/>
                <a:ea typeface="+mn-ea"/>
                <a:cs typeface="+mn-cs"/>
                <a:sym typeface="Helvetica Neue Medium"/>
              </a:defRPr>
            </a:lvl1pPr>
          </a:lstStyle>
          <a:p>
            <a:r>
              <a:t>Challenges</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Anomaly Detection Challenges"/>
          <p:cNvSpPr txBox="1">
            <a:spLocks noGrp="1"/>
          </p:cNvSpPr>
          <p:nvPr>
            <p:ph type="title"/>
          </p:nvPr>
        </p:nvSpPr>
        <p:spPr>
          <a:prstGeom prst="rect">
            <a:avLst/>
          </a:prstGeom>
        </p:spPr>
        <p:txBody>
          <a:bodyPr/>
          <a:lstStyle/>
          <a:p>
            <a:r>
              <a:t>Anomaly Detection Challenges</a:t>
            </a:r>
          </a:p>
        </p:txBody>
      </p:sp>
      <p:sp>
        <p:nvSpPr>
          <p:cNvPr id="180" name="Subjective definition of &quot;normality&quot;.…"/>
          <p:cNvSpPr txBox="1">
            <a:spLocks noGrp="1"/>
          </p:cNvSpPr>
          <p:nvPr>
            <p:ph type="body" idx="1"/>
          </p:nvPr>
        </p:nvSpPr>
        <p:spPr>
          <a:prstGeom prst="rect">
            <a:avLst/>
          </a:prstGeom>
        </p:spPr>
        <p:txBody>
          <a:bodyPr/>
          <a:lstStyle/>
          <a:p>
            <a:pPr marL="789340" indent="-789340" defTabSz="457200">
              <a:spcBef>
                <a:spcPts val="0"/>
              </a:spcBef>
              <a:buSzPct val="50000"/>
              <a:buBlip>
                <a:blip r:embed="rId2"/>
              </a:buBlip>
              <a:defRPr sz="5966">
                <a:latin typeface="Verdana"/>
                <a:ea typeface="Verdana"/>
                <a:cs typeface="Verdana"/>
                <a:sym typeface="Verdana"/>
              </a:defRPr>
            </a:pPr>
            <a:r>
              <a:t>Subjective definition of "normality". </a:t>
            </a:r>
          </a:p>
          <a:p>
            <a:pPr marL="789340" indent="-789340" defTabSz="457200">
              <a:spcBef>
                <a:spcPts val="0"/>
              </a:spcBef>
              <a:buSzPct val="50000"/>
              <a:buBlip>
                <a:blip r:embed="rId2"/>
              </a:buBlip>
              <a:defRPr sz="5966">
                <a:latin typeface="Verdana"/>
                <a:ea typeface="Verdana"/>
                <a:cs typeface="Verdana"/>
                <a:sym typeface="Verdana"/>
              </a:defRPr>
            </a:pPr>
            <a:r>
              <a:t>Unbalanced data (scarcity of anomalous examples). </a:t>
            </a:r>
          </a:p>
          <a:p>
            <a:pPr marL="789340" indent="-789340" defTabSz="457200">
              <a:spcBef>
                <a:spcPts val="0"/>
              </a:spcBef>
              <a:buSzPct val="50000"/>
              <a:buBlip>
                <a:blip r:embed="rId2"/>
              </a:buBlip>
              <a:defRPr sz="5966">
                <a:latin typeface="Verdana"/>
                <a:ea typeface="Verdana"/>
                <a:cs typeface="Verdana"/>
                <a:sym typeface="Verdana"/>
              </a:defRPr>
            </a:pPr>
            <a:r>
              <a:t>Noise in the data that can be mistaken for anomalies. </a:t>
            </a:r>
          </a:p>
          <a:p>
            <a:pPr marL="789340" indent="-789340" defTabSz="457200">
              <a:spcBef>
                <a:spcPts val="0"/>
              </a:spcBef>
              <a:buSzPct val="50000"/>
              <a:buBlip>
                <a:blip r:embed="rId2"/>
              </a:buBlip>
              <a:defRPr sz="5966">
                <a:latin typeface="Verdana"/>
                <a:ea typeface="Verdana"/>
                <a:cs typeface="Verdana"/>
                <a:sym typeface="Verdana"/>
              </a:defRPr>
            </a:pPr>
            <a:r>
              <a:t>Evolution of anomalies over time.</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Haz doble clic para editar"/>
          <p:cNvSpPr txBox="1">
            <a:spLocks noGrp="1"/>
          </p:cNvSpPr>
          <p:nvPr>
            <p:ph type="body" idx="1"/>
          </p:nvPr>
        </p:nvSpPr>
        <p:spPr>
          <a:prstGeom prst="rect">
            <a:avLst/>
          </a:prstGeom>
        </p:spPr>
        <p:txBody>
          <a:bodyPr/>
          <a:lstStyle/>
          <a:p>
            <a:endParaRPr/>
          </a:p>
        </p:txBody>
      </p:sp>
      <p:pic>
        <p:nvPicPr>
          <p:cNvPr id="183" name="Imagen" descr="Imagen"/>
          <p:cNvPicPr>
            <a:picLocks noChangeAspect="1"/>
          </p:cNvPicPr>
          <p:nvPr/>
        </p:nvPicPr>
        <p:blipFill>
          <a:blip r:embed="rId2"/>
          <a:stretch>
            <a:fillRect/>
          </a:stretch>
        </p:blipFill>
        <p:spPr>
          <a:xfrm>
            <a:off x="826898" y="737802"/>
            <a:ext cx="22366986" cy="12581431"/>
          </a:xfrm>
          <a:prstGeom prst="rect">
            <a:avLst/>
          </a:prstGeom>
          <a:ln w="12700">
            <a:miter lim="400000"/>
          </a:ln>
        </p:spPr>
      </p:pic>
      <p:sp>
        <p:nvSpPr>
          <p:cNvPr id="184" name="Rectángulo redondeado"/>
          <p:cNvSpPr/>
          <p:nvPr/>
        </p:nvSpPr>
        <p:spPr>
          <a:xfrm>
            <a:off x="13529305" y="10996665"/>
            <a:ext cx="4073009" cy="1905001"/>
          </a:xfrm>
          <a:prstGeom prst="roundRect">
            <a:avLst>
              <a:gd name="adj" fmla="val 10000"/>
            </a:avLst>
          </a:prstGeom>
          <a:solidFill>
            <a:srgbClr val="FFFFFF"/>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185" name="Rectángulo redondeado"/>
          <p:cNvSpPr/>
          <p:nvPr/>
        </p:nvSpPr>
        <p:spPr>
          <a:xfrm>
            <a:off x="5052151" y="5808061"/>
            <a:ext cx="3366579" cy="1040234"/>
          </a:xfrm>
          <a:prstGeom prst="roundRect">
            <a:avLst>
              <a:gd name="adj" fmla="val 18313"/>
            </a:avLst>
          </a:prstGeom>
          <a:solidFill>
            <a:srgbClr val="FFFFFF"/>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Evaluation"/>
          <p:cNvSpPr txBox="1">
            <a:spLocks noGrp="1"/>
          </p:cNvSpPr>
          <p:nvPr>
            <p:ph type="title"/>
          </p:nvPr>
        </p:nvSpPr>
        <p:spPr>
          <a:prstGeom prst="rect">
            <a:avLst/>
          </a:prstGeom>
        </p:spPr>
        <p:txBody>
          <a:bodyPr/>
          <a:lstStyle/>
          <a:p>
            <a:r>
              <a:t>Evaluation</a:t>
            </a:r>
          </a:p>
        </p:txBody>
      </p:sp>
      <p:sp>
        <p:nvSpPr>
          <p:cNvPr id="188" name="Possible evaluation metrics:…"/>
          <p:cNvSpPr txBox="1">
            <a:spLocks noGrp="1"/>
          </p:cNvSpPr>
          <p:nvPr>
            <p:ph type="body" idx="1"/>
          </p:nvPr>
        </p:nvSpPr>
        <p:spPr>
          <a:prstGeom prst="rect">
            <a:avLst/>
          </a:prstGeom>
        </p:spPr>
        <p:txBody>
          <a:bodyPr/>
          <a:lstStyle/>
          <a:p>
            <a:pPr marL="0" indent="0" defTabSz="17859">
              <a:spcBef>
                <a:spcPts val="0"/>
              </a:spcBef>
              <a:buSzTx/>
              <a:buNone/>
              <a:tabLst>
                <a:tab pos="495300" algn="l"/>
                <a:tab pos="990600" algn="l"/>
                <a:tab pos="1498600" algn="l"/>
                <a:tab pos="1993900" algn="l"/>
                <a:tab pos="2489200" algn="l"/>
                <a:tab pos="2997200" algn="l"/>
                <a:tab pos="3492500" algn="l"/>
                <a:tab pos="4000500" algn="l"/>
                <a:tab pos="4495800" algn="l"/>
                <a:tab pos="4991100" algn="l"/>
                <a:tab pos="5499100" algn="l"/>
                <a:tab pos="5994400" algn="l"/>
              </a:tabLst>
              <a:defRPr sz="5500">
                <a:latin typeface="Helvetica"/>
                <a:ea typeface="Helvetica"/>
                <a:cs typeface="Helvetica"/>
                <a:sym typeface="Helvetica"/>
              </a:defRPr>
            </a:pPr>
            <a:r>
              <a:t>Possible evaluation metrics:</a:t>
            </a:r>
          </a:p>
          <a:p>
            <a:pPr marL="0" indent="0" defTabSz="17859">
              <a:spcBef>
                <a:spcPts val="0"/>
              </a:spcBef>
              <a:buSzTx/>
              <a:buNone/>
              <a:tabLst>
                <a:tab pos="495300" algn="l"/>
                <a:tab pos="990600" algn="l"/>
                <a:tab pos="1498600" algn="l"/>
                <a:tab pos="1993900" algn="l"/>
                <a:tab pos="2489200" algn="l"/>
                <a:tab pos="2997200" algn="l"/>
                <a:tab pos="3492500" algn="l"/>
                <a:tab pos="4000500" algn="l"/>
                <a:tab pos="4495800" algn="l"/>
                <a:tab pos="4991100" algn="l"/>
                <a:tab pos="5499100" algn="l"/>
                <a:tab pos="5994400" algn="l"/>
              </a:tabLst>
              <a:defRPr sz="5500">
                <a:latin typeface="Helvetica"/>
                <a:ea typeface="Helvetica"/>
                <a:cs typeface="Helvetica"/>
                <a:sym typeface="Helvetica"/>
              </a:defRPr>
            </a:pPr>
            <a:endParaRPr/>
          </a:p>
          <a:p>
            <a:pPr marL="727604" indent="-727604" defTabSz="17859">
              <a:spcBef>
                <a:spcPts val="0"/>
              </a:spcBef>
              <a:buSzPct val="50000"/>
              <a:buBlip>
                <a:blip r:embed="rId2"/>
              </a:buBlip>
              <a:tabLst>
                <a:tab pos="495300" algn="l"/>
                <a:tab pos="990600" algn="l"/>
                <a:tab pos="1498600" algn="l"/>
                <a:tab pos="1993900" algn="l"/>
                <a:tab pos="2489200" algn="l"/>
                <a:tab pos="2997200" algn="l"/>
                <a:tab pos="3492500" algn="l"/>
                <a:tab pos="4000500" algn="l"/>
                <a:tab pos="4495800" algn="l"/>
                <a:tab pos="4991100" algn="l"/>
                <a:tab pos="5499100" algn="l"/>
                <a:tab pos="5994400" algn="l"/>
              </a:tabLst>
              <a:defRPr sz="5500">
                <a:latin typeface="Helvetica"/>
                <a:ea typeface="Helvetica"/>
                <a:cs typeface="Helvetica"/>
                <a:sym typeface="Helvetica"/>
              </a:defRPr>
            </a:pPr>
            <a:r>
              <a:t>  True positive,	false 	positive, false negative, true positive</a:t>
            </a:r>
          </a:p>
          <a:p>
            <a:pPr marL="727604" indent="-727604" defTabSz="17859">
              <a:spcBef>
                <a:spcPts val="0"/>
              </a:spcBef>
              <a:buSzPct val="50000"/>
              <a:buBlip>
                <a:blip r:embed="rId2"/>
              </a:buBlip>
              <a:tabLst>
                <a:tab pos="495300" algn="l"/>
                <a:tab pos="990600" algn="l"/>
                <a:tab pos="1498600" algn="l"/>
                <a:tab pos="1993900" algn="l"/>
                <a:tab pos="2489200" algn="l"/>
                <a:tab pos="2997200" algn="l"/>
                <a:tab pos="3492500" algn="l"/>
                <a:tab pos="4000500" algn="l"/>
                <a:tab pos="4495800" algn="l"/>
                <a:tab pos="4991100" algn="l"/>
                <a:tab pos="5499100" algn="l"/>
                <a:tab pos="5994400" algn="l"/>
              </a:tabLst>
              <a:defRPr sz="5500">
                <a:latin typeface="Helvetica"/>
                <a:ea typeface="Helvetica"/>
                <a:cs typeface="Helvetica"/>
                <a:sym typeface="Helvetica"/>
              </a:defRPr>
            </a:pPr>
            <a:r>
              <a:t>  Precision/Recall</a:t>
            </a:r>
          </a:p>
          <a:p>
            <a:pPr marL="727604" indent="-727604" defTabSz="17859">
              <a:spcBef>
                <a:spcPts val="0"/>
              </a:spcBef>
              <a:buSzPct val="50000"/>
              <a:buBlip>
                <a:blip r:embed="rId2"/>
              </a:buBlip>
              <a:tabLst>
                <a:tab pos="495300" algn="l"/>
                <a:tab pos="990600" algn="l"/>
                <a:tab pos="1498600" algn="l"/>
                <a:tab pos="1993900" algn="l"/>
                <a:tab pos="2489200" algn="l"/>
                <a:tab pos="2997200" algn="l"/>
                <a:tab pos="3492500" algn="l"/>
                <a:tab pos="4000500" algn="l"/>
                <a:tab pos="4495800" algn="l"/>
                <a:tab pos="4991100" algn="l"/>
                <a:tab pos="5499100" algn="l"/>
                <a:tab pos="5994400" algn="l"/>
              </a:tabLst>
              <a:defRPr sz="5500">
                <a:latin typeface="Helvetica"/>
                <a:ea typeface="Helvetica"/>
                <a:cs typeface="Helvetica"/>
                <a:sym typeface="Helvetica"/>
              </a:defRPr>
            </a:pPr>
            <a:r>
              <a:t>  F1-­‐score</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Haz doble clic para editar"/>
          <p:cNvSpPr txBox="1">
            <a:spLocks noGrp="1"/>
          </p:cNvSpPr>
          <p:nvPr>
            <p:ph type="ctrTitle"/>
          </p:nvPr>
        </p:nvSpPr>
        <p:spPr>
          <a:prstGeom prst="rect">
            <a:avLst/>
          </a:prstGeom>
        </p:spPr>
        <p:txBody>
          <a:bodyPr/>
          <a:lstStyle/>
          <a:p>
            <a:endParaRPr/>
          </a:p>
        </p:txBody>
      </p:sp>
      <p:sp>
        <p:nvSpPr>
          <p:cNvPr id="191" name="Haz doble clic para editar"/>
          <p:cNvSpPr txBox="1">
            <a:spLocks noGrp="1"/>
          </p:cNvSpPr>
          <p:nvPr>
            <p:ph type="subTitle" sz="quarter" idx="1"/>
          </p:nvPr>
        </p:nvSpPr>
        <p:spPr>
          <a:prstGeom prst="rect">
            <a:avLst/>
          </a:prstGeom>
        </p:spPr>
        <p:txBody>
          <a:bodyPr/>
          <a:lstStyle/>
          <a:p>
            <a:endParaRPr/>
          </a:p>
        </p:txBody>
      </p:sp>
      <p:pic>
        <p:nvPicPr>
          <p:cNvPr id="192" name="Imagen" descr="Imagen"/>
          <p:cNvPicPr>
            <a:picLocks noChangeAspect="1"/>
          </p:cNvPicPr>
          <p:nvPr/>
        </p:nvPicPr>
        <p:blipFill>
          <a:blip r:embed="rId2"/>
          <a:stretch>
            <a:fillRect/>
          </a:stretch>
        </p:blipFill>
        <p:spPr>
          <a:xfrm>
            <a:off x="2346610" y="2196703"/>
            <a:ext cx="18600207" cy="10462616"/>
          </a:xfrm>
          <a:prstGeom prst="rect">
            <a:avLst/>
          </a:prstGeom>
          <a:ln w="12700">
            <a:miter lim="400000"/>
          </a:ln>
        </p:spPr>
      </p:pic>
      <p:sp>
        <p:nvSpPr>
          <p:cNvPr id="193" name="Gaussian"/>
          <p:cNvSpPr txBox="1"/>
          <p:nvPr/>
        </p:nvSpPr>
        <p:spPr>
          <a:xfrm>
            <a:off x="13689097" y="9557717"/>
            <a:ext cx="4406504" cy="12367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8000">
                <a:latin typeface="Arial"/>
                <a:ea typeface="Arial"/>
                <a:cs typeface="Arial"/>
                <a:sym typeface="Arial"/>
              </a:defRPr>
            </a:lvl1pPr>
          </a:lstStyle>
          <a:p>
            <a:r>
              <a:t>Gaussian</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1 dimension"/>
          <p:cNvSpPr txBox="1">
            <a:spLocks noGrp="1"/>
          </p:cNvSpPr>
          <p:nvPr>
            <p:ph type="title"/>
          </p:nvPr>
        </p:nvSpPr>
        <p:spPr>
          <a:prstGeom prst="rect">
            <a:avLst/>
          </a:prstGeom>
        </p:spPr>
        <p:txBody>
          <a:bodyPr/>
          <a:lstStyle/>
          <a:p>
            <a:r>
              <a:t>1 dimension</a:t>
            </a:r>
          </a:p>
        </p:txBody>
      </p:sp>
      <p:sp>
        <p:nvSpPr>
          <p:cNvPr id="196" name="Z-score: Detects values that deviate from the mean by more than a certain number of standard deviations. Assumes normal distribution."/>
          <p:cNvSpPr txBox="1">
            <a:spLocks noGrp="1"/>
          </p:cNvSpPr>
          <p:nvPr>
            <p:ph type="body" idx="1"/>
          </p:nvPr>
        </p:nvSpPr>
        <p:spPr>
          <a:prstGeom prst="rect">
            <a:avLst/>
          </a:prstGeom>
        </p:spPr>
        <p:txBody>
          <a:bodyPr/>
          <a:lstStyle/>
          <a:p>
            <a:r>
              <a:t>Z-score: Detects values that deviate from the mean by more than a certain number of standard deviations. Assumes normal distribution.</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 name="normal_distribution.png" descr="normal_distribution.png"/>
          <p:cNvPicPr>
            <a:picLocks noChangeAspect="1"/>
          </p:cNvPicPr>
          <p:nvPr/>
        </p:nvPicPr>
        <p:blipFill>
          <a:blip r:embed="rId2"/>
          <a:stretch>
            <a:fillRect/>
          </a:stretch>
        </p:blipFill>
        <p:spPr>
          <a:xfrm>
            <a:off x="7770162" y="8291186"/>
            <a:ext cx="10376298" cy="4750594"/>
          </a:xfrm>
          <a:prstGeom prst="rect">
            <a:avLst/>
          </a:prstGeom>
          <a:ln w="12700">
            <a:miter lim="400000"/>
          </a:ln>
        </p:spPr>
      </p:pic>
      <p:pic>
        <p:nvPicPr>
          <p:cNvPr id="199" name="4_normal.png" descr="4_normal.png"/>
          <p:cNvPicPr>
            <a:picLocks noChangeAspect="1"/>
          </p:cNvPicPr>
          <p:nvPr/>
        </p:nvPicPr>
        <p:blipFill>
          <a:blip r:embed="rId3"/>
          <a:srcRect l="23328" t="19774" r="44334" b="53901"/>
          <a:stretch>
            <a:fillRect/>
          </a:stretch>
        </p:blipFill>
        <p:spPr>
          <a:xfrm>
            <a:off x="1384258" y="2642770"/>
            <a:ext cx="11222820" cy="2387980"/>
          </a:xfrm>
          <a:prstGeom prst="rect">
            <a:avLst/>
          </a:prstGeom>
          <a:ln w="12700">
            <a:miter lim="400000"/>
          </a:ln>
        </p:spPr>
      </p:pic>
      <p:sp>
        <p:nvSpPr>
          <p:cNvPr id="200" name="Gaussian distribution"/>
          <p:cNvSpPr txBox="1">
            <a:spLocks noGrp="1"/>
          </p:cNvSpPr>
          <p:nvPr>
            <p:ph type="title"/>
          </p:nvPr>
        </p:nvSpPr>
        <p:spPr>
          <a:prstGeom prst="rect">
            <a:avLst/>
          </a:prstGeom>
        </p:spPr>
        <p:txBody>
          <a:bodyPr/>
          <a:lstStyle/>
          <a:p>
            <a:r>
              <a:t>Gaussian distribution</a:t>
            </a:r>
          </a:p>
        </p:txBody>
      </p:sp>
      <p:pic>
        <p:nvPicPr>
          <p:cNvPr id="201" name="Unknown.png" descr="Unknown.png"/>
          <p:cNvPicPr>
            <a:picLocks noChangeAspect="1"/>
          </p:cNvPicPr>
          <p:nvPr/>
        </p:nvPicPr>
        <p:blipFill>
          <a:blip r:embed="rId4"/>
          <a:stretch>
            <a:fillRect/>
          </a:stretch>
        </p:blipFill>
        <p:spPr>
          <a:xfrm>
            <a:off x="14296452" y="2481379"/>
            <a:ext cx="9039287" cy="6805641"/>
          </a:xfrm>
          <a:prstGeom prst="rect">
            <a:avLst/>
          </a:prstGeom>
          <a:ln w="12700">
            <a:miter lim="400000"/>
          </a:ln>
        </p:spPr>
      </p:pic>
      <p:pic>
        <p:nvPicPr>
          <p:cNvPr id="202" name="Unknown.png" descr="Unknown.png"/>
          <p:cNvPicPr>
            <a:picLocks noChangeAspect="1"/>
          </p:cNvPicPr>
          <p:nvPr/>
        </p:nvPicPr>
        <p:blipFill>
          <a:blip r:embed="rId5"/>
          <a:stretch>
            <a:fillRect/>
          </a:stretch>
        </p:blipFill>
        <p:spPr>
          <a:xfrm>
            <a:off x="406650" y="5181053"/>
            <a:ext cx="9910914" cy="6394140"/>
          </a:xfrm>
          <a:prstGeom prst="rect">
            <a:avLst/>
          </a:prstGeom>
          <a:ln w="12700">
            <a:miter lim="400000"/>
          </a:ln>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Short table"/>
          <p:cNvSpPr txBox="1">
            <a:spLocks noGrp="1"/>
          </p:cNvSpPr>
          <p:nvPr>
            <p:ph type="title"/>
          </p:nvPr>
        </p:nvSpPr>
        <p:spPr>
          <a:prstGeom prst="rect">
            <a:avLst/>
          </a:prstGeom>
        </p:spPr>
        <p:txBody>
          <a:bodyPr/>
          <a:lstStyle/>
          <a:p>
            <a:r>
              <a:t>Short table</a:t>
            </a:r>
          </a:p>
        </p:txBody>
      </p:sp>
      <p:sp>
        <p:nvSpPr>
          <p:cNvPr id="205" name="P(|x| &gt; z) = probability queues"/>
          <p:cNvSpPr txBox="1">
            <a:spLocks noGrp="1"/>
          </p:cNvSpPr>
          <p:nvPr>
            <p:ph type="body" idx="1"/>
          </p:nvPr>
        </p:nvSpPr>
        <p:spPr>
          <a:xfrm>
            <a:off x="1689100" y="3098800"/>
            <a:ext cx="21005800" cy="9296400"/>
          </a:xfrm>
          <a:prstGeom prst="rect">
            <a:avLst/>
          </a:prstGeom>
        </p:spPr>
        <p:txBody>
          <a:bodyPr/>
          <a:lstStyle/>
          <a:p>
            <a:pPr marL="0" indent="0">
              <a:buSzTx/>
              <a:buNone/>
            </a:pPr>
            <a:endParaRPr/>
          </a:p>
          <a:p>
            <a:pPr marL="0" indent="0">
              <a:buSzTx/>
              <a:buNone/>
            </a:pPr>
            <a:endParaRPr/>
          </a:p>
          <a:p>
            <a:pPr marL="0" indent="0">
              <a:buSzTx/>
              <a:buNone/>
            </a:pPr>
            <a:endParaRPr/>
          </a:p>
          <a:p>
            <a:pPr marL="0" indent="0">
              <a:buSzTx/>
              <a:buNone/>
            </a:pPr>
            <a:endParaRPr/>
          </a:p>
          <a:p>
            <a:pPr marL="0" indent="0" algn="ctr">
              <a:buSzTx/>
              <a:buNone/>
            </a:pPr>
            <a:r>
              <a:t>P(|x| &gt; z) = probability queues</a:t>
            </a:r>
          </a:p>
        </p:txBody>
      </p:sp>
      <p:graphicFrame>
        <p:nvGraphicFramePr>
          <p:cNvPr id="206" name="Tabla 1"/>
          <p:cNvGraphicFramePr/>
          <p:nvPr/>
        </p:nvGraphicFramePr>
        <p:xfrm>
          <a:off x="7564475" y="3346472"/>
          <a:ext cx="9949297" cy="5223280"/>
        </p:xfrm>
        <a:graphic>
          <a:graphicData uri="http://schemas.openxmlformats.org/drawingml/2006/table">
            <a:tbl>
              <a:tblPr bandRow="1">
                <a:tableStyleId>{4C3C2611-4C71-4FC5-86AE-919BDF0F9419}</a:tableStyleId>
              </a:tblPr>
              <a:tblGrid>
                <a:gridCol w="4022118">
                  <a:extLst>
                    <a:ext uri="{9D8B030D-6E8A-4147-A177-3AD203B41FA5}">
                      <a16:colId xmlns:a16="http://schemas.microsoft.com/office/drawing/2014/main" val="20000"/>
                    </a:ext>
                  </a:extLst>
                </a:gridCol>
                <a:gridCol w="5927179">
                  <a:extLst>
                    <a:ext uri="{9D8B030D-6E8A-4147-A177-3AD203B41FA5}">
                      <a16:colId xmlns:a16="http://schemas.microsoft.com/office/drawing/2014/main" val="20001"/>
                    </a:ext>
                  </a:extLst>
                </a:gridCol>
              </a:tblGrid>
              <a:tr h="1044656">
                <a:tc>
                  <a:txBody>
                    <a:bodyPr/>
                    <a:lstStyle/>
                    <a:p>
                      <a:pPr defTabSz="914400">
                        <a:defRPr sz="1800"/>
                      </a:pPr>
                      <a:r>
                        <a:rPr sz="4400" b="1">
                          <a:sym typeface="Helvetica Neue"/>
                        </a:rPr>
                        <a:t>Z</a:t>
                      </a:r>
                    </a:p>
                  </a:txBody>
                  <a:tcPr marL="50800" marR="50800" marT="50800" marB="50800" anchor="ctr" horzOverflow="overflow">
                    <a:solidFill>
                      <a:schemeClr val="accent4">
                        <a:hueOff val="-461056"/>
                        <a:satOff val="4338"/>
                        <a:lumOff val="-10225"/>
                      </a:schemeClr>
                    </a:solidFill>
                  </a:tcPr>
                </a:tc>
                <a:tc>
                  <a:txBody>
                    <a:bodyPr/>
                    <a:lstStyle/>
                    <a:p>
                      <a:pPr defTabSz="914400">
                        <a:defRPr sz="1800"/>
                      </a:pPr>
                      <a:r>
                        <a:rPr sz="4400" b="1">
                          <a:sym typeface="Helvetica Neue"/>
                        </a:rPr>
                        <a:t>Probability of queues</a:t>
                      </a:r>
                    </a:p>
                  </a:txBody>
                  <a:tcPr marL="50800" marR="50800" marT="50800" marB="50800" anchor="ctr" horzOverflow="overflow">
                    <a:solidFill>
                      <a:schemeClr val="accent4">
                        <a:hueOff val="-461056"/>
                        <a:satOff val="4338"/>
                        <a:lumOff val="-10225"/>
                      </a:schemeClr>
                    </a:solidFill>
                  </a:tcPr>
                </a:tc>
                <a:extLst>
                  <a:ext uri="{0D108BD9-81ED-4DB2-BD59-A6C34878D82A}">
                    <a16:rowId xmlns:a16="http://schemas.microsoft.com/office/drawing/2014/main" val="10000"/>
                  </a:ext>
                </a:extLst>
              </a:tr>
              <a:tr h="1044656">
                <a:tc>
                  <a:txBody>
                    <a:bodyPr/>
                    <a:lstStyle/>
                    <a:p>
                      <a:pPr defTabSz="914400">
                        <a:defRPr sz="1800"/>
                      </a:pPr>
                      <a:r>
                        <a:rPr sz="3200">
                          <a:sym typeface="Helvetica Neue"/>
                        </a:rPr>
                        <a:t>2.576</a:t>
                      </a:r>
                    </a:p>
                  </a:txBody>
                  <a:tcPr marL="50800" marR="50800" marT="50800" marB="50800" anchor="ctr" horzOverflow="overflow"/>
                </a:tc>
                <a:tc>
                  <a:txBody>
                    <a:bodyPr/>
                    <a:lstStyle/>
                    <a:p>
                      <a:pPr defTabSz="914400">
                        <a:defRPr sz="1800"/>
                      </a:pPr>
                      <a:r>
                        <a:rPr sz="3200">
                          <a:sym typeface="Helvetica Neue"/>
                        </a:rPr>
                        <a:t>1 %</a:t>
                      </a:r>
                    </a:p>
                  </a:txBody>
                  <a:tcPr marL="50800" marR="50800" marT="50800" marB="50800" anchor="ctr" horzOverflow="overflow"/>
                </a:tc>
                <a:extLst>
                  <a:ext uri="{0D108BD9-81ED-4DB2-BD59-A6C34878D82A}">
                    <a16:rowId xmlns:a16="http://schemas.microsoft.com/office/drawing/2014/main" val="10001"/>
                  </a:ext>
                </a:extLst>
              </a:tr>
              <a:tr h="1044656">
                <a:tc>
                  <a:txBody>
                    <a:bodyPr/>
                    <a:lstStyle/>
                    <a:p>
                      <a:pPr defTabSz="914400">
                        <a:defRPr sz="1800"/>
                      </a:pPr>
                      <a:r>
                        <a:rPr sz="3200">
                          <a:sym typeface="Helvetica Neue"/>
                        </a:rPr>
                        <a:t>2.24</a:t>
                      </a:r>
                    </a:p>
                  </a:txBody>
                  <a:tcPr marL="50800" marR="50800" marT="50800" marB="50800" anchor="ctr" horzOverflow="overflow"/>
                </a:tc>
                <a:tc>
                  <a:txBody>
                    <a:bodyPr/>
                    <a:lstStyle/>
                    <a:p>
                      <a:pPr defTabSz="914400">
                        <a:defRPr sz="1800"/>
                      </a:pPr>
                      <a:r>
                        <a:rPr sz="3200">
                          <a:sym typeface="Helvetica Neue"/>
                        </a:rPr>
                        <a:t>2.5%</a:t>
                      </a:r>
                    </a:p>
                  </a:txBody>
                  <a:tcPr marL="50800" marR="50800" marT="50800" marB="50800" anchor="ctr" horzOverflow="overflow"/>
                </a:tc>
                <a:extLst>
                  <a:ext uri="{0D108BD9-81ED-4DB2-BD59-A6C34878D82A}">
                    <a16:rowId xmlns:a16="http://schemas.microsoft.com/office/drawing/2014/main" val="10002"/>
                  </a:ext>
                </a:extLst>
              </a:tr>
              <a:tr h="1044656">
                <a:tc>
                  <a:txBody>
                    <a:bodyPr/>
                    <a:lstStyle/>
                    <a:p>
                      <a:pPr defTabSz="914400">
                        <a:defRPr sz="1800"/>
                      </a:pPr>
                      <a:r>
                        <a:rPr sz="3200">
                          <a:sym typeface="Helvetica Neue"/>
                        </a:rPr>
                        <a:t>1.96</a:t>
                      </a:r>
                    </a:p>
                  </a:txBody>
                  <a:tcPr marL="50800" marR="50800" marT="50800" marB="50800" anchor="ctr" horzOverflow="overflow"/>
                </a:tc>
                <a:tc>
                  <a:txBody>
                    <a:bodyPr/>
                    <a:lstStyle/>
                    <a:p>
                      <a:pPr defTabSz="914400">
                        <a:defRPr sz="1800"/>
                      </a:pPr>
                      <a:r>
                        <a:rPr sz="3200">
                          <a:sym typeface="Helvetica Neue"/>
                        </a:rPr>
                        <a:t>5 %</a:t>
                      </a:r>
                    </a:p>
                  </a:txBody>
                  <a:tcPr marL="50800" marR="50800" marT="50800" marB="50800" anchor="ctr" horzOverflow="overflow"/>
                </a:tc>
                <a:extLst>
                  <a:ext uri="{0D108BD9-81ED-4DB2-BD59-A6C34878D82A}">
                    <a16:rowId xmlns:a16="http://schemas.microsoft.com/office/drawing/2014/main" val="10003"/>
                  </a:ext>
                </a:extLst>
              </a:tr>
              <a:tr h="1044656">
                <a:tc>
                  <a:txBody>
                    <a:bodyPr/>
                    <a:lstStyle/>
                    <a:p>
                      <a:pPr defTabSz="914400">
                        <a:defRPr sz="1800"/>
                      </a:pPr>
                      <a:r>
                        <a:rPr sz="3200">
                          <a:sym typeface="Helvetica Neue"/>
                        </a:rPr>
                        <a:t>1.64</a:t>
                      </a:r>
                    </a:p>
                  </a:txBody>
                  <a:tcPr marL="50800" marR="50800" marT="50800" marB="50800" anchor="ctr" horzOverflow="overflow"/>
                </a:tc>
                <a:tc>
                  <a:txBody>
                    <a:bodyPr/>
                    <a:lstStyle/>
                    <a:p>
                      <a:pPr defTabSz="914400">
                        <a:defRPr sz="1800"/>
                      </a:pPr>
                      <a:r>
                        <a:rPr sz="3200">
                          <a:sym typeface="Helvetica Neue"/>
                        </a:rPr>
                        <a:t>10 %</a:t>
                      </a:r>
                    </a:p>
                  </a:txBody>
                  <a:tcPr marL="50800" marR="50800" marT="50800" marB="50800" anchor="ctr" horzOverflow="overflow"/>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Algorithm 1-dim"/>
          <p:cNvSpPr txBox="1">
            <a:spLocks noGrp="1"/>
          </p:cNvSpPr>
          <p:nvPr>
            <p:ph type="title"/>
          </p:nvPr>
        </p:nvSpPr>
        <p:spPr>
          <a:prstGeom prst="rect">
            <a:avLst/>
          </a:prstGeom>
        </p:spPr>
        <p:txBody>
          <a:bodyPr/>
          <a:lstStyle/>
          <a:p>
            <a:r>
              <a:t>Algorithm 1-dim</a:t>
            </a:r>
          </a:p>
        </p:txBody>
      </p:sp>
      <mc:AlternateContent xmlns:mc="http://schemas.openxmlformats.org/markup-compatibility/2006">
        <mc:Choice xmlns:a14="http://schemas.microsoft.com/office/drawing/2010/main" Requires="a14">
          <p:sp>
            <p:nvSpPr>
              <p:cNvPr id="209" name="Given  , compute  ,…"/>
              <p:cNvSpPr txBox="1">
                <a:spLocks noGrp="1"/>
              </p:cNvSpPr>
              <p:nvPr>
                <p:ph type="body" idx="1"/>
              </p:nvPr>
            </p:nvSpPr>
            <p:spPr>
              <a:prstGeom prst="rect">
                <a:avLst/>
              </a:prstGeom>
            </p:spPr>
            <p:txBody>
              <a:bodyPr/>
              <a:lstStyle/>
              <a:p>
                <a:pPr marL="0" indent="0">
                  <a:buSzTx/>
                  <a:buNone/>
                </a:pPr>
                <a:r>
                  <a:t>Given </a:t>
                </a:r>
                <a14:m>
                  <m:oMath xmlns:m="http://schemas.openxmlformats.org/officeDocument/2006/math">
                    <m:r>
                      <a:rPr sz="5750" i="1">
                        <a:solidFill>
                          <a:srgbClr val="000000"/>
                        </a:solidFill>
                        <a:latin typeface="Cambria Math" panose="02040503050406030204" pitchFamily="18" charset="0"/>
                      </a:rPr>
                      <m:t>{</m:t>
                    </m:r>
                    <m:sSup>
                      <m:sSupPr>
                        <m:ctrlPr>
                          <a:rPr sz="5750" i="1">
                            <a:solidFill>
                              <a:srgbClr val="000000"/>
                            </a:solidFill>
                            <a:latin typeface="Cambria Math" panose="02040503050406030204" pitchFamily="18" charset="0"/>
                          </a:rPr>
                        </m:ctrlPr>
                      </m:sSupPr>
                      <m:e>
                        <m:r>
                          <a:rPr sz="5750" i="1">
                            <a:solidFill>
                              <a:srgbClr val="000000"/>
                            </a:solidFill>
                            <a:latin typeface="Cambria Math" panose="02040503050406030204" pitchFamily="18" charset="0"/>
                          </a:rPr>
                          <m:t>𝑥</m:t>
                        </m:r>
                      </m:e>
                      <m:sup>
                        <m:r>
                          <a:rPr sz="5750" i="1">
                            <a:solidFill>
                              <a:srgbClr val="000000"/>
                            </a:solidFill>
                            <a:latin typeface="Cambria Math" panose="02040503050406030204" pitchFamily="18" charset="0"/>
                          </a:rPr>
                          <m:t>(1)</m:t>
                        </m:r>
                      </m:sup>
                    </m:sSup>
                    <m:r>
                      <a:rPr sz="5750" i="1">
                        <a:solidFill>
                          <a:srgbClr val="000000"/>
                        </a:solidFill>
                        <a:latin typeface="Cambria Math" panose="02040503050406030204" pitchFamily="18" charset="0"/>
                      </a:rPr>
                      <m:t>,</m:t>
                    </m:r>
                    <m:sSup>
                      <m:sSupPr>
                        <m:ctrlPr>
                          <a:rPr sz="5750" i="1">
                            <a:solidFill>
                              <a:srgbClr val="000000"/>
                            </a:solidFill>
                            <a:latin typeface="Cambria Math" panose="02040503050406030204" pitchFamily="18" charset="0"/>
                          </a:rPr>
                        </m:ctrlPr>
                      </m:sSupPr>
                      <m:e>
                        <m:r>
                          <a:rPr sz="5750" i="1">
                            <a:solidFill>
                              <a:srgbClr val="000000"/>
                            </a:solidFill>
                            <a:latin typeface="Cambria Math" panose="02040503050406030204" pitchFamily="18" charset="0"/>
                          </a:rPr>
                          <m:t>𝑥</m:t>
                        </m:r>
                      </m:e>
                      <m:sup>
                        <m:r>
                          <a:rPr sz="5750" i="1">
                            <a:solidFill>
                              <a:srgbClr val="000000"/>
                            </a:solidFill>
                            <a:latin typeface="Cambria Math" panose="02040503050406030204" pitchFamily="18" charset="0"/>
                          </a:rPr>
                          <m:t>(2)</m:t>
                        </m:r>
                      </m:sup>
                    </m:sSup>
                    <m:r>
                      <a:rPr sz="5750" i="1">
                        <a:solidFill>
                          <a:srgbClr val="000000"/>
                        </a:solidFill>
                        <a:latin typeface="Cambria Math" panose="02040503050406030204" pitchFamily="18" charset="0"/>
                      </a:rPr>
                      <m:t>,...,</m:t>
                    </m:r>
                    <m:sSup>
                      <m:sSupPr>
                        <m:ctrlPr>
                          <a:rPr sz="5750" i="1">
                            <a:solidFill>
                              <a:srgbClr val="000000"/>
                            </a:solidFill>
                            <a:latin typeface="Cambria Math" panose="02040503050406030204" pitchFamily="18" charset="0"/>
                          </a:rPr>
                        </m:ctrlPr>
                      </m:sSupPr>
                      <m:e>
                        <m:r>
                          <a:rPr sz="5750" i="1">
                            <a:solidFill>
                              <a:srgbClr val="000000"/>
                            </a:solidFill>
                            <a:latin typeface="Cambria Math" panose="02040503050406030204" pitchFamily="18" charset="0"/>
                          </a:rPr>
                          <m:t>𝑥</m:t>
                        </m:r>
                      </m:e>
                      <m:sup>
                        <m:r>
                          <a:rPr sz="5750" i="1">
                            <a:solidFill>
                              <a:srgbClr val="000000"/>
                            </a:solidFill>
                            <a:latin typeface="Cambria Math" panose="02040503050406030204" pitchFamily="18" charset="0"/>
                          </a:rPr>
                          <m:t>(</m:t>
                        </m:r>
                        <m:r>
                          <a:rPr sz="5750" i="1">
                            <a:solidFill>
                              <a:srgbClr val="000000"/>
                            </a:solidFill>
                            <a:latin typeface="Cambria Math" panose="02040503050406030204" pitchFamily="18" charset="0"/>
                          </a:rPr>
                          <m:t>𝑛</m:t>
                        </m:r>
                        <m:r>
                          <a:rPr sz="5750" i="1">
                            <a:solidFill>
                              <a:srgbClr val="000000"/>
                            </a:solidFill>
                            <a:latin typeface="Cambria Math" panose="02040503050406030204" pitchFamily="18" charset="0"/>
                          </a:rPr>
                          <m:t>)</m:t>
                        </m:r>
                      </m:sup>
                    </m:sSup>
                    <m:r>
                      <a:rPr sz="5750" i="1">
                        <a:solidFill>
                          <a:srgbClr val="000000"/>
                        </a:solidFill>
                        <a:latin typeface="Cambria Math" panose="02040503050406030204" pitchFamily="18" charset="0"/>
                      </a:rPr>
                      <m:t>}</m:t>
                    </m:r>
                  </m:oMath>
                </a14:m>
                <a:r>
                  <a:t>, compute </a:t>
                </a:r>
                <a14:m>
                  <m:oMath xmlns:m="http://schemas.openxmlformats.org/officeDocument/2006/math">
                    <m:r>
                      <a:rPr sz="5750" i="1">
                        <a:solidFill>
                          <a:srgbClr val="000000"/>
                        </a:solidFill>
                        <a:latin typeface="Cambria Math" panose="02040503050406030204" pitchFamily="18" charset="0"/>
                      </a:rPr>
                      <m:t>𝜇</m:t>
                    </m:r>
                    <m:r>
                      <a:rPr sz="5750" i="1">
                        <a:solidFill>
                          <a:srgbClr val="000000"/>
                        </a:solidFill>
                        <a:latin typeface="Cambria Math" panose="02040503050406030204" pitchFamily="18" charset="0"/>
                      </a:rPr>
                      <m:t>=</m:t>
                    </m:r>
                    <m:f>
                      <m:fPr>
                        <m:ctrlPr>
                          <a:rPr sz="5750" i="1">
                            <a:solidFill>
                              <a:srgbClr val="000000"/>
                            </a:solidFill>
                            <a:latin typeface="Cambria Math" panose="02040503050406030204" pitchFamily="18" charset="0"/>
                          </a:rPr>
                        </m:ctrlPr>
                      </m:fPr>
                      <m:num>
                        <m:r>
                          <a:rPr sz="5750" i="1">
                            <a:solidFill>
                              <a:srgbClr val="000000"/>
                            </a:solidFill>
                            <a:latin typeface="Cambria Math" panose="02040503050406030204" pitchFamily="18" charset="0"/>
                          </a:rPr>
                          <m:t>1</m:t>
                        </m:r>
                      </m:num>
                      <m:den>
                        <m:r>
                          <a:rPr sz="5750" i="1">
                            <a:solidFill>
                              <a:srgbClr val="000000"/>
                            </a:solidFill>
                            <a:latin typeface="Cambria Math" panose="02040503050406030204" pitchFamily="18" charset="0"/>
                          </a:rPr>
                          <m:t>𝑛</m:t>
                        </m:r>
                      </m:den>
                    </m:f>
                    <m:limUpp>
                      <m:limUppPr>
                        <m:ctrlPr>
                          <a:rPr sz="5750" i="1">
                            <a:solidFill>
                              <a:srgbClr val="000000"/>
                            </a:solidFill>
                            <a:latin typeface="Cambria Math" panose="02040503050406030204" pitchFamily="18" charset="0"/>
                          </a:rPr>
                        </m:ctrlPr>
                      </m:limUppPr>
                      <m:e>
                        <m:limLow>
                          <m:limLowPr>
                            <m:ctrlPr>
                              <a:rPr sz="5750" i="1">
                                <a:solidFill>
                                  <a:srgbClr val="000000"/>
                                </a:solidFill>
                                <a:latin typeface="Cambria Math" panose="02040503050406030204" pitchFamily="18" charset="0"/>
                              </a:rPr>
                            </m:ctrlPr>
                          </m:limLowPr>
                          <m:e>
                            <m:r>
                              <a:rPr sz="5750" i="1">
                                <a:solidFill>
                                  <a:srgbClr val="000000"/>
                                </a:solidFill>
                                <a:latin typeface="Cambria Math" panose="02040503050406030204" pitchFamily="18" charset="0"/>
                              </a:rPr>
                              <m:t>∑</m:t>
                            </m:r>
                          </m:e>
                          <m:lim>
                            <m:r>
                              <a:rPr sz="5750" i="1">
                                <a:solidFill>
                                  <a:srgbClr val="000000"/>
                                </a:solidFill>
                                <a:latin typeface="Cambria Math" panose="02040503050406030204" pitchFamily="18" charset="0"/>
                              </a:rPr>
                              <m:t>𝑖</m:t>
                            </m:r>
                            <m:r>
                              <a:rPr sz="5750" i="1">
                                <a:solidFill>
                                  <a:srgbClr val="000000"/>
                                </a:solidFill>
                                <a:latin typeface="Cambria Math" panose="02040503050406030204" pitchFamily="18" charset="0"/>
                              </a:rPr>
                              <m:t>=1</m:t>
                            </m:r>
                          </m:lim>
                        </m:limLow>
                      </m:e>
                      <m:lim>
                        <m:r>
                          <a:rPr sz="5750" i="1">
                            <a:solidFill>
                              <a:srgbClr val="000000"/>
                            </a:solidFill>
                            <a:latin typeface="Cambria Math" panose="02040503050406030204" pitchFamily="18" charset="0"/>
                          </a:rPr>
                          <m:t>𝑛</m:t>
                        </m:r>
                      </m:lim>
                    </m:limUpp>
                    <m:sSub>
                      <m:sSubPr>
                        <m:ctrlPr>
                          <a:rPr sz="5750" i="1">
                            <a:solidFill>
                              <a:srgbClr val="000000"/>
                            </a:solidFill>
                            <a:latin typeface="Cambria Math" panose="02040503050406030204" pitchFamily="18" charset="0"/>
                          </a:rPr>
                        </m:ctrlPr>
                      </m:sSubPr>
                      <m:e>
                        <m:r>
                          <a:rPr sz="5750" i="1">
                            <a:solidFill>
                              <a:srgbClr val="000000"/>
                            </a:solidFill>
                            <a:latin typeface="Cambria Math" panose="02040503050406030204" pitchFamily="18" charset="0"/>
                          </a:rPr>
                          <m:t>𝑥</m:t>
                        </m:r>
                      </m:e>
                      <m:sub>
                        <m:r>
                          <a:rPr sz="5750" i="1">
                            <a:solidFill>
                              <a:srgbClr val="000000"/>
                            </a:solidFill>
                            <a:latin typeface="Cambria Math" panose="02040503050406030204" pitchFamily="18" charset="0"/>
                          </a:rPr>
                          <m:t>𝑖</m:t>
                        </m:r>
                      </m:sub>
                    </m:sSub>
                  </m:oMath>
                </a14:m>
                <a:r>
                  <a:t>, </a:t>
                </a:r>
                <a14:m>
                  <m:oMath xmlns:m="http://schemas.openxmlformats.org/officeDocument/2006/math">
                    <m:sSup>
                      <m:sSupPr>
                        <m:ctrlPr>
                          <a:rPr sz="5750">
                            <a:solidFill>
                              <a:srgbClr val="000000"/>
                            </a:solidFill>
                            <a:latin typeface="Cambria Math" panose="02040503050406030204" pitchFamily="18" charset="0"/>
                          </a:rPr>
                        </m:ctrlPr>
                      </m:sSupPr>
                      <m:e>
                        <m:r>
                          <a:rPr sz="5750" i="1">
                            <a:solidFill>
                              <a:srgbClr val="000000"/>
                            </a:solidFill>
                            <a:latin typeface="Cambria Math" panose="02040503050406030204" pitchFamily="18" charset="0"/>
                          </a:rPr>
                          <m:t>𝜎</m:t>
                        </m:r>
                      </m:e>
                      <m:sup>
                        <m:r>
                          <a:rPr sz="5750" i="1">
                            <a:solidFill>
                              <a:srgbClr val="000000"/>
                            </a:solidFill>
                            <a:latin typeface="Cambria Math" panose="02040503050406030204" pitchFamily="18" charset="0"/>
                          </a:rPr>
                          <m:t>2</m:t>
                        </m:r>
                      </m:sup>
                    </m:sSup>
                    <m:r>
                      <a:rPr sz="5750" i="1">
                        <a:solidFill>
                          <a:srgbClr val="000000"/>
                        </a:solidFill>
                        <a:latin typeface="Cambria Math" panose="02040503050406030204" pitchFamily="18" charset="0"/>
                      </a:rPr>
                      <m:t>=</m:t>
                    </m:r>
                    <m:f>
                      <m:fPr>
                        <m:ctrlPr>
                          <a:rPr sz="5750" i="1">
                            <a:solidFill>
                              <a:srgbClr val="000000"/>
                            </a:solidFill>
                            <a:latin typeface="Cambria Math" panose="02040503050406030204" pitchFamily="18" charset="0"/>
                          </a:rPr>
                        </m:ctrlPr>
                      </m:fPr>
                      <m:num>
                        <m:r>
                          <a:rPr sz="5750" i="1">
                            <a:solidFill>
                              <a:srgbClr val="000000"/>
                            </a:solidFill>
                            <a:latin typeface="Cambria Math" panose="02040503050406030204" pitchFamily="18" charset="0"/>
                          </a:rPr>
                          <m:t>1</m:t>
                        </m:r>
                      </m:num>
                      <m:den>
                        <m:r>
                          <a:rPr sz="5750" i="1">
                            <a:solidFill>
                              <a:srgbClr val="000000"/>
                            </a:solidFill>
                            <a:latin typeface="Cambria Math" panose="02040503050406030204" pitchFamily="18" charset="0"/>
                          </a:rPr>
                          <m:t>𝑛</m:t>
                        </m:r>
                      </m:den>
                    </m:f>
                    <m:limUpp>
                      <m:limUppPr>
                        <m:ctrlPr>
                          <a:rPr sz="5750" i="1">
                            <a:solidFill>
                              <a:srgbClr val="000000"/>
                            </a:solidFill>
                            <a:latin typeface="Cambria Math" panose="02040503050406030204" pitchFamily="18" charset="0"/>
                          </a:rPr>
                        </m:ctrlPr>
                      </m:limUppPr>
                      <m:e>
                        <m:limLow>
                          <m:limLowPr>
                            <m:ctrlPr>
                              <a:rPr sz="5750" i="1">
                                <a:solidFill>
                                  <a:srgbClr val="000000"/>
                                </a:solidFill>
                                <a:latin typeface="Cambria Math" panose="02040503050406030204" pitchFamily="18" charset="0"/>
                              </a:rPr>
                            </m:ctrlPr>
                          </m:limLowPr>
                          <m:e>
                            <m:r>
                              <a:rPr sz="5750" i="1">
                                <a:solidFill>
                                  <a:srgbClr val="000000"/>
                                </a:solidFill>
                                <a:latin typeface="Cambria Math" panose="02040503050406030204" pitchFamily="18" charset="0"/>
                              </a:rPr>
                              <m:t>∑</m:t>
                            </m:r>
                          </m:e>
                          <m:lim>
                            <m:r>
                              <a:rPr sz="5750" i="1">
                                <a:solidFill>
                                  <a:srgbClr val="000000"/>
                                </a:solidFill>
                                <a:latin typeface="Cambria Math" panose="02040503050406030204" pitchFamily="18" charset="0"/>
                              </a:rPr>
                              <m:t>𝑖</m:t>
                            </m:r>
                            <m:r>
                              <a:rPr sz="5750" i="1">
                                <a:solidFill>
                                  <a:srgbClr val="000000"/>
                                </a:solidFill>
                                <a:latin typeface="Cambria Math" panose="02040503050406030204" pitchFamily="18" charset="0"/>
                              </a:rPr>
                              <m:t>=1</m:t>
                            </m:r>
                          </m:lim>
                        </m:limLow>
                      </m:e>
                      <m:lim>
                        <m:r>
                          <a:rPr sz="5750" i="1">
                            <a:solidFill>
                              <a:srgbClr val="000000"/>
                            </a:solidFill>
                            <a:latin typeface="Cambria Math" panose="02040503050406030204" pitchFamily="18" charset="0"/>
                          </a:rPr>
                          <m:t>𝑛</m:t>
                        </m:r>
                      </m:lim>
                    </m:limUpp>
                    <m:r>
                      <a:rPr sz="5750" i="1">
                        <a:solidFill>
                          <a:srgbClr val="000000"/>
                        </a:solidFill>
                        <a:latin typeface="Cambria Math" panose="02040503050406030204" pitchFamily="18" charset="0"/>
                      </a:rPr>
                      <m:t>(</m:t>
                    </m:r>
                    <m:sSup>
                      <m:sSupPr>
                        <m:ctrlPr>
                          <a:rPr sz="5750" i="1">
                            <a:solidFill>
                              <a:srgbClr val="000000"/>
                            </a:solidFill>
                            <a:latin typeface="Cambria Math" panose="02040503050406030204" pitchFamily="18" charset="0"/>
                          </a:rPr>
                        </m:ctrlPr>
                      </m:sSupPr>
                      <m:e>
                        <m:r>
                          <a:rPr sz="5750" i="1">
                            <a:solidFill>
                              <a:srgbClr val="000000"/>
                            </a:solidFill>
                            <a:latin typeface="Cambria Math" panose="02040503050406030204" pitchFamily="18" charset="0"/>
                          </a:rPr>
                          <m:t>𝑥</m:t>
                        </m:r>
                      </m:e>
                      <m:sup>
                        <m:r>
                          <a:rPr sz="5750" i="1">
                            <a:solidFill>
                              <a:srgbClr val="000000"/>
                            </a:solidFill>
                            <a:latin typeface="Cambria Math" panose="02040503050406030204" pitchFamily="18" charset="0"/>
                          </a:rPr>
                          <m:t>(</m:t>
                        </m:r>
                        <m:r>
                          <a:rPr sz="5750" i="1">
                            <a:solidFill>
                              <a:srgbClr val="000000"/>
                            </a:solidFill>
                            <a:latin typeface="Cambria Math" panose="02040503050406030204" pitchFamily="18" charset="0"/>
                          </a:rPr>
                          <m:t>𝑖</m:t>
                        </m:r>
                        <m:r>
                          <a:rPr sz="5750" i="1">
                            <a:solidFill>
                              <a:srgbClr val="000000"/>
                            </a:solidFill>
                            <a:latin typeface="Cambria Math" panose="02040503050406030204" pitchFamily="18" charset="0"/>
                          </a:rPr>
                          <m:t>)</m:t>
                        </m:r>
                      </m:sup>
                    </m:sSup>
                    <m:r>
                      <a:rPr sz="5750" i="1">
                        <a:solidFill>
                          <a:srgbClr val="000000"/>
                        </a:solidFill>
                        <a:latin typeface="Cambria Math" panose="02040503050406030204" pitchFamily="18" charset="0"/>
                      </a:rPr>
                      <m:t>−</m:t>
                    </m:r>
                    <m:r>
                      <a:rPr sz="5750" i="1">
                        <a:solidFill>
                          <a:srgbClr val="000000"/>
                        </a:solidFill>
                        <a:latin typeface="Cambria Math" panose="02040503050406030204" pitchFamily="18" charset="0"/>
                      </a:rPr>
                      <m:t>𝜇</m:t>
                    </m:r>
                    <m:sSup>
                      <m:sSupPr>
                        <m:ctrlPr>
                          <a:rPr sz="5750" i="1">
                            <a:solidFill>
                              <a:srgbClr val="000000"/>
                            </a:solidFill>
                            <a:latin typeface="Cambria Math" panose="02040503050406030204" pitchFamily="18" charset="0"/>
                          </a:rPr>
                        </m:ctrlPr>
                      </m:sSupPr>
                      <m:e>
                        <m:r>
                          <a:rPr sz="5750" i="1">
                            <a:solidFill>
                              <a:srgbClr val="000000"/>
                            </a:solidFill>
                            <a:latin typeface="Cambria Math" panose="02040503050406030204" pitchFamily="18" charset="0"/>
                          </a:rPr>
                          <m:t>)</m:t>
                        </m:r>
                      </m:e>
                      <m:sup>
                        <m:r>
                          <a:rPr sz="5750" i="1">
                            <a:solidFill>
                              <a:srgbClr val="000000"/>
                            </a:solidFill>
                            <a:latin typeface="Cambria Math" panose="02040503050406030204" pitchFamily="18" charset="0"/>
                          </a:rPr>
                          <m:t>2</m:t>
                        </m:r>
                      </m:sup>
                    </m:sSup>
                  </m:oMath>
                </a14:m>
                <a:r>
                  <a:t> </a:t>
                </a:r>
              </a:p>
              <a:p>
                <a:pPr marL="0" indent="0">
                  <a:buSzTx/>
                  <a:buNone/>
                </a:pPr>
                <a:r>
                  <a:t>Given a new case x</a:t>
                </a:r>
              </a:p>
              <a:p>
                <a:pPr lvl="4">
                  <a:spcBef>
                    <a:spcPts val="2200"/>
                  </a:spcBef>
                </a:pPr>
                <a:r>
                  <a:t>Standarice </a:t>
                </a:r>
                <a14:m>
                  <m:oMath xmlns:m="http://schemas.openxmlformats.org/officeDocument/2006/math">
                    <m:r>
                      <a:rPr sz="5750" i="1">
                        <a:solidFill>
                          <a:srgbClr val="000000"/>
                        </a:solidFill>
                        <a:latin typeface="Cambria Math" panose="02040503050406030204" pitchFamily="18" charset="0"/>
                      </a:rPr>
                      <m:t>𝑥</m:t>
                    </m:r>
                    <m:r>
                      <a:rPr sz="5750" i="1">
                        <a:solidFill>
                          <a:srgbClr val="000000"/>
                        </a:solidFill>
                        <a:latin typeface="Cambria Math" panose="02040503050406030204" pitchFamily="18" charset="0"/>
                      </a:rPr>
                      <m:t>←</m:t>
                    </m:r>
                    <m:f>
                      <m:fPr>
                        <m:ctrlPr>
                          <a:rPr sz="5750" i="1">
                            <a:solidFill>
                              <a:srgbClr val="000000"/>
                            </a:solidFill>
                            <a:latin typeface="Cambria Math" panose="02040503050406030204" pitchFamily="18" charset="0"/>
                          </a:rPr>
                        </m:ctrlPr>
                      </m:fPr>
                      <m:num>
                        <m:r>
                          <a:rPr sz="5750" i="1">
                            <a:solidFill>
                              <a:srgbClr val="000000"/>
                            </a:solidFill>
                            <a:latin typeface="Cambria Math" panose="02040503050406030204" pitchFamily="18" charset="0"/>
                          </a:rPr>
                          <m:t>𝑥</m:t>
                        </m:r>
                        <m:r>
                          <a:rPr sz="5750" i="1">
                            <a:solidFill>
                              <a:srgbClr val="000000"/>
                            </a:solidFill>
                            <a:latin typeface="Cambria Math" panose="02040503050406030204" pitchFamily="18" charset="0"/>
                          </a:rPr>
                          <m:t>−</m:t>
                        </m:r>
                        <m:r>
                          <a:rPr sz="5750" i="1">
                            <a:solidFill>
                              <a:srgbClr val="000000"/>
                            </a:solidFill>
                            <a:latin typeface="Cambria Math" panose="02040503050406030204" pitchFamily="18" charset="0"/>
                          </a:rPr>
                          <m:t>𝜇</m:t>
                        </m:r>
                      </m:num>
                      <m:den>
                        <m:r>
                          <a:rPr sz="5750" i="1">
                            <a:solidFill>
                              <a:srgbClr val="000000"/>
                            </a:solidFill>
                            <a:latin typeface="Cambria Math" panose="02040503050406030204" pitchFamily="18" charset="0"/>
                          </a:rPr>
                          <m:t>𝜎</m:t>
                        </m:r>
                      </m:den>
                    </m:f>
                  </m:oMath>
                </a14:m>
                <a:endParaRPr/>
              </a:p>
              <a:p>
                <a:pPr lvl="4">
                  <a:spcBef>
                    <a:spcPts val="2200"/>
                  </a:spcBef>
                </a:pPr>
                <a:r>
                  <a:t>If |x| &lt; 1.96 (see table), it is normal: otherwise it is anomalous.</a:t>
                </a:r>
              </a:p>
            </p:txBody>
          </p:sp>
        </mc:Choice>
        <mc:Fallback>
          <p:sp>
            <p:nvSpPr>
              <p:cNvPr id="209" name="Given  , compute  ,…"/>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l="-1449"/>
                </a:stretch>
              </a:blipFill>
            </p:spPr>
            <p:txBody>
              <a:bodyPr/>
              <a:lstStyle/>
              <a:p>
                <a:r>
                  <a:rPr lang="es-ES">
                    <a:noFill/>
                  </a:rPr>
                  <a:t> </a:t>
                </a:r>
              </a:p>
            </p:txBody>
          </p:sp>
        </mc:Fallback>
      </mc:AlternateContent>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Observations Gaussian rule"/>
          <p:cNvSpPr txBox="1">
            <a:spLocks noGrp="1"/>
          </p:cNvSpPr>
          <p:nvPr>
            <p:ph type="title"/>
          </p:nvPr>
        </p:nvSpPr>
        <p:spPr>
          <a:prstGeom prst="rect">
            <a:avLst/>
          </a:prstGeom>
        </p:spPr>
        <p:txBody>
          <a:bodyPr/>
          <a:lstStyle/>
          <a:p>
            <a:r>
              <a:t>Observations Gaussian rule</a:t>
            </a:r>
          </a:p>
        </p:txBody>
      </p:sp>
      <p:sp>
        <p:nvSpPr>
          <p:cNvPr id="212" name="Advantages: Simplicity and speed.…"/>
          <p:cNvSpPr txBox="1">
            <a:spLocks noGrp="1"/>
          </p:cNvSpPr>
          <p:nvPr>
            <p:ph type="body" idx="1"/>
          </p:nvPr>
        </p:nvSpPr>
        <p:spPr>
          <a:prstGeom prst="rect">
            <a:avLst/>
          </a:prstGeom>
        </p:spPr>
        <p:txBody>
          <a:bodyPr/>
          <a:lstStyle/>
          <a:p>
            <a:r>
              <a:t>Advantages: Simplicity and speed. </a:t>
            </a:r>
          </a:p>
          <a:p>
            <a:r>
              <a:t>Disadvantages: Assumption of normality, sensitivity to outliers in calculations.</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Inter-quartile range method (IQR):"/>
          <p:cNvSpPr txBox="1">
            <a:spLocks noGrp="1"/>
          </p:cNvSpPr>
          <p:nvPr>
            <p:ph type="title"/>
          </p:nvPr>
        </p:nvSpPr>
        <p:spPr>
          <a:xfrm>
            <a:off x="1542754" y="17721"/>
            <a:ext cx="21298491" cy="2286000"/>
          </a:xfrm>
          <a:prstGeom prst="rect">
            <a:avLst/>
          </a:prstGeom>
        </p:spPr>
        <p:txBody>
          <a:bodyPr/>
          <a:lstStyle>
            <a:lvl1pPr defTabSz="784225">
              <a:defRPr sz="10640"/>
            </a:lvl1pPr>
          </a:lstStyle>
          <a:p>
            <a:r>
              <a:rPr dirty="0"/>
              <a:t>Inter-quartile range method (IQR)</a:t>
            </a:r>
          </a:p>
        </p:txBody>
      </p:sp>
      <p:sp>
        <p:nvSpPr>
          <p:cNvPr id="215" name="Calculation of the first quartile (Q1), the third quartile (Q3) and the IQR = (Q3 - Q1).…"/>
          <p:cNvSpPr txBox="1">
            <a:spLocks noGrp="1"/>
          </p:cNvSpPr>
          <p:nvPr>
            <p:ph type="body" sz="half" idx="1"/>
          </p:nvPr>
        </p:nvSpPr>
        <p:spPr>
          <a:xfrm>
            <a:off x="807790" y="2590800"/>
            <a:ext cx="13277587" cy="9752876"/>
          </a:xfrm>
          <a:prstGeom prst="rect">
            <a:avLst/>
          </a:prstGeom>
        </p:spPr>
        <p:txBody>
          <a:bodyPr/>
          <a:lstStyle/>
          <a:p>
            <a:pPr marL="260604" indent="-180975" defTabSz="260604">
              <a:spcBef>
                <a:spcPts val="0"/>
              </a:spcBef>
              <a:buFont typeface="Arial"/>
              <a:defRPr sz="2774" b="1">
                <a:latin typeface="Verdana"/>
                <a:ea typeface="Verdana"/>
                <a:cs typeface="Verdana"/>
                <a:sym typeface="Verdana"/>
              </a:defRPr>
            </a:pPr>
            <a:endParaRPr b="0"/>
          </a:p>
          <a:p>
            <a:pPr marL="366977" indent="-366977" defTabSz="260604">
              <a:lnSpc>
                <a:spcPct val="150000"/>
              </a:lnSpc>
              <a:spcBef>
                <a:spcPts val="0"/>
              </a:spcBef>
              <a:buSzPct val="50000"/>
              <a:buBlip>
                <a:blip r:embed="rId2"/>
              </a:buBlip>
              <a:defRPr sz="3458">
                <a:latin typeface="Verdana"/>
                <a:ea typeface="Verdana"/>
                <a:cs typeface="Verdana"/>
                <a:sym typeface="Verdana"/>
              </a:defRPr>
            </a:pPr>
            <a:r>
              <a:t>Calculation of the first quartile (Q1), the third quartile (Q3) and the IQR = (Q3 - Q1). </a:t>
            </a:r>
          </a:p>
          <a:p>
            <a:pPr marL="0" indent="0" defTabSz="260604">
              <a:lnSpc>
                <a:spcPct val="150000"/>
              </a:lnSpc>
              <a:spcBef>
                <a:spcPts val="0"/>
              </a:spcBef>
              <a:buSzTx/>
              <a:buNone/>
              <a:defRPr sz="3458">
                <a:latin typeface="Verdana"/>
                <a:ea typeface="Verdana"/>
                <a:cs typeface="Verdana"/>
                <a:sym typeface="Verdana"/>
              </a:defRPr>
            </a:pPr>
            <a:endParaRPr/>
          </a:p>
          <a:p>
            <a:pPr marL="366977" indent="-366977" defTabSz="260604">
              <a:lnSpc>
                <a:spcPct val="150000"/>
              </a:lnSpc>
              <a:spcBef>
                <a:spcPts val="0"/>
              </a:spcBef>
              <a:buSzPct val="50000"/>
              <a:buBlip>
                <a:blip r:embed="rId2"/>
              </a:buBlip>
              <a:defRPr sz="3458">
                <a:latin typeface="Verdana"/>
                <a:ea typeface="Verdana"/>
                <a:cs typeface="Verdana"/>
                <a:sym typeface="Verdana"/>
              </a:defRPr>
            </a:pPr>
            <a:r>
              <a:t>Definition of limits. Outliers are points outside the interval </a:t>
            </a:r>
          </a:p>
          <a:p>
            <a:pPr marL="0" indent="0" algn="ctr" defTabSz="260604">
              <a:lnSpc>
                <a:spcPct val="150000"/>
              </a:lnSpc>
              <a:spcBef>
                <a:spcPts val="0"/>
              </a:spcBef>
              <a:buSzTx/>
              <a:buNone/>
              <a:defRPr sz="3458">
                <a:latin typeface="Verdana"/>
                <a:ea typeface="Verdana"/>
                <a:cs typeface="Verdana"/>
                <a:sym typeface="Verdana"/>
              </a:defRPr>
            </a:pPr>
            <a:r>
              <a:t>[Q1 - 1.5 *IQR, Q3 + 1.5 *IQR]. </a:t>
            </a:r>
          </a:p>
          <a:p>
            <a:pPr marL="0" indent="0" algn="ctr" defTabSz="260604">
              <a:lnSpc>
                <a:spcPct val="150000"/>
              </a:lnSpc>
              <a:spcBef>
                <a:spcPts val="0"/>
              </a:spcBef>
              <a:buSzTx/>
              <a:buNone/>
              <a:defRPr sz="3458">
                <a:latin typeface="Verdana"/>
                <a:ea typeface="Verdana"/>
                <a:cs typeface="Verdana"/>
                <a:sym typeface="Verdana"/>
              </a:defRPr>
            </a:pPr>
            <a:endParaRPr/>
          </a:p>
          <a:p>
            <a:pPr marL="366977" indent="-366977" defTabSz="260604">
              <a:lnSpc>
                <a:spcPct val="150000"/>
              </a:lnSpc>
              <a:spcBef>
                <a:spcPts val="0"/>
              </a:spcBef>
              <a:buSzPct val="50000"/>
              <a:buBlip>
                <a:blip r:embed="rId2"/>
              </a:buBlip>
              <a:defRPr sz="3458">
                <a:latin typeface="Verdana"/>
                <a:ea typeface="Verdana"/>
                <a:cs typeface="Verdana"/>
                <a:sym typeface="Verdana"/>
              </a:defRPr>
            </a:pPr>
            <a:r>
              <a:t>Advantage: Does not assume a normal distribution, more robust to outliers than mean and standard deviation. </a:t>
            </a:r>
          </a:p>
          <a:p>
            <a:pPr marL="0" indent="0" defTabSz="260604">
              <a:lnSpc>
                <a:spcPct val="150000"/>
              </a:lnSpc>
              <a:spcBef>
                <a:spcPts val="0"/>
              </a:spcBef>
              <a:buSzTx/>
              <a:buNone/>
              <a:defRPr sz="3458">
                <a:latin typeface="Verdana"/>
                <a:ea typeface="Verdana"/>
                <a:cs typeface="Verdana"/>
                <a:sym typeface="Verdana"/>
              </a:defRPr>
            </a:pPr>
            <a:endParaRPr/>
          </a:p>
          <a:p>
            <a:pPr marL="366977" indent="-366977" defTabSz="260604">
              <a:lnSpc>
                <a:spcPct val="150000"/>
              </a:lnSpc>
              <a:spcBef>
                <a:spcPts val="0"/>
              </a:spcBef>
              <a:buSzPct val="50000"/>
              <a:buBlip>
                <a:blip r:embed="rId2"/>
              </a:buBlip>
              <a:defRPr sz="3458">
                <a:latin typeface="Verdana"/>
                <a:ea typeface="Verdana"/>
                <a:cs typeface="Verdana"/>
                <a:sym typeface="Verdana"/>
              </a:defRPr>
            </a:pPr>
            <a:r>
              <a:t>Disadvantage: 1.5 *IQR?</a:t>
            </a:r>
          </a:p>
        </p:txBody>
      </p:sp>
      <p:pic>
        <p:nvPicPr>
          <p:cNvPr id="216" name="IMG_0171.png" descr="IMG_0171.png"/>
          <p:cNvPicPr>
            <a:picLocks noChangeAspect="1"/>
          </p:cNvPicPr>
          <p:nvPr/>
        </p:nvPicPr>
        <p:blipFill>
          <a:blip r:embed="rId3"/>
          <a:srcRect l="5337" t="9551" r="33010"/>
          <a:stretch>
            <a:fillRect/>
          </a:stretch>
        </p:blipFill>
        <p:spPr>
          <a:xfrm>
            <a:off x="14563999" y="3508744"/>
            <a:ext cx="8683286" cy="8626698"/>
          </a:xfrm>
          <a:prstGeom prst="rect">
            <a:avLst/>
          </a:prstGeom>
          <a:ln w="12700">
            <a:miter lim="400000"/>
          </a:ln>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Gaussian m-dimension"/>
          <p:cNvSpPr txBox="1">
            <a:spLocks noGrp="1"/>
          </p:cNvSpPr>
          <p:nvPr>
            <p:ph type="title"/>
          </p:nvPr>
        </p:nvSpPr>
        <p:spPr>
          <a:prstGeom prst="rect">
            <a:avLst/>
          </a:prstGeom>
        </p:spPr>
        <p:txBody>
          <a:bodyPr/>
          <a:lstStyle/>
          <a:p>
            <a:r>
              <a:t>Gaussian m-dimension</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Density estimation"/>
          <p:cNvSpPr txBox="1">
            <a:spLocks noGrp="1"/>
          </p:cNvSpPr>
          <p:nvPr>
            <p:ph type="title"/>
          </p:nvPr>
        </p:nvSpPr>
        <p:spPr>
          <a:prstGeom prst="rect">
            <a:avLst/>
          </a:prstGeom>
        </p:spPr>
        <p:txBody>
          <a:bodyPr/>
          <a:lstStyle/>
          <a:p>
            <a:r>
              <a:t>Density estimation</a:t>
            </a:r>
          </a:p>
        </p:txBody>
      </p:sp>
      <mc:AlternateContent xmlns:mc="http://schemas.openxmlformats.org/markup-compatibility/2006">
        <mc:Choice xmlns:a14="http://schemas.microsoft.com/office/drawing/2010/main" Requires="a14">
          <p:sp>
            <p:nvSpPr>
              <p:cNvPr id="221" name="Given  , each"/>
              <p:cNvSpPr txBox="1">
                <a:spLocks noGrp="1"/>
              </p:cNvSpPr>
              <p:nvPr>
                <p:ph type="body" idx="1"/>
              </p:nvPr>
            </p:nvSpPr>
            <p:spPr>
              <a:xfrm>
                <a:off x="1689100" y="3098800"/>
                <a:ext cx="21005800" cy="9296400"/>
              </a:xfrm>
              <a:prstGeom prst="rect">
                <a:avLst/>
              </a:prstGeom>
            </p:spPr>
            <p:txBody>
              <a:bodyPr/>
              <a:lstStyle/>
              <a:p>
                <a:pPr marL="0" indent="0">
                  <a:buSzTx/>
                  <a:buNone/>
                </a:pPr>
                <a:r>
                  <a:t>Given </a:t>
                </a:r>
                <a14:m>
                  <m:oMath xmlns:m="http://schemas.openxmlformats.org/officeDocument/2006/math">
                    <m:r>
                      <a:rPr sz="5750" i="1">
                        <a:solidFill>
                          <a:srgbClr val="000000"/>
                        </a:solidFill>
                        <a:latin typeface="Cambria Math" panose="02040503050406030204" pitchFamily="18" charset="0"/>
                      </a:rPr>
                      <m:t>{</m:t>
                    </m:r>
                    <m:sSup>
                      <m:sSupPr>
                        <m:ctrlPr>
                          <a:rPr sz="5750" i="1">
                            <a:solidFill>
                              <a:srgbClr val="000000"/>
                            </a:solidFill>
                            <a:latin typeface="Cambria Math" panose="02040503050406030204" pitchFamily="18" charset="0"/>
                          </a:rPr>
                        </m:ctrlPr>
                      </m:sSupPr>
                      <m:e>
                        <m:r>
                          <a:rPr sz="5750" i="1">
                            <a:solidFill>
                              <a:srgbClr val="000000"/>
                            </a:solidFill>
                            <a:latin typeface="Cambria Math" panose="02040503050406030204" pitchFamily="18" charset="0"/>
                          </a:rPr>
                          <m:t>𝑥</m:t>
                        </m:r>
                      </m:e>
                      <m:sup>
                        <m:r>
                          <a:rPr sz="5750" i="1">
                            <a:solidFill>
                              <a:srgbClr val="000000"/>
                            </a:solidFill>
                            <a:latin typeface="Cambria Math" panose="02040503050406030204" pitchFamily="18" charset="0"/>
                          </a:rPr>
                          <m:t>(1)</m:t>
                        </m:r>
                      </m:sup>
                    </m:sSup>
                    <m:r>
                      <a:rPr sz="5750" i="1">
                        <a:solidFill>
                          <a:srgbClr val="000000"/>
                        </a:solidFill>
                        <a:latin typeface="Cambria Math" panose="02040503050406030204" pitchFamily="18" charset="0"/>
                      </a:rPr>
                      <m:t>,</m:t>
                    </m:r>
                    <m:sSup>
                      <m:sSupPr>
                        <m:ctrlPr>
                          <a:rPr sz="5750" i="1">
                            <a:solidFill>
                              <a:srgbClr val="000000"/>
                            </a:solidFill>
                            <a:latin typeface="Cambria Math" panose="02040503050406030204" pitchFamily="18" charset="0"/>
                          </a:rPr>
                        </m:ctrlPr>
                      </m:sSupPr>
                      <m:e>
                        <m:r>
                          <a:rPr sz="5750" i="1">
                            <a:solidFill>
                              <a:srgbClr val="000000"/>
                            </a:solidFill>
                            <a:latin typeface="Cambria Math" panose="02040503050406030204" pitchFamily="18" charset="0"/>
                          </a:rPr>
                          <m:t>𝑥</m:t>
                        </m:r>
                      </m:e>
                      <m:sup>
                        <m:r>
                          <a:rPr sz="5750" i="1">
                            <a:solidFill>
                              <a:srgbClr val="000000"/>
                            </a:solidFill>
                            <a:latin typeface="Cambria Math" panose="02040503050406030204" pitchFamily="18" charset="0"/>
                          </a:rPr>
                          <m:t>(2)</m:t>
                        </m:r>
                      </m:sup>
                    </m:sSup>
                    <m:r>
                      <a:rPr sz="5750" i="1">
                        <a:solidFill>
                          <a:srgbClr val="000000"/>
                        </a:solidFill>
                        <a:latin typeface="Cambria Math" panose="02040503050406030204" pitchFamily="18" charset="0"/>
                      </a:rPr>
                      <m:t>,...,</m:t>
                    </m:r>
                    <m:sSup>
                      <m:sSupPr>
                        <m:ctrlPr>
                          <a:rPr sz="5750" i="1">
                            <a:solidFill>
                              <a:srgbClr val="000000"/>
                            </a:solidFill>
                            <a:latin typeface="Cambria Math" panose="02040503050406030204" pitchFamily="18" charset="0"/>
                          </a:rPr>
                        </m:ctrlPr>
                      </m:sSupPr>
                      <m:e>
                        <m:r>
                          <a:rPr sz="5750" i="1">
                            <a:solidFill>
                              <a:srgbClr val="000000"/>
                            </a:solidFill>
                            <a:latin typeface="Cambria Math" panose="02040503050406030204" pitchFamily="18" charset="0"/>
                          </a:rPr>
                          <m:t>𝑥</m:t>
                        </m:r>
                      </m:e>
                      <m:sup>
                        <m:r>
                          <a:rPr sz="5750" i="1">
                            <a:solidFill>
                              <a:srgbClr val="000000"/>
                            </a:solidFill>
                            <a:latin typeface="Cambria Math" panose="02040503050406030204" pitchFamily="18" charset="0"/>
                          </a:rPr>
                          <m:t>(</m:t>
                        </m:r>
                        <m:r>
                          <a:rPr sz="5750" i="1">
                            <a:solidFill>
                              <a:srgbClr val="000000"/>
                            </a:solidFill>
                            <a:latin typeface="Cambria Math" panose="02040503050406030204" pitchFamily="18" charset="0"/>
                          </a:rPr>
                          <m:t>𝑛</m:t>
                        </m:r>
                        <m:r>
                          <a:rPr sz="5750" i="1">
                            <a:solidFill>
                              <a:srgbClr val="000000"/>
                            </a:solidFill>
                            <a:latin typeface="Cambria Math" panose="02040503050406030204" pitchFamily="18" charset="0"/>
                          </a:rPr>
                          <m:t>)</m:t>
                        </m:r>
                      </m:sup>
                    </m:sSup>
                    <m:r>
                      <a:rPr sz="5750" i="1">
                        <a:solidFill>
                          <a:srgbClr val="000000"/>
                        </a:solidFill>
                        <a:latin typeface="Cambria Math" panose="02040503050406030204" pitchFamily="18" charset="0"/>
                      </a:rPr>
                      <m:t>}</m:t>
                    </m:r>
                  </m:oMath>
                </a14:m>
                <a:r>
                  <a:t>, each </a:t>
                </a:r>
                <a14:m>
                  <m:oMath xmlns:m="http://schemas.openxmlformats.org/officeDocument/2006/math">
                    <m:r>
                      <a:rPr sz="5750" i="1">
                        <a:solidFill>
                          <a:srgbClr val="000000"/>
                        </a:solidFill>
                        <a:latin typeface="Cambria Math" panose="02040503050406030204" pitchFamily="18" charset="0"/>
                      </a:rPr>
                      <m:t>𝑥</m:t>
                    </m:r>
                    <m:r>
                      <a:rPr sz="5750" i="1">
                        <a:solidFill>
                          <a:srgbClr val="000000"/>
                        </a:solidFill>
                        <a:latin typeface="Cambria Math" panose="02040503050406030204" pitchFamily="18" charset="0"/>
                      </a:rPr>
                      <m:t>∈</m:t>
                    </m:r>
                    <m:sSup>
                      <m:sSupPr>
                        <m:ctrlPr>
                          <a:rPr sz="5750" i="1">
                            <a:solidFill>
                              <a:srgbClr val="000000"/>
                            </a:solidFill>
                            <a:latin typeface="Cambria Math" panose="02040503050406030204" pitchFamily="18" charset="0"/>
                          </a:rPr>
                        </m:ctrlPr>
                      </m:sSupPr>
                      <m:e>
                        <m:r>
                          <a:rPr sz="5750" i="1">
                            <a:solidFill>
                              <a:srgbClr val="000000"/>
                            </a:solidFill>
                            <a:latin typeface="Cambria Math" panose="02040503050406030204" pitchFamily="18" charset="0"/>
                          </a:rPr>
                          <m:t>ℝ</m:t>
                        </m:r>
                      </m:e>
                      <m:sup>
                        <m:r>
                          <a:rPr sz="5750" i="1">
                            <a:solidFill>
                              <a:srgbClr val="000000"/>
                            </a:solidFill>
                            <a:latin typeface="Cambria Math" panose="02040503050406030204" pitchFamily="18" charset="0"/>
                          </a:rPr>
                          <m:t>𝑚</m:t>
                        </m:r>
                      </m:sup>
                    </m:sSup>
                  </m:oMath>
                </a14:m>
                <a:endParaRPr/>
              </a:p>
              <a:p>
                <a:pPr marL="0" indent="0">
                  <a:buSzTx/>
                  <a:buNone/>
                </a:pPr>
                <a14:m>
                  <m:oMathPara xmlns:m="http://schemas.openxmlformats.org/officeDocument/2006/math">
                    <m:oMathParaPr>
                      <m:jc m:val="left"/>
                    </m:oMathParaPr>
                    <m:oMath xmlns:m="http://schemas.openxmlformats.org/officeDocument/2006/math">
                      <m:sSub>
                        <m:sSubPr>
                          <m:ctrlPr>
                            <a:rPr sz="5750">
                              <a:solidFill>
                                <a:srgbClr val="000000"/>
                              </a:solidFill>
                              <a:latin typeface="Cambria Math" panose="02040503050406030204" pitchFamily="18" charset="0"/>
                            </a:rPr>
                          </m:ctrlPr>
                        </m:sSubPr>
                        <m:e>
                          <m:r>
                            <a:rPr sz="5750" i="1">
                              <a:solidFill>
                                <a:srgbClr val="000000"/>
                              </a:solidFill>
                              <a:latin typeface="Cambria Math" panose="02040503050406030204" pitchFamily="18" charset="0"/>
                            </a:rPr>
                            <m:t>𝑥</m:t>
                          </m:r>
                        </m:e>
                        <m:sub>
                          <m:r>
                            <a:rPr sz="5750" i="1">
                              <a:solidFill>
                                <a:srgbClr val="000000"/>
                              </a:solidFill>
                              <a:latin typeface="Cambria Math" panose="02040503050406030204" pitchFamily="18" charset="0"/>
                            </a:rPr>
                            <m:t>𝑖</m:t>
                          </m:r>
                        </m:sub>
                      </m:sSub>
                      <m:r>
                        <a:rPr sz="5750" i="1">
                          <a:solidFill>
                            <a:srgbClr val="000000"/>
                          </a:solidFill>
                          <a:latin typeface="Cambria Math" panose="02040503050406030204" pitchFamily="18" charset="0"/>
                        </a:rPr>
                        <m:t>∼</m:t>
                      </m:r>
                      <m:r>
                        <a:rPr sz="5750" i="1">
                          <a:solidFill>
                            <a:srgbClr val="000000"/>
                          </a:solidFill>
                          <a:latin typeface="Cambria Math" panose="02040503050406030204" pitchFamily="18" charset="0"/>
                        </a:rPr>
                        <m:t>𝒩</m:t>
                      </m:r>
                      <m:r>
                        <a:rPr sz="5750" i="1">
                          <a:solidFill>
                            <a:srgbClr val="000000"/>
                          </a:solidFill>
                          <a:latin typeface="Cambria Math" panose="02040503050406030204" pitchFamily="18" charset="0"/>
                        </a:rPr>
                        <m:t>(</m:t>
                      </m:r>
                      <m:sSub>
                        <m:sSubPr>
                          <m:ctrlPr>
                            <a:rPr sz="5750" i="1">
                              <a:solidFill>
                                <a:srgbClr val="000000"/>
                              </a:solidFill>
                              <a:latin typeface="Cambria Math" panose="02040503050406030204" pitchFamily="18" charset="0"/>
                            </a:rPr>
                          </m:ctrlPr>
                        </m:sSubPr>
                        <m:e>
                          <m:r>
                            <a:rPr sz="5750" i="1">
                              <a:solidFill>
                                <a:srgbClr val="000000"/>
                              </a:solidFill>
                              <a:latin typeface="Cambria Math" panose="02040503050406030204" pitchFamily="18" charset="0"/>
                            </a:rPr>
                            <m:t>𝜇</m:t>
                          </m:r>
                        </m:e>
                        <m:sub>
                          <m:r>
                            <a:rPr sz="5750" i="1">
                              <a:solidFill>
                                <a:srgbClr val="000000"/>
                              </a:solidFill>
                              <a:latin typeface="Cambria Math" panose="02040503050406030204" pitchFamily="18" charset="0"/>
                            </a:rPr>
                            <m:t>𝑖</m:t>
                          </m:r>
                        </m:sub>
                      </m:sSub>
                      <m:r>
                        <a:rPr sz="5750" i="1">
                          <a:solidFill>
                            <a:srgbClr val="000000"/>
                          </a:solidFill>
                          <a:latin typeface="Cambria Math" panose="02040503050406030204" pitchFamily="18" charset="0"/>
                        </a:rPr>
                        <m:t>,</m:t>
                      </m:r>
                      <m:sSub>
                        <m:sSubPr>
                          <m:ctrlPr>
                            <a:rPr sz="5750" i="1">
                              <a:solidFill>
                                <a:srgbClr val="000000"/>
                              </a:solidFill>
                              <a:latin typeface="Cambria Math" panose="02040503050406030204" pitchFamily="18" charset="0"/>
                            </a:rPr>
                          </m:ctrlPr>
                        </m:sSubPr>
                        <m:e>
                          <m:r>
                            <a:rPr sz="5750" i="1">
                              <a:solidFill>
                                <a:srgbClr val="000000"/>
                              </a:solidFill>
                              <a:latin typeface="Cambria Math" panose="02040503050406030204" pitchFamily="18" charset="0"/>
                            </a:rPr>
                            <m:t>𝜎</m:t>
                          </m:r>
                        </m:e>
                        <m:sub>
                          <m:r>
                            <a:rPr sz="5750" i="1">
                              <a:solidFill>
                                <a:srgbClr val="000000"/>
                              </a:solidFill>
                              <a:latin typeface="Cambria Math" panose="02040503050406030204" pitchFamily="18" charset="0"/>
                            </a:rPr>
                            <m:t>𝑖</m:t>
                          </m:r>
                        </m:sub>
                      </m:sSub>
                      <m:r>
                        <a:rPr sz="5750" i="1">
                          <a:solidFill>
                            <a:srgbClr val="000000"/>
                          </a:solidFill>
                          <a:latin typeface="Cambria Math" panose="02040503050406030204" pitchFamily="18" charset="0"/>
                        </a:rPr>
                        <m:t>),</m:t>
                      </m:r>
                      <m:r>
                        <a:rPr sz="5750" i="1">
                          <a:solidFill>
                            <a:srgbClr val="000000"/>
                          </a:solidFill>
                          <a:latin typeface="Cambria Math" panose="02040503050406030204" pitchFamily="18" charset="0"/>
                        </a:rPr>
                        <m:t>𝑖</m:t>
                      </m:r>
                      <m:r>
                        <a:rPr sz="5750" i="1">
                          <a:solidFill>
                            <a:srgbClr val="000000"/>
                          </a:solidFill>
                          <a:latin typeface="Cambria Math" panose="02040503050406030204" pitchFamily="18" charset="0"/>
                        </a:rPr>
                        <m:t>=1,...,</m:t>
                      </m:r>
                      <m:r>
                        <a:rPr sz="5750" i="1">
                          <a:solidFill>
                            <a:srgbClr val="000000"/>
                          </a:solidFill>
                          <a:latin typeface="Cambria Math" panose="02040503050406030204" pitchFamily="18" charset="0"/>
                        </a:rPr>
                        <m:t>𝑚</m:t>
                      </m:r>
                    </m:oMath>
                  </m:oMathPara>
                </a14:m>
                <a:endParaRPr/>
              </a:p>
              <a:p>
                <a:pPr marL="0" indent="0" algn="ctr">
                  <a:buSzTx/>
                  <a:buNone/>
                </a:pPr>
                <a14:m>
                  <m:oMathPara xmlns:m="http://schemas.openxmlformats.org/officeDocument/2006/math">
                    <m:oMathParaPr>
                      <m:jc m:val="center"/>
                    </m:oMathParaPr>
                    <m:oMath xmlns:m="http://schemas.openxmlformats.org/officeDocument/2006/math">
                      <m:r>
                        <a:rPr sz="5750" i="1">
                          <a:solidFill>
                            <a:srgbClr val="000000"/>
                          </a:solidFill>
                          <a:latin typeface="Cambria Math" panose="02040503050406030204" pitchFamily="18" charset="0"/>
                        </a:rPr>
                        <m:t>𝑝</m:t>
                      </m:r>
                      <m:r>
                        <a:rPr sz="5750" i="1">
                          <a:solidFill>
                            <a:srgbClr val="000000"/>
                          </a:solidFill>
                          <a:latin typeface="Cambria Math" panose="02040503050406030204" pitchFamily="18" charset="0"/>
                        </a:rPr>
                        <m:t>(</m:t>
                      </m:r>
                      <m:r>
                        <a:rPr sz="5750" i="1">
                          <a:solidFill>
                            <a:srgbClr val="000000"/>
                          </a:solidFill>
                          <a:latin typeface="Cambria Math" panose="02040503050406030204" pitchFamily="18" charset="0"/>
                        </a:rPr>
                        <m:t>𝑥</m:t>
                      </m:r>
                      <m:r>
                        <a:rPr sz="5750" i="1">
                          <a:solidFill>
                            <a:srgbClr val="000000"/>
                          </a:solidFill>
                          <a:latin typeface="Cambria Math" panose="02040503050406030204" pitchFamily="18" charset="0"/>
                        </a:rPr>
                        <m:t>)=</m:t>
                      </m:r>
                      <m:r>
                        <a:rPr sz="5750" i="1">
                          <a:solidFill>
                            <a:srgbClr val="000000"/>
                          </a:solidFill>
                          <a:latin typeface="Cambria Math" panose="02040503050406030204" pitchFamily="18" charset="0"/>
                        </a:rPr>
                        <m:t>𝑝</m:t>
                      </m:r>
                      <m:r>
                        <a:rPr sz="5750" i="1">
                          <a:solidFill>
                            <a:srgbClr val="000000"/>
                          </a:solidFill>
                          <a:latin typeface="Cambria Math" panose="02040503050406030204" pitchFamily="18" charset="0"/>
                        </a:rPr>
                        <m:t>(</m:t>
                      </m:r>
                      <m:sSub>
                        <m:sSubPr>
                          <m:ctrlPr>
                            <a:rPr sz="5750" i="1">
                              <a:solidFill>
                                <a:srgbClr val="000000"/>
                              </a:solidFill>
                              <a:latin typeface="Cambria Math" panose="02040503050406030204" pitchFamily="18" charset="0"/>
                            </a:rPr>
                          </m:ctrlPr>
                        </m:sSubPr>
                        <m:e>
                          <m:r>
                            <a:rPr sz="5750" i="1">
                              <a:solidFill>
                                <a:srgbClr val="000000"/>
                              </a:solidFill>
                              <a:latin typeface="Cambria Math" panose="02040503050406030204" pitchFamily="18" charset="0"/>
                            </a:rPr>
                            <m:t>𝑥</m:t>
                          </m:r>
                        </m:e>
                        <m:sub>
                          <m:r>
                            <a:rPr sz="5750" i="1">
                              <a:solidFill>
                                <a:srgbClr val="000000"/>
                              </a:solidFill>
                              <a:latin typeface="Cambria Math" panose="02040503050406030204" pitchFamily="18" charset="0"/>
                            </a:rPr>
                            <m:t>1</m:t>
                          </m:r>
                        </m:sub>
                      </m:sSub>
                      <m:r>
                        <a:rPr sz="5750" i="1">
                          <a:solidFill>
                            <a:srgbClr val="000000"/>
                          </a:solidFill>
                          <a:latin typeface="Cambria Math" panose="02040503050406030204" pitchFamily="18" charset="0"/>
                        </a:rPr>
                        <m:t>;</m:t>
                      </m:r>
                      <m:sSub>
                        <m:sSubPr>
                          <m:ctrlPr>
                            <a:rPr sz="5750" i="1">
                              <a:solidFill>
                                <a:srgbClr val="000000"/>
                              </a:solidFill>
                              <a:latin typeface="Cambria Math" panose="02040503050406030204" pitchFamily="18" charset="0"/>
                            </a:rPr>
                          </m:ctrlPr>
                        </m:sSubPr>
                        <m:e>
                          <m:r>
                            <a:rPr sz="5750" i="1">
                              <a:solidFill>
                                <a:srgbClr val="000000"/>
                              </a:solidFill>
                              <a:latin typeface="Cambria Math" panose="02040503050406030204" pitchFamily="18" charset="0"/>
                            </a:rPr>
                            <m:t>𝜇</m:t>
                          </m:r>
                        </m:e>
                        <m:sub>
                          <m:r>
                            <a:rPr sz="5750" i="1">
                              <a:solidFill>
                                <a:srgbClr val="000000"/>
                              </a:solidFill>
                              <a:latin typeface="Cambria Math" panose="02040503050406030204" pitchFamily="18" charset="0"/>
                            </a:rPr>
                            <m:t>1</m:t>
                          </m:r>
                        </m:sub>
                      </m:sSub>
                      <m:r>
                        <a:rPr sz="5750" i="1">
                          <a:solidFill>
                            <a:srgbClr val="000000"/>
                          </a:solidFill>
                          <a:latin typeface="Cambria Math" panose="02040503050406030204" pitchFamily="18" charset="0"/>
                        </a:rPr>
                        <m:t>,</m:t>
                      </m:r>
                      <m:sSub>
                        <m:sSubPr>
                          <m:ctrlPr>
                            <a:rPr sz="5750" i="1">
                              <a:solidFill>
                                <a:srgbClr val="000000"/>
                              </a:solidFill>
                              <a:latin typeface="Cambria Math" panose="02040503050406030204" pitchFamily="18" charset="0"/>
                            </a:rPr>
                          </m:ctrlPr>
                        </m:sSubPr>
                        <m:e>
                          <m:r>
                            <a:rPr sz="5750" i="1">
                              <a:solidFill>
                                <a:srgbClr val="000000"/>
                              </a:solidFill>
                              <a:latin typeface="Cambria Math" panose="02040503050406030204" pitchFamily="18" charset="0"/>
                            </a:rPr>
                            <m:t>𝜎</m:t>
                          </m:r>
                        </m:e>
                        <m:sub>
                          <m:r>
                            <a:rPr sz="5750" i="1">
                              <a:solidFill>
                                <a:srgbClr val="000000"/>
                              </a:solidFill>
                              <a:latin typeface="Cambria Math" panose="02040503050406030204" pitchFamily="18" charset="0"/>
                            </a:rPr>
                            <m:t>1</m:t>
                          </m:r>
                        </m:sub>
                      </m:sSub>
                      <m:r>
                        <a:rPr sz="5750" i="1">
                          <a:solidFill>
                            <a:srgbClr val="000000"/>
                          </a:solidFill>
                          <a:latin typeface="Cambria Math" panose="02040503050406030204" pitchFamily="18" charset="0"/>
                        </a:rPr>
                        <m:t>)∗...∗</m:t>
                      </m:r>
                      <m:r>
                        <a:rPr sz="5750" i="1">
                          <a:solidFill>
                            <a:srgbClr val="000000"/>
                          </a:solidFill>
                          <a:latin typeface="Cambria Math" panose="02040503050406030204" pitchFamily="18" charset="0"/>
                        </a:rPr>
                        <m:t>𝑝</m:t>
                      </m:r>
                      <m:r>
                        <a:rPr sz="5750" i="1">
                          <a:solidFill>
                            <a:srgbClr val="000000"/>
                          </a:solidFill>
                          <a:latin typeface="Cambria Math" panose="02040503050406030204" pitchFamily="18" charset="0"/>
                        </a:rPr>
                        <m:t>(</m:t>
                      </m:r>
                      <m:sSub>
                        <m:sSubPr>
                          <m:ctrlPr>
                            <a:rPr sz="5750" i="1">
                              <a:solidFill>
                                <a:srgbClr val="000000"/>
                              </a:solidFill>
                              <a:latin typeface="Cambria Math" panose="02040503050406030204" pitchFamily="18" charset="0"/>
                            </a:rPr>
                          </m:ctrlPr>
                        </m:sSubPr>
                        <m:e>
                          <m:r>
                            <a:rPr sz="5750" i="1">
                              <a:solidFill>
                                <a:srgbClr val="000000"/>
                              </a:solidFill>
                              <a:latin typeface="Cambria Math" panose="02040503050406030204" pitchFamily="18" charset="0"/>
                            </a:rPr>
                            <m:t>𝑥</m:t>
                          </m:r>
                        </m:e>
                        <m:sub>
                          <m:r>
                            <a:rPr sz="5750" i="1">
                              <a:solidFill>
                                <a:srgbClr val="000000"/>
                              </a:solidFill>
                              <a:latin typeface="Cambria Math" panose="02040503050406030204" pitchFamily="18" charset="0"/>
                            </a:rPr>
                            <m:t>𝑚</m:t>
                          </m:r>
                        </m:sub>
                      </m:sSub>
                      <m:r>
                        <a:rPr sz="5750" i="1">
                          <a:solidFill>
                            <a:srgbClr val="000000"/>
                          </a:solidFill>
                          <a:latin typeface="Cambria Math" panose="02040503050406030204" pitchFamily="18" charset="0"/>
                        </a:rPr>
                        <m:t>;</m:t>
                      </m:r>
                      <m:sSub>
                        <m:sSubPr>
                          <m:ctrlPr>
                            <a:rPr sz="5750" i="1">
                              <a:solidFill>
                                <a:srgbClr val="000000"/>
                              </a:solidFill>
                              <a:latin typeface="Cambria Math" panose="02040503050406030204" pitchFamily="18" charset="0"/>
                            </a:rPr>
                          </m:ctrlPr>
                        </m:sSubPr>
                        <m:e>
                          <m:r>
                            <a:rPr sz="5750" i="1">
                              <a:solidFill>
                                <a:srgbClr val="000000"/>
                              </a:solidFill>
                              <a:latin typeface="Cambria Math" panose="02040503050406030204" pitchFamily="18" charset="0"/>
                            </a:rPr>
                            <m:t>𝜇</m:t>
                          </m:r>
                        </m:e>
                        <m:sub>
                          <m:r>
                            <a:rPr sz="5750" i="1">
                              <a:solidFill>
                                <a:srgbClr val="000000"/>
                              </a:solidFill>
                              <a:latin typeface="Cambria Math" panose="02040503050406030204" pitchFamily="18" charset="0"/>
                            </a:rPr>
                            <m:t>𝑚</m:t>
                          </m:r>
                        </m:sub>
                      </m:sSub>
                      <m:r>
                        <a:rPr sz="5750" i="1">
                          <a:solidFill>
                            <a:srgbClr val="000000"/>
                          </a:solidFill>
                          <a:latin typeface="Cambria Math" panose="02040503050406030204" pitchFamily="18" charset="0"/>
                        </a:rPr>
                        <m:t>,</m:t>
                      </m:r>
                      <m:sSub>
                        <m:sSubPr>
                          <m:ctrlPr>
                            <a:rPr sz="5750" i="1">
                              <a:solidFill>
                                <a:srgbClr val="000000"/>
                              </a:solidFill>
                              <a:latin typeface="Cambria Math" panose="02040503050406030204" pitchFamily="18" charset="0"/>
                            </a:rPr>
                          </m:ctrlPr>
                        </m:sSubPr>
                        <m:e>
                          <m:r>
                            <a:rPr sz="5750" i="1">
                              <a:solidFill>
                                <a:srgbClr val="000000"/>
                              </a:solidFill>
                              <a:latin typeface="Cambria Math" panose="02040503050406030204" pitchFamily="18" charset="0"/>
                            </a:rPr>
                            <m:t>𝜎</m:t>
                          </m:r>
                        </m:e>
                        <m:sub>
                          <m:r>
                            <a:rPr sz="5750" i="1">
                              <a:solidFill>
                                <a:srgbClr val="000000"/>
                              </a:solidFill>
                              <a:latin typeface="Cambria Math" panose="02040503050406030204" pitchFamily="18" charset="0"/>
                            </a:rPr>
                            <m:t>𝑚</m:t>
                          </m:r>
                        </m:sub>
                      </m:sSub>
                      <m:r>
                        <a:rPr sz="5750" i="1">
                          <a:solidFill>
                            <a:srgbClr val="000000"/>
                          </a:solidFill>
                          <a:latin typeface="Cambria Math" panose="02040503050406030204" pitchFamily="18" charset="0"/>
                        </a:rPr>
                        <m:t>)=</m:t>
                      </m:r>
                      <m:limLow>
                        <m:limLowPr>
                          <m:ctrlPr>
                            <a:rPr sz="5750" i="1">
                              <a:solidFill>
                                <a:srgbClr val="000000"/>
                              </a:solidFill>
                              <a:latin typeface="Cambria Math" panose="02040503050406030204" pitchFamily="18" charset="0"/>
                            </a:rPr>
                          </m:ctrlPr>
                        </m:limLowPr>
                        <m:e>
                          <m:r>
                            <a:rPr sz="5750" i="1">
                              <a:solidFill>
                                <a:srgbClr val="000000"/>
                              </a:solidFill>
                              <a:latin typeface="Cambria Math" panose="02040503050406030204" pitchFamily="18" charset="0"/>
                            </a:rPr>
                            <m:t>∏</m:t>
                          </m:r>
                        </m:e>
                        <m:lim>
                          <m:r>
                            <a:rPr sz="5750" i="1">
                              <a:solidFill>
                                <a:srgbClr val="000000"/>
                              </a:solidFill>
                              <a:latin typeface="Cambria Math" panose="02040503050406030204" pitchFamily="18" charset="0"/>
                            </a:rPr>
                            <m:t>𝑖</m:t>
                          </m:r>
                        </m:lim>
                      </m:limLow>
                      <m:r>
                        <a:rPr sz="5750" i="1">
                          <a:solidFill>
                            <a:srgbClr val="000000"/>
                          </a:solidFill>
                          <a:latin typeface="Cambria Math" panose="02040503050406030204" pitchFamily="18" charset="0"/>
                        </a:rPr>
                        <m:t>𝑝</m:t>
                      </m:r>
                      <m:r>
                        <a:rPr sz="5750" i="1">
                          <a:solidFill>
                            <a:srgbClr val="000000"/>
                          </a:solidFill>
                          <a:latin typeface="Cambria Math" panose="02040503050406030204" pitchFamily="18" charset="0"/>
                        </a:rPr>
                        <m:t>(</m:t>
                      </m:r>
                      <m:sSub>
                        <m:sSubPr>
                          <m:ctrlPr>
                            <a:rPr sz="5750" i="1">
                              <a:solidFill>
                                <a:srgbClr val="000000"/>
                              </a:solidFill>
                              <a:latin typeface="Cambria Math" panose="02040503050406030204" pitchFamily="18" charset="0"/>
                            </a:rPr>
                          </m:ctrlPr>
                        </m:sSubPr>
                        <m:e>
                          <m:r>
                            <a:rPr sz="5750" i="1">
                              <a:solidFill>
                                <a:srgbClr val="000000"/>
                              </a:solidFill>
                              <a:latin typeface="Cambria Math" panose="02040503050406030204" pitchFamily="18" charset="0"/>
                            </a:rPr>
                            <m:t>𝑥</m:t>
                          </m:r>
                        </m:e>
                        <m:sub>
                          <m:r>
                            <a:rPr sz="5750" i="1">
                              <a:solidFill>
                                <a:srgbClr val="000000"/>
                              </a:solidFill>
                              <a:latin typeface="Cambria Math" panose="02040503050406030204" pitchFamily="18" charset="0"/>
                            </a:rPr>
                            <m:t>𝑖</m:t>
                          </m:r>
                        </m:sub>
                      </m:sSub>
                      <m:r>
                        <a:rPr sz="5750" i="1">
                          <a:solidFill>
                            <a:srgbClr val="000000"/>
                          </a:solidFill>
                          <a:latin typeface="Cambria Math" panose="02040503050406030204" pitchFamily="18" charset="0"/>
                        </a:rPr>
                        <m:t>;</m:t>
                      </m:r>
                      <m:sSub>
                        <m:sSubPr>
                          <m:ctrlPr>
                            <a:rPr sz="5750" i="1">
                              <a:solidFill>
                                <a:srgbClr val="000000"/>
                              </a:solidFill>
                              <a:latin typeface="Cambria Math" panose="02040503050406030204" pitchFamily="18" charset="0"/>
                            </a:rPr>
                          </m:ctrlPr>
                        </m:sSubPr>
                        <m:e>
                          <m:r>
                            <a:rPr sz="5750" i="1">
                              <a:solidFill>
                                <a:srgbClr val="000000"/>
                              </a:solidFill>
                              <a:latin typeface="Cambria Math" panose="02040503050406030204" pitchFamily="18" charset="0"/>
                            </a:rPr>
                            <m:t>𝜇</m:t>
                          </m:r>
                        </m:e>
                        <m:sub>
                          <m:r>
                            <a:rPr sz="5750" i="1">
                              <a:solidFill>
                                <a:srgbClr val="000000"/>
                              </a:solidFill>
                              <a:latin typeface="Cambria Math" panose="02040503050406030204" pitchFamily="18" charset="0"/>
                            </a:rPr>
                            <m:t>𝑖</m:t>
                          </m:r>
                        </m:sub>
                      </m:sSub>
                      <m:r>
                        <a:rPr sz="5750" i="1">
                          <a:solidFill>
                            <a:srgbClr val="000000"/>
                          </a:solidFill>
                          <a:latin typeface="Cambria Math" panose="02040503050406030204" pitchFamily="18" charset="0"/>
                        </a:rPr>
                        <m:t>,</m:t>
                      </m:r>
                      <m:sSub>
                        <m:sSubPr>
                          <m:ctrlPr>
                            <a:rPr sz="5750" i="1">
                              <a:solidFill>
                                <a:srgbClr val="000000"/>
                              </a:solidFill>
                              <a:latin typeface="Cambria Math" panose="02040503050406030204" pitchFamily="18" charset="0"/>
                            </a:rPr>
                          </m:ctrlPr>
                        </m:sSubPr>
                        <m:e>
                          <m:r>
                            <a:rPr sz="5750" i="1">
                              <a:solidFill>
                                <a:srgbClr val="000000"/>
                              </a:solidFill>
                              <a:latin typeface="Cambria Math" panose="02040503050406030204" pitchFamily="18" charset="0"/>
                            </a:rPr>
                            <m:t>𝜎</m:t>
                          </m:r>
                        </m:e>
                        <m:sub>
                          <m:r>
                            <a:rPr sz="5750" i="1">
                              <a:solidFill>
                                <a:srgbClr val="000000"/>
                              </a:solidFill>
                              <a:latin typeface="Cambria Math" panose="02040503050406030204" pitchFamily="18" charset="0"/>
                            </a:rPr>
                            <m:t>𝑖</m:t>
                          </m:r>
                        </m:sub>
                      </m:sSub>
                      <m:r>
                        <a:rPr sz="5750" i="1">
                          <a:solidFill>
                            <a:srgbClr val="000000"/>
                          </a:solidFill>
                          <a:latin typeface="Cambria Math" panose="02040503050406030204" pitchFamily="18" charset="0"/>
                        </a:rPr>
                        <m:t>)</m:t>
                      </m:r>
                    </m:oMath>
                  </m:oMathPara>
                </a14:m>
                <a:endParaRPr/>
              </a:p>
              <a:p>
                <a:pPr marL="0" indent="0" algn="ctr">
                  <a:buSzTx/>
                  <a:buNone/>
                </a:pPr>
                <a:endParaRPr/>
              </a:p>
            </p:txBody>
          </p:sp>
        </mc:Choice>
        <mc:Fallback>
          <p:sp>
            <p:nvSpPr>
              <p:cNvPr id="221" name="Given  , each"/>
              <p:cNvSpPr txBox="1">
                <a:spLocks noGrp="1" noRot="1" noChangeAspect="1" noMove="1" noResize="1" noEditPoints="1" noAdjustHandles="1" noChangeArrowheads="1" noChangeShapeType="1" noTextEdit="1"/>
              </p:cNvSpPr>
              <p:nvPr>
                <p:ph type="body" idx="1"/>
              </p:nvPr>
            </p:nvSpPr>
            <p:spPr>
              <a:xfrm>
                <a:off x="1689100" y="3098800"/>
                <a:ext cx="21005800" cy="9296400"/>
              </a:xfrm>
              <a:prstGeom prst="rect">
                <a:avLst/>
              </a:prstGeom>
              <a:blipFill>
                <a:blip r:embed="rId2"/>
                <a:stretch>
                  <a:fillRect l="-1449"/>
                </a:stretch>
              </a:blipFill>
            </p:spPr>
            <p:txBody>
              <a:bodyPr/>
              <a:lstStyle/>
              <a:p>
                <a:r>
                  <a:rPr lang="es-ES">
                    <a:noFill/>
                  </a:rPr>
                  <a:t> </a:t>
                </a:r>
              </a:p>
            </p:txBody>
          </p:sp>
        </mc:Fallback>
      </mc:AlternateContent>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Anomaly detection algorithm"/>
          <p:cNvSpPr txBox="1">
            <a:spLocks noGrp="1"/>
          </p:cNvSpPr>
          <p:nvPr>
            <p:ph type="title"/>
          </p:nvPr>
        </p:nvSpPr>
        <p:spPr>
          <a:prstGeom prst="rect">
            <a:avLst/>
          </a:prstGeom>
        </p:spPr>
        <p:txBody>
          <a:bodyPr/>
          <a:lstStyle/>
          <a:p>
            <a:r>
              <a:t>Anomaly detection algorithm</a:t>
            </a:r>
          </a:p>
        </p:txBody>
      </p:sp>
      <mc:AlternateContent xmlns:mc="http://schemas.openxmlformats.org/markup-compatibility/2006">
        <mc:Choice xmlns:a14="http://schemas.microsoft.com/office/drawing/2010/main" Requires="a14">
          <p:sp>
            <p:nvSpPr>
              <p:cNvPr id="224" name="Choose features xi that you think might be indicative of anomalous examples…"/>
              <p:cNvSpPr txBox="1">
                <a:spLocks noGrp="1"/>
              </p:cNvSpPr>
              <p:nvPr>
                <p:ph type="body" idx="1"/>
              </p:nvPr>
            </p:nvSpPr>
            <p:spPr>
              <a:prstGeom prst="rect">
                <a:avLst/>
              </a:prstGeom>
            </p:spPr>
            <p:txBody>
              <a:bodyPr/>
              <a:lstStyle/>
              <a:p>
                <a:pPr marL="1000125" indent="-1000125">
                  <a:buSzPct val="100000"/>
                  <a:buAutoNum type="arabicPeriod"/>
                  <a:defRPr sz="5400"/>
                </a:pPr>
                <a:r>
                  <a:t>Choose features x</a:t>
                </a:r>
                <a:r>
                  <a:rPr baseline="-5999"/>
                  <a:t>i</a:t>
                </a:r>
                <a:r>
                  <a:t> that you think might be indicative of anomalous examples</a:t>
                </a:r>
              </a:p>
              <a:p>
                <a:pPr marL="1000125" indent="-1000125">
                  <a:buSzPct val="100000"/>
                  <a:buAutoNum type="arabicPeriod"/>
                  <a:defRPr sz="5400"/>
                </a:pPr>
                <a:r>
                  <a:t>Fit parameters </a:t>
                </a:r>
                <a14:m>
                  <m:oMath xmlns:m="http://schemas.openxmlformats.org/officeDocument/2006/math">
                    <m:sSub>
                      <m:sSubPr>
                        <m:ctrlPr>
                          <a:rPr sz="6500">
                            <a:solidFill>
                              <a:srgbClr val="000000"/>
                            </a:solidFill>
                            <a:latin typeface="Cambria Math" panose="02040503050406030204" pitchFamily="18" charset="0"/>
                          </a:rPr>
                        </m:ctrlPr>
                      </m:sSubPr>
                      <m:e>
                        <m:r>
                          <a:rPr sz="6500" i="1">
                            <a:solidFill>
                              <a:srgbClr val="000000"/>
                            </a:solidFill>
                            <a:latin typeface="Cambria Math" panose="02040503050406030204" pitchFamily="18" charset="0"/>
                          </a:rPr>
                          <m:t>𝑥</m:t>
                        </m:r>
                      </m:e>
                      <m:sub>
                        <m:r>
                          <a:rPr sz="6500" i="1">
                            <a:solidFill>
                              <a:srgbClr val="000000"/>
                            </a:solidFill>
                            <a:latin typeface="Cambria Math" panose="02040503050406030204" pitchFamily="18" charset="0"/>
                          </a:rPr>
                          <m:t>𝑖</m:t>
                        </m:r>
                      </m:sub>
                    </m:sSub>
                    <m:r>
                      <a:rPr sz="6500" i="1">
                        <a:solidFill>
                          <a:srgbClr val="000000"/>
                        </a:solidFill>
                        <a:latin typeface="Cambria Math" panose="02040503050406030204" pitchFamily="18" charset="0"/>
                      </a:rPr>
                      <m:t>∼</m:t>
                    </m:r>
                    <m:r>
                      <a:rPr sz="6500" i="1">
                        <a:solidFill>
                          <a:srgbClr val="000000"/>
                        </a:solidFill>
                        <a:latin typeface="Cambria Math" panose="02040503050406030204" pitchFamily="18" charset="0"/>
                      </a:rPr>
                      <m:t>𝒩</m:t>
                    </m:r>
                    <m:r>
                      <a:rPr sz="6500" i="1">
                        <a:solidFill>
                          <a:srgbClr val="000000"/>
                        </a:solidFill>
                        <a:latin typeface="Cambria Math" panose="02040503050406030204" pitchFamily="18" charset="0"/>
                      </a:rPr>
                      <m:t>(</m:t>
                    </m:r>
                    <m:sSub>
                      <m:sSubPr>
                        <m:ctrlPr>
                          <a:rPr sz="6500" i="1">
                            <a:solidFill>
                              <a:srgbClr val="000000"/>
                            </a:solidFill>
                            <a:latin typeface="Cambria Math" panose="02040503050406030204" pitchFamily="18" charset="0"/>
                          </a:rPr>
                        </m:ctrlPr>
                      </m:sSubPr>
                      <m:e>
                        <m:r>
                          <a:rPr sz="6500" i="1">
                            <a:solidFill>
                              <a:srgbClr val="000000"/>
                            </a:solidFill>
                            <a:latin typeface="Cambria Math" panose="02040503050406030204" pitchFamily="18" charset="0"/>
                          </a:rPr>
                          <m:t>𝜇</m:t>
                        </m:r>
                      </m:e>
                      <m:sub>
                        <m:r>
                          <a:rPr sz="6500" i="1">
                            <a:solidFill>
                              <a:srgbClr val="000000"/>
                            </a:solidFill>
                            <a:latin typeface="Cambria Math" panose="02040503050406030204" pitchFamily="18" charset="0"/>
                          </a:rPr>
                          <m:t>𝑖</m:t>
                        </m:r>
                      </m:sub>
                    </m:sSub>
                    <m:r>
                      <a:rPr sz="6500" i="1">
                        <a:solidFill>
                          <a:srgbClr val="000000"/>
                        </a:solidFill>
                        <a:latin typeface="Cambria Math" panose="02040503050406030204" pitchFamily="18" charset="0"/>
                      </a:rPr>
                      <m:t>,</m:t>
                    </m:r>
                    <m:sSub>
                      <m:sSubPr>
                        <m:ctrlPr>
                          <a:rPr sz="6500" i="1">
                            <a:solidFill>
                              <a:srgbClr val="000000"/>
                            </a:solidFill>
                            <a:latin typeface="Cambria Math" panose="02040503050406030204" pitchFamily="18" charset="0"/>
                          </a:rPr>
                        </m:ctrlPr>
                      </m:sSubPr>
                      <m:e>
                        <m:r>
                          <a:rPr sz="6500" i="1">
                            <a:solidFill>
                              <a:srgbClr val="000000"/>
                            </a:solidFill>
                            <a:latin typeface="Cambria Math" panose="02040503050406030204" pitchFamily="18" charset="0"/>
                          </a:rPr>
                          <m:t>𝜎</m:t>
                        </m:r>
                      </m:e>
                      <m:sub>
                        <m:r>
                          <a:rPr sz="6500" i="1">
                            <a:solidFill>
                              <a:srgbClr val="000000"/>
                            </a:solidFill>
                            <a:latin typeface="Cambria Math" panose="02040503050406030204" pitchFamily="18" charset="0"/>
                          </a:rPr>
                          <m:t>𝑖</m:t>
                        </m:r>
                      </m:sub>
                    </m:sSub>
                    <m:r>
                      <a:rPr sz="6500" i="1">
                        <a:solidFill>
                          <a:srgbClr val="000000"/>
                        </a:solidFill>
                        <a:latin typeface="Cambria Math" panose="02040503050406030204" pitchFamily="18" charset="0"/>
                      </a:rPr>
                      <m:t>),</m:t>
                    </m:r>
                    <m:r>
                      <a:rPr sz="6500" i="1">
                        <a:solidFill>
                          <a:srgbClr val="000000"/>
                        </a:solidFill>
                        <a:latin typeface="Cambria Math" panose="02040503050406030204" pitchFamily="18" charset="0"/>
                      </a:rPr>
                      <m:t>𝑖</m:t>
                    </m:r>
                    <m:r>
                      <a:rPr sz="6500" i="1">
                        <a:solidFill>
                          <a:srgbClr val="000000"/>
                        </a:solidFill>
                        <a:latin typeface="Cambria Math" panose="02040503050406030204" pitchFamily="18" charset="0"/>
                      </a:rPr>
                      <m:t>=1,...,</m:t>
                    </m:r>
                    <m:r>
                      <a:rPr sz="6500" i="1">
                        <a:solidFill>
                          <a:srgbClr val="000000"/>
                        </a:solidFill>
                        <a:latin typeface="Cambria Math" panose="02040503050406030204" pitchFamily="18" charset="0"/>
                      </a:rPr>
                      <m:t>𝑚</m:t>
                    </m:r>
                  </m:oMath>
                </a14:m>
                <a:endParaRPr/>
              </a:p>
              <a:p>
                <a:pPr marL="1000125" indent="-1000125">
                  <a:buSzPct val="100000"/>
                  <a:buAutoNum type="arabicPeriod"/>
                  <a:defRPr sz="5400"/>
                </a:pPr>
                <a:r>
                  <a:t>Given a new example x, compute p(x)</a:t>
                </a:r>
              </a:p>
              <a:p>
                <a:pPr marL="1000125" indent="-1000125">
                  <a:buSzPct val="100000"/>
                  <a:buAutoNum type="arabicPeriod"/>
                  <a:defRPr sz="5400"/>
                </a:pPr>
                <a:r>
                  <a:t>Anomaly if </a:t>
                </a:r>
                <a14:m>
                  <m:oMath xmlns:m="http://schemas.openxmlformats.org/officeDocument/2006/math">
                    <m:r>
                      <a:rPr sz="6500" i="1">
                        <a:solidFill>
                          <a:srgbClr val="000000"/>
                        </a:solidFill>
                        <a:latin typeface="Cambria Math" panose="02040503050406030204" pitchFamily="18" charset="0"/>
                      </a:rPr>
                      <m:t>𝑝</m:t>
                    </m:r>
                    <m:r>
                      <a:rPr sz="6500" i="1">
                        <a:solidFill>
                          <a:srgbClr val="000000"/>
                        </a:solidFill>
                        <a:latin typeface="Cambria Math" panose="02040503050406030204" pitchFamily="18" charset="0"/>
                      </a:rPr>
                      <m:t>(</m:t>
                    </m:r>
                    <m:r>
                      <a:rPr sz="6500" i="1">
                        <a:solidFill>
                          <a:srgbClr val="000000"/>
                        </a:solidFill>
                        <a:latin typeface="Cambria Math" panose="02040503050406030204" pitchFamily="18" charset="0"/>
                      </a:rPr>
                      <m:t>𝑥</m:t>
                    </m:r>
                    <m:r>
                      <a:rPr sz="6500" i="1">
                        <a:solidFill>
                          <a:srgbClr val="000000"/>
                        </a:solidFill>
                        <a:latin typeface="Cambria Math" panose="02040503050406030204" pitchFamily="18" charset="0"/>
                      </a:rPr>
                      <m:t>)&lt;</m:t>
                    </m:r>
                    <m:r>
                      <a:rPr sz="6500" i="1">
                        <a:solidFill>
                          <a:srgbClr val="000000"/>
                        </a:solidFill>
                        <a:latin typeface="Cambria Math" panose="02040503050406030204" pitchFamily="18" charset="0"/>
                      </a:rPr>
                      <m:t>𝜖</m:t>
                    </m:r>
                  </m:oMath>
                </a14:m>
                <a:r>
                  <a:t> (use validation set to choose parameter </a:t>
                </a:r>
                <a14:m>
                  <m:oMath xmlns:m="http://schemas.openxmlformats.org/officeDocument/2006/math">
                    <m:r>
                      <a:rPr sz="6500" i="1">
                        <a:solidFill>
                          <a:srgbClr val="000000"/>
                        </a:solidFill>
                        <a:latin typeface="Cambria Math" panose="02040503050406030204" pitchFamily="18" charset="0"/>
                      </a:rPr>
                      <m:t>𝜖</m:t>
                    </m:r>
                  </m:oMath>
                </a14:m>
                <a:r>
                  <a:t>)</a:t>
                </a:r>
              </a:p>
            </p:txBody>
          </p:sp>
        </mc:Choice>
        <mc:Fallback>
          <p:sp>
            <p:nvSpPr>
              <p:cNvPr id="224" name="Choose features xi that you think might be indicative of anomalous examples…"/>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l="-1630" r="-60"/>
                </a:stretch>
              </a:blipFill>
            </p:spPr>
            <p:txBody>
              <a:bodyPr/>
              <a:lstStyle/>
              <a:p>
                <a:r>
                  <a:rPr lang="es-ES">
                    <a:noFill/>
                  </a:rPr>
                  <a:t> </a:t>
                </a:r>
              </a:p>
            </p:txBody>
          </p:sp>
        </mc:Fallback>
      </mc:AlternateContent>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Alternative"/>
          <p:cNvSpPr txBox="1">
            <a:spLocks noGrp="1"/>
          </p:cNvSpPr>
          <p:nvPr>
            <p:ph type="title"/>
          </p:nvPr>
        </p:nvSpPr>
        <p:spPr>
          <a:prstGeom prst="rect">
            <a:avLst/>
          </a:prstGeom>
        </p:spPr>
        <p:txBody>
          <a:bodyPr/>
          <a:lstStyle/>
          <a:p>
            <a:r>
              <a:t>Alternative</a:t>
            </a:r>
          </a:p>
        </p:txBody>
      </p:sp>
      <p:sp>
        <p:nvSpPr>
          <p:cNvPr id="227" name="Standardize all components…"/>
          <p:cNvSpPr txBox="1">
            <a:spLocks noGrp="1"/>
          </p:cNvSpPr>
          <p:nvPr>
            <p:ph type="body" idx="1"/>
          </p:nvPr>
        </p:nvSpPr>
        <p:spPr>
          <a:prstGeom prst="rect">
            <a:avLst/>
          </a:prstGeom>
        </p:spPr>
        <p:txBody>
          <a:bodyPr/>
          <a:lstStyle/>
          <a:p>
            <a:pPr marL="0" indent="0">
              <a:buSzTx/>
              <a:buNone/>
              <a:defRPr sz="5900">
                <a:latin typeface="Helvetica"/>
                <a:ea typeface="Helvetica"/>
                <a:cs typeface="Helvetica"/>
                <a:sym typeface="Helvetica"/>
              </a:defRPr>
            </a:pPr>
            <a:r>
              <a:t>Standardize all components</a:t>
            </a:r>
          </a:p>
          <a:p>
            <a:pPr marL="0" indent="0">
              <a:buSzTx/>
              <a:buNone/>
              <a:defRPr sz="5900">
                <a:latin typeface="Helvetica"/>
                <a:ea typeface="Helvetica"/>
                <a:cs typeface="Helvetica"/>
                <a:sym typeface="Helvetica"/>
              </a:defRPr>
            </a:pPr>
            <a:r>
              <a:t>Determine, using the basic 1-dimensional algorithm, whether each component is anomalous or not</a:t>
            </a:r>
          </a:p>
          <a:p>
            <a:pPr marL="0" indent="0">
              <a:buSzTx/>
              <a:buNone/>
              <a:defRPr sz="5900">
                <a:latin typeface="Helvetica"/>
                <a:ea typeface="Helvetica"/>
                <a:cs typeface="Helvetica"/>
                <a:sym typeface="Helvetica"/>
              </a:defRPr>
            </a:pPr>
            <a:r>
              <a:t>Compare the obtained results with reality</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Limits"/>
          <p:cNvSpPr txBox="1">
            <a:spLocks noGrp="1"/>
          </p:cNvSpPr>
          <p:nvPr>
            <p:ph type="title"/>
          </p:nvPr>
        </p:nvSpPr>
        <p:spPr>
          <a:prstGeom prst="rect">
            <a:avLst/>
          </a:prstGeom>
        </p:spPr>
        <p:txBody>
          <a:bodyPr/>
          <a:lstStyle/>
          <a:p>
            <a:r>
              <a:t>Limits</a:t>
            </a:r>
          </a:p>
        </p:txBody>
      </p:sp>
      <p:sp>
        <p:nvSpPr>
          <p:cNvPr id="230" name="Non-Gaussian Components…"/>
          <p:cNvSpPr txBox="1">
            <a:spLocks noGrp="1"/>
          </p:cNvSpPr>
          <p:nvPr>
            <p:ph type="body" idx="1"/>
          </p:nvPr>
        </p:nvSpPr>
        <p:spPr>
          <a:prstGeom prst="rect">
            <a:avLst/>
          </a:prstGeom>
        </p:spPr>
        <p:txBody>
          <a:bodyPr/>
          <a:lstStyle/>
          <a:p>
            <a:pPr>
              <a:buSzPct val="50000"/>
              <a:buBlip>
                <a:blip r:embed="rId2"/>
              </a:buBlip>
              <a:defRPr sz="6500">
                <a:latin typeface="Helvetica"/>
                <a:ea typeface="Helvetica"/>
                <a:cs typeface="Helvetica"/>
                <a:sym typeface="Helvetica"/>
              </a:defRPr>
            </a:pPr>
            <a:r>
              <a:t>Non-Gaussian Components</a:t>
            </a:r>
          </a:p>
          <a:p>
            <a:pPr>
              <a:buSzPct val="50000"/>
              <a:buBlip>
                <a:blip r:embed="rId2"/>
              </a:buBlip>
              <a:defRPr sz="6500">
                <a:latin typeface="Helvetica"/>
                <a:ea typeface="Helvetica"/>
                <a:cs typeface="Helvetica"/>
                <a:sym typeface="Helvetica"/>
              </a:defRPr>
            </a:pPr>
            <a:r>
              <a:t>Relationships Between Components</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2" name="Imagen" descr="Imagen"/>
          <p:cNvPicPr>
            <a:picLocks noChangeAspect="1"/>
          </p:cNvPicPr>
          <p:nvPr/>
        </p:nvPicPr>
        <p:blipFill>
          <a:blip r:embed="rId2"/>
          <a:stretch>
            <a:fillRect/>
          </a:stretch>
        </p:blipFill>
        <p:spPr>
          <a:xfrm>
            <a:off x="767937" y="431965"/>
            <a:ext cx="22221493" cy="12499590"/>
          </a:xfrm>
          <a:prstGeom prst="rect">
            <a:avLst/>
          </a:prstGeom>
          <a:ln w="12700">
            <a:miter lim="400000"/>
          </a:ln>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 name="Imagen" descr="Imagen"/>
          <p:cNvPicPr>
            <a:picLocks noChangeAspect="1"/>
          </p:cNvPicPr>
          <p:nvPr/>
        </p:nvPicPr>
        <p:blipFill>
          <a:blip r:embed="rId2"/>
          <a:stretch>
            <a:fillRect/>
          </a:stretch>
        </p:blipFill>
        <p:spPr>
          <a:xfrm>
            <a:off x="504525" y="283795"/>
            <a:ext cx="22649051" cy="12740092"/>
          </a:xfrm>
          <a:prstGeom prst="rect">
            <a:avLst/>
          </a:prstGeom>
          <a:ln w="12700">
            <a:miter lim="400000"/>
          </a:ln>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6" name="Imagen" descr="Imagen"/>
          <p:cNvPicPr>
            <a:picLocks noChangeAspect="1"/>
          </p:cNvPicPr>
          <p:nvPr/>
        </p:nvPicPr>
        <p:blipFill>
          <a:blip r:embed="rId2"/>
          <a:stretch>
            <a:fillRect/>
          </a:stretch>
        </p:blipFill>
        <p:spPr>
          <a:xfrm>
            <a:off x="1639173" y="812873"/>
            <a:ext cx="21493786" cy="12090254"/>
          </a:xfrm>
          <a:prstGeom prst="rect">
            <a:avLst/>
          </a:prstGeom>
          <a:ln w="12700">
            <a:miter lim="400000"/>
          </a:ln>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Other algorithms"/>
          <p:cNvSpPr txBox="1">
            <a:spLocks noGrp="1"/>
          </p:cNvSpPr>
          <p:nvPr>
            <p:ph type="title"/>
          </p:nvPr>
        </p:nvSpPr>
        <p:spPr>
          <a:prstGeom prst="rect">
            <a:avLst/>
          </a:prstGeom>
        </p:spPr>
        <p:txBody>
          <a:bodyPr/>
          <a:lstStyle/>
          <a:p>
            <a:r>
              <a:t>Other algorithms</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0" name="Local Outlier Factor (LOF)"/>
          <p:cNvSpPr txBox="1">
            <a:spLocks noGrp="1"/>
          </p:cNvSpPr>
          <p:nvPr>
            <p:ph type="title"/>
          </p:nvPr>
        </p:nvSpPr>
        <p:spPr>
          <a:prstGeom prst="rect">
            <a:avLst/>
          </a:prstGeom>
        </p:spPr>
        <p:txBody>
          <a:bodyPr/>
          <a:lstStyle/>
          <a:p>
            <a:r>
              <a:t>Local Outlier Factor (LOF)</a:t>
            </a:r>
          </a:p>
        </p:txBody>
      </p:sp>
      <p:sp>
        <p:nvSpPr>
          <p:cNvPr id="241" name="Other methods seek global outliers, LOF detects anomalous points with respect to its local neighborhood…"/>
          <p:cNvSpPr txBox="1">
            <a:spLocks noGrp="1"/>
          </p:cNvSpPr>
          <p:nvPr>
            <p:ph type="body" idx="1"/>
          </p:nvPr>
        </p:nvSpPr>
        <p:spPr>
          <a:prstGeom prst="rect">
            <a:avLst/>
          </a:prstGeom>
        </p:spPr>
        <p:txBody>
          <a:bodyPr/>
          <a:lstStyle/>
          <a:p>
            <a:pPr marL="655637" indent="-655637" defTabSz="693419">
              <a:spcBef>
                <a:spcPts val="4900"/>
              </a:spcBef>
              <a:defRPr sz="4956"/>
            </a:pPr>
            <a:r>
              <a:t>Other methods seek global outliers, LOF detects anomalous points with respect to its local neighborhood</a:t>
            </a:r>
          </a:p>
          <a:p>
            <a:pPr marL="655637" indent="-655637" defTabSz="693419">
              <a:spcBef>
                <a:spcPts val="4900"/>
              </a:spcBef>
              <a:defRPr sz="4956"/>
            </a:pPr>
            <a:r>
              <a:t>Idea: Compare the local density of a point with that of its neighbors. </a:t>
            </a:r>
          </a:p>
          <a:p>
            <a:pPr marL="655637" indent="-655637" defTabSz="693419">
              <a:spcBef>
                <a:spcPts val="4900"/>
              </a:spcBef>
              <a:defRPr sz="4956"/>
            </a:pPr>
            <a:r>
              <a:t>Anomalies have a significantly lower density. </a:t>
            </a:r>
          </a:p>
          <a:p>
            <a:pPr marL="655637" indent="-655637" defTabSz="693419">
              <a:spcBef>
                <a:spcPts val="4900"/>
              </a:spcBef>
              <a:defRPr sz="4956"/>
            </a:pPr>
            <a:r>
              <a:t>Concept of reachability and local outlier factor. </a:t>
            </a:r>
          </a:p>
          <a:p>
            <a:pPr marL="655637" indent="-655637" defTabSz="693419">
              <a:spcBef>
                <a:spcPts val="4900"/>
              </a:spcBef>
              <a:defRPr sz="4956"/>
            </a:pPr>
            <a:r>
              <a:t>Advantages: Can detect anomalies with different densities, does not assume a global distribution. </a:t>
            </a:r>
          </a:p>
          <a:p>
            <a:pPr marL="655637" indent="-655637" defTabSz="693419">
              <a:spcBef>
                <a:spcPts val="4900"/>
              </a:spcBef>
              <a:defRPr sz="4956"/>
            </a:pPr>
            <a:r>
              <a:t>Disadvantages, parameters, complexity</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43" name="Reachability distancek (A,B)…"/>
              <p:cNvSpPr txBox="1">
                <a:spLocks noGrp="1"/>
              </p:cNvSpPr>
              <p:nvPr>
                <p:ph type="body" idx="1"/>
              </p:nvPr>
            </p:nvSpPr>
            <p:spPr>
              <a:xfrm>
                <a:off x="1689100" y="3098800"/>
                <a:ext cx="21005800" cy="9296400"/>
              </a:xfrm>
              <a:prstGeom prst="rect">
                <a:avLst/>
              </a:prstGeom>
            </p:spPr>
            <p:txBody>
              <a:bodyPr/>
              <a:lstStyle/>
              <a:p>
                <a:pPr marL="0" indent="0" algn="ctr" defTabSz="734694">
                  <a:spcBef>
                    <a:spcPts val="5200"/>
                  </a:spcBef>
                  <a:buSzTx/>
                  <a:buNone/>
                  <a:defRPr sz="5251"/>
                </a:pPr>
                <a:r>
                  <a:t>Reachability distance</a:t>
                </a:r>
                <a:r>
                  <a:rPr baseline="-5999"/>
                  <a:t>k</a:t>
                </a:r>
                <a:r>
                  <a:t> (A,B)</a:t>
                </a:r>
              </a:p>
              <a:p>
                <a:pPr marL="0" lvl="6" indent="2441447" algn="ctr" defTabSz="734694">
                  <a:spcBef>
                    <a:spcPts val="200"/>
                  </a:spcBef>
                  <a:buSzTx/>
                  <a:buNone/>
                  <a:defRPr sz="5251"/>
                </a:pPr>
                <a:r>
                  <a:t>=max{distance</a:t>
                </a:r>
                <a:r>
                  <a:rPr baseline="-5999"/>
                  <a:t>k</a:t>
                </a:r>
                <a:r>
                  <a:t> (B), distance(A,B))}</a:t>
                </a:r>
              </a:p>
              <a:p>
                <a:pPr marL="0" indent="0" defTabSz="406908">
                  <a:spcBef>
                    <a:spcPts val="0"/>
                  </a:spcBef>
                  <a:buSzTx/>
                  <a:buNone/>
                  <a:defRPr sz="5251"/>
                </a:pPr>
                <a:endParaRPr/>
              </a:p>
              <a:p>
                <a:pPr marL="0" indent="0" defTabSz="406908">
                  <a:spcBef>
                    <a:spcPts val="0"/>
                  </a:spcBef>
                  <a:buSzTx/>
                  <a:buNone/>
                  <a:defRPr sz="5251"/>
                </a:pPr>
                <a:r>
                  <a:t>distance</a:t>
                </a:r>
                <a:r>
                  <a:rPr baseline="-5999"/>
                  <a:t>k</a:t>
                </a:r>
                <a:r>
                  <a:t> (B): Distance from B to its nearest k-th neighbor</a:t>
                </a:r>
              </a:p>
              <a:p>
                <a:pPr marL="0" indent="0" defTabSz="406908">
                  <a:spcBef>
                    <a:spcPts val="0"/>
                  </a:spcBef>
                  <a:buSzTx/>
                  <a:buNone/>
                  <a:defRPr sz="5251"/>
                </a:pPr>
                <a:endParaRPr/>
              </a:p>
              <a:p>
                <a:pPr marL="0" indent="0" defTabSz="406908">
                  <a:spcBef>
                    <a:spcPts val="0"/>
                  </a:spcBef>
                  <a:buSzTx/>
                  <a:buNone/>
                  <a:defRPr sz="5251"/>
                </a:pPr>
                <a:r>
                  <a:t>Local reachability distance</a:t>
                </a:r>
              </a:p>
              <a:p>
                <a:pPr marL="0" indent="0" algn="ctr" defTabSz="734694">
                  <a:spcBef>
                    <a:spcPts val="5200"/>
                  </a:spcBef>
                  <a:buSzTx/>
                  <a:buNone/>
                  <a:defRPr sz="5251"/>
                </a:pPr>
                <a14:m>
                  <m:oMathPara xmlns:m="http://schemas.openxmlformats.org/officeDocument/2006/math">
                    <m:oMathParaPr>
                      <m:jc m:val="center"/>
                    </m:oMathParaPr>
                    <m:oMath xmlns:m="http://schemas.openxmlformats.org/officeDocument/2006/math">
                      <m:r>
                        <a:rPr sz="6300" i="1">
                          <a:solidFill>
                            <a:srgbClr val="000000"/>
                          </a:solidFill>
                          <a:latin typeface="Cambria Math" panose="02040503050406030204" pitchFamily="18" charset="0"/>
                        </a:rPr>
                        <m:t>𝐿𝑅𝐷</m:t>
                      </m:r>
                      <m:r>
                        <a:rPr sz="6300" i="1">
                          <a:solidFill>
                            <a:srgbClr val="000000"/>
                          </a:solidFill>
                          <a:latin typeface="Cambria Math" panose="02040503050406030204" pitchFamily="18" charset="0"/>
                        </a:rPr>
                        <m:t>(</m:t>
                      </m:r>
                      <m:r>
                        <a:rPr sz="6300" i="1">
                          <a:solidFill>
                            <a:srgbClr val="000000"/>
                          </a:solidFill>
                          <a:latin typeface="Cambria Math" panose="02040503050406030204" pitchFamily="18" charset="0"/>
                        </a:rPr>
                        <m:t>𝐴</m:t>
                      </m:r>
                      <m:r>
                        <a:rPr sz="6300" i="1">
                          <a:solidFill>
                            <a:srgbClr val="000000"/>
                          </a:solidFill>
                          <a:latin typeface="Cambria Math" panose="02040503050406030204" pitchFamily="18" charset="0"/>
                        </a:rPr>
                        <m:t>)=</m:t>
                      </m:r>
                      <m:f>
                        <m:fPr>
                          <m:ctrlPr>
                            <a:rPr sz="6300" i="1">
                              <a:solidFill>
                                <a:srgbClr val="000000"/>
                              </a:solidFill>
                              <a:latin typeface="Cambria Math" panose="02040503050406030204" pitchFamily="18" charset="0"/>
                            </a:rPr>
                          </m:ctrlPr>
                        </m:fPr>
                        <m:num>
                          <m:r>
                            <a:rPr sz="6300" i="1">
                              <a:solidFill>
                                <a:srgbClr val="000000"/>
                              </a:solidFill>
                              <a:latin typeface="Cambria Math" panose="02040503050406030204" pitchFamily="18" charset="0"/>
                            </a:rPr>
                            <m:t>𝑘</m:t>
                          </m:r>
                        </m:num>
                        <m:den>
                          <m:sSub>
                            <m:sSubPr>
                              <m:ctrlPr>
                                <a:rPr sz="6300" i="1">
                                  <a:solidFill>
                                    <a:srgbClr val="000000"/>
                                  </a:solidFill>
                                  <a:latin typeface="Cambria Math" panose="02040503050406030204" pitchFamily="18" charset="0"/>
                                </a:rPr>
                              </m:ctrlPr>
                            </m:sSubPr>
                            <m:e>
                              <m:r>
                                <a:rPr sz="6300" i="1">
                                  <a:solidFill>
                                    <a:srgbClr val="000000"/>
                                  </a:solidFill>
                                  <a:latin typeface="Cambria Math" panose="02040503050406030204" pitchFamily="18" charset="0"/>
                                </a:rPr>
                                <m:t>∑</m:t>
                              </m:r>
                            </m:e>
                            <m:sub>
                              <m:r>
                                <a:rPr sz="6300" i="1">
                                  <a:solidFill>
                                    <a:srgbClr val="000000"/>
                                  </a:solidFill>
                                  <a:latin typeface="Cambria Math" panose="02040503050406030204" pitchFamily="18" charset="0"/>
                                </a:rPr>
                                <m:t>𝐵</m:t>
                              </m:r>
                              <m:r>
                                <a:rPr sz="6300" i="1">
                                  <a:solidFill>
                                    <a:srgbClr val="000000"/>
                                  </a:solidFill>
                                  <a:latin typeface="Cambria Math" panose="02040503050406030204" pitchFamily="18" charset="0"/>
                                </a:rPr>
                                <m:t>∈</m:t>
                              </m:r>
                              <m:sSub>
                                <m:sSubPr>
                                  <m:ctrlPr>
                                    <a:rPr sz="6300" i="1">
                                      <a:solidFill>
                                        <a:srgbClr val="000000"/>
                                      </a:solidFill>
                                      <a:latin typeface="Cambria Math" panose="02040503050406030204" pitchFamily="18" charset="0"/>
                                    </a:rPr>
                                  </m:ctrlPr>
                                </m:sSubPr>
                                <m:e>
                                  <m:r>
                                    <a:rPr sz="6300" i="1">
                                      <a:solidFill>
                                        <a:srgbClr val="000000"/>
                                      </a:solidFill>
                                      <a:latin typeface="Cambria Math" panose="02040503050406030204" pitchFamily="18" charset="0"/>
                                    </a:rPr>
                                    <m:t>𝑁</m:t>
                                  </m:r>
                                </m:e>
                                <m:sub>
                                  <m:r>
                                    <a:rPr sz="6300" i="1">
                                      <a:solidFill>
                                        <a:srgbClr val="000000"/>
                                      </a:solidFill>
                                      <a:latin typeface="Cambria Math" panose="02040503050406030204" pitchFamily="18" charset="0"/>
                                    </a:rPr>
                                    <m:t>𝑘</m:t>
                                  </m:r>
                                </m:sub>
                              </m:sSub>
                              <m:r>
                                <a:rPr sz="6300" i="1">
                                  <a:solidFill>
                                    <a:srgbClr val="000000"/>
                                  </a:solidFill>
                                  <a:latin typeface="Cambria Math" panose="02040503050406030204" pitchFamily="18" charset="0"/>
                                </a:rPr>
                                <m:t>(</m:t>
                              </m:r>
                              <m:r>
                                <a:rPr sz="6300" i="1">
                                  <a:solidFill>
                                    <a:srgbClr val="000000"/>
                                  </a:solidFill>
                                  <a:latin typeface="Cambria Math" panose="02040503050406030204" pitchFamily="18" charset="0"/>
                                </a:rPr>
                                <m:t>𝐴</m:t>
                              </m:r>
                              <m:r>
                                <a:rPr sz="6300" i="1">
                                  <a:solidFill>
                                    <a:srgbClr val="000000"/>
                                  </a:solidFill>
                                  <a:latin typeface="Cambria Math" panose="02040503050406030204" pitchFamily="18" charset="0"/>
                                </a:rPr>
                                <m:t>)</m:t>
                              </m:r>
                            </m:sub>
                          </m:sSub>
                          <m:sSub>
                            <m:sSubPr>
                              <m:ctrlPr>
                                <a:rPr sz="6300" i="1">
                                  <a:solidFill>
                                    <a:srgbClr val="000000"/>
                                  </a:solidFill>
                                  <a:latin typeface="Cambria Math" panose="02040503050406030204" pitchFamily="18" charset="0"/>
                                </a:rPr>
                              </m:ctrlPr>
                            </m:sSubPr>
                            <m:e>
                              <m:r>
                                <m:rPr>
                                  <m:nor/>
                                </m:rPr>
                                <a:rPr sz="6300" i="1">
                                  <a:solidFill>
                                    <a:srgbClr val="000000"/>
                                  </a:solidFill>
                                  <a:latin typeface="Cambria Math" panose="02040503050406030204" pitchFamily="18" charset="0"/>
                                </a:rPr>
                                <m:t>reachability</m:t>
                              </m:r>
                              <m:r>
                                <m:rPr>
                                  <m:nor/>
                                </m:rPr>
                                <a:rPr sz="6300" i="1">
                                  <a:solidFill>
                                    <a:srgbClr val="000000"/>
                                  </a:solidFill>
                                  <a:latin typeface="Cambria Math" panose="02040503050406030204" pitchFamily="18" charset="0"/>
                                </a:rPr>
                                <m:t> </m:t>
                              </m:r>
                              <m:r>
                                <m:rPr>
                                  <m:nor/>
                                </m:rPr>
                                <a:rPr sz="6300" i="1">
                                  <a:solidFill>
                                    <a:srgbClr val="000000"/>
                                  </a:solidFill>
                                  <a:latin typeface="Cambria Math" panose="02040503050406030204" pitchFamily="18" charset="0"/>
                                </a:rPr>
                                <m:t>distance</m:t>
                              </m:r>
                            </m:e>
                            <m:sub>
                              <m:r>
                                <a:rPr sz="6300" i="1">
                                  <a:solidFill>
                                    <a:srgbClr val="000000"/>
                                  </a:solidFill>
                                  <a:latin typeface="Cambria Math" panose="02040503050406030204" pitchFamily="18" charset="0"/>
                                </a:rPr>
                                <m:t>𝑘</m:t>
                              </m:r>
                            </m:sub>
                          </m:sSub>
                          <m:r>
                            <a:rPr sz="6300" i="1">
                              <a:solidFill>
                                <a:srgbClr val="000000"/>
                              </a:solidFill>
                              <a:latin typeface="Cambria Math" panose="02040503050406030204" pitchFamily="18" charset="0"/>
                            </a:rPr>
                            <m:t>(</m:t>
                          </m:r>
                          <m:r>
                            <a:rPr sz="6300" i="1">
                              <a:solidFill>
                                <a:srgbClr val="000000"/>
                              </a:solidFill>
                              <a:latin typeface="Cambria Math" panose="02040503050406030204" pitchFamily="18" charset="0"/>
                            </a:rPr>
                            <m:t>𝐴</m:t>
                          </m:r>
                          <m:r>
                            <a:rPr sz="6300" i="1">
                              <a:solidFill>
                                <a:srgbClr val="000000"/>
                              </a:solidFill>
                              <a:latin typeface="Cambria Math" panose="02040503050406030204" pitchFamily="18" charset="0"/>
                            </a:rPr>
                            <m:t>,</m:t>
                          </m:r>
                          <m:r>
                            <a:rPr sz="6300" i="1">
                              <a:solidFill>
                                <a:srgbClr val="000000"/>
                              </a:solidFill>
                              <a:latin typeface="Cambria Math" panose="02040503050406030204" pitchFamily="18" charset="0"/>
                            </a:rPr>
                            <m:t>𝐵</m:t>
                          </m:r>
                          <m:r>
                            <a:rPr sz="6300" i="1">
                              <a:solidFill>
                                <a:srgbClr val="000000"/>
                              </a:solidFill>
                              <a:latin typeface="Cambria Math" panose="02040503050406030204" pitchFamily="18" charset="0"/>
                            </a:rPr>
                            <m:t>)</m:t>
                          </m:r>
                        </m:den>
                      </m:f>
                    </m:oMath>
                  </m:oMathPara>
                </a14:m>
                <a:endParaRPr/>
              </a:p>
              <a:p>
                <a:pPr marL="0" indent="0" defTabSz="734694">
                  <a:spcBef>
                    <a:spcPts val="5200"/>
                  </a:spcBef>
                  <a:buSzTx/>
                  <a:buNone/>
                  <a:defRPr sz="5251"/>
                </a:pPr>
                <a:r>
                  <a:t>N</a:t>
                </a:r>
                <a:r>
                  <a:rPr baseline="-5999"/>
                  <a:t>k</a:t>
                </a:r>
                <a:r>
                  <a:t> (A): Set of the closest neighbors of A.</a:t>
                </a:r>
              </a:p>
            </p:txBody>
          </p:sp>
        </mc:Choice>
        <mc:Fallback>
          <p:sp>
            <p:nvSpPr>
              <p:cNvPr id="243" name="Reachability distancek (A,B)…"/>
              <p:cNvSpPr txBox="1">
                <a:spLocks noGrp="1" noRot="1" noChangeAspect="1" noMove="1" noResize="1" noEditPoints="1" noAdjustHandles="1" noChangeArrowheads="1" noChangeShapeType="1" noTextEdit="1"/>
              </p:cNvSpPr>
              <p:nvPr>
                <p:ph type="body" idx="1"/>
              </p:nvPr>
            </p:nvSpPr>
            <p:spPr>
              <a:xfrm>
                <a:off x="1689100" y="3098800"/>
                <a:ext cx="21005800" cy="9296400"/>
              </a:xfrm>
              <a:prstGeom prst="rect">
                <a:avLst/>
              </a:prstGeom>
              <a:blipFill>
                <a:blip r:embed="rId2"/>
                <a:stretch>
                  <a:fillRect l="-1630"/>
                </a:stretch>
              </a:blipFill>
            </p:spPr>
            <p:txBody>
              <a:bodyPr/>
              <a:lstStyle/>
              <a:p>
                <a:r>
                  <a:rPr lang="es-ES">
                    <a:noFill/>
                  </a:rPr>
                  <a:t> </a:t>
                </a:r>
              </a:p>
            </p:txBody>
          </p:sp>
        </mc:Fallback>
      </mc:AlternateContent>
      <p:sp>
        <p:nvSpPr>
          <p:cNvPr id="244" name="Local Outlier Factor (LOF)"/>
          <p:cNvSpPr txBox="1">
            <a:spLocks noGrp="1"/>
          </p:cNvSpPr>
          <p:nvPr>
            <p:ph type="title"/>
          </p:nvPr>
        </p:nvSpPr>
        <p:spPr>
          <a:prstGeom prst="rect">
            <a:avLst/>
          </a:prstGeom>
        </p:spPr>
        <p:txBody>
          <a:bodyPr/>
          <a:lstStyle/>
          <a:p>
            <a:r>
              <a:t>Local Outlier Factor (LOF)</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46" name="If  LOF ≈ 1 → normal.…"/>
              <p:cNvSpPr txBox="1">
                <a:spLocks noGrp="1"/>
              </p:cNvSpPr>
              <p:nvPr>
                <p:ph type="body" idx="1"/>
              </p:nvPr>
            </p:nvSpPr>
            <p:spPr>
              <a:xfrm>
                <a:off x="1689100" y="3098800"/>
                <a:ext cx="21005800" cy="9296400"/>
              </a:xfrm>
              <a:prstGeom prst="rect">
                <a:avLst/>
              </a:prstGeom>
            </p:spPr>
            <p:txBody>
              <a:bodyPr/>
              <a:lstStyle/>
              <a:p>
                <a:pPr marL="741494" indent="-741494" defTabSz="784225">
                  <a:spcBef>
                    <a:spcPts val="5600"/>
                  </a:spcBef>
                  <a:defRPr sz="5605"/>
                </a:pPr>
                <a:endParaRPr/>
              </a:p>
              <a:p>
                <a:pPr marL="0" indent="0" algn="ctr" defTabSz="784225">
                  <a:spcBef>
                    <a:spcPts val="5600"/>
                  </a:spcBef>
                  <a:buSzTx/>
                  <a:buNone/>
                  <a:defRPr sz="5605"/>
                </a:pPr>
                <a14:m>
                  <m:oMathPara xmlns:m="http://schemas.openxmlformats.org/officeDocument/2006/math">
                    <m:oMathParaPr>
                      <m:jc m:val="center"/>
                    </m:oMathParaPr>
                    <m:oMath xmlns:m="http://schemas.openxmlformats.org/officeDocument/2006/math">
                      <m:r>
                        <a:rPr sz="6750" i="1">
                          <a:solidFill>
                            <a:srgbClr val="000000"/>
                          </a:solidFill>
                          <a:latin typeface="Cambria Math" panose="02040503050406030204" pitchFamily="18" charset="0"/>
                        </a:rPr>
                        <m:t>𝐿𝑂𝐹</m:t>
                      </m:r>
                      <m:r>
                        <a:rPr sz="6750" i="1">
                          <a:solidFill>
                            <a:srgbClr val="000000"/>
                          </a:solidFill>
                          <a:latin typeface="Cambria Math" panose="02040503050406030204" pitchFamily="18" charset="0"/>
                        </a:rPr>
                        <m:t>(</m:t>
                      </m:r>
                      <m:r>
                        <a:rPr sz="6750" i="1">
                          <a:solidFill>
                            <a:srgbClr val="000000"/>
                          </a:solidFill>
                          <a:latin typeface="Cambria Math" panose="02040503050406030204" pitchFamily="18" charset="0"/>
                        </a:rPr>
                        <m:t>𝐴</m:t>
                      </m:r>
                      <m:r>
                        <a:rPr sz="6750" i="1">
                          <a:solidFill>
                            <a:srgbClr val="000000"/>
                          </a:solidFill>
                          <a:latin typeface="Cambria Math" panose="02040503050406030204" pitchFamily="18" charset="0"/>
                        </a:rPr>
                        <m:t>)=</m:t>
                      </m:r>
                      <m:f>
                        <m:fPr>
                          <m:ctrlPr>
                            <a:rPr sz="6750" i="1">
                              <a:solidFill>
                                <a:srgbClr val="000000"/>
                              </a:solidFill>
                              <a:latin typeface="Cambria Math" panose="02040503050406030204" pitchFamily="18" charset="0"/>
                            </a:rPr>
                          </m:ctrlPr>
                        </m:fPr>
                        <m:num>
                          <m:r>
                            <a:rPr sz="6750" i="1">
                              <a:solidFill>
                                <a:srgbClr val="000000"/>
                              </a:solidFill>
                              <a:latin typeface="Cambria Math" panose="02040503050406030204" pitchFamily="18" charset="0"/>
                            </a:rPr>
                            <m:t>𝑎𝑣𝑒𝑟𝑎𝑔𝑒</m:t>
                          </m:r>
                          <m:r>
                            <a:rPr sz="6750" i="1">
                              <a:solidFill>
                                <a:srgbClr val="000000"/>
                              </a:solidFill>
                              <a:latin typeface="Cambria Math" panose="02040503050406030204" pitchFamily="18" charset="0"/>
                            </a:rPr>
                            <m:t>(</m:t>
                          </m:r>
                          <m:r>
                            <a:rPr sz="6750" i="1">
                              <a:solidFill>
                                <a:srgbClr val="000000"/>
                              </a:solidFill>
                              <a:latin typeface="Cambria Math" panose="02040503050406030204" pitchFamily="18" charset="0"/>
                            </a:rPr>
                            <m:t>𝐿𝑅𝐷</m:t>
                          </m:r>
                          <m:r>
                            <a:rPr sz="6750" i="1">
                              <a:solidFill>
                                <a:srgbClr val="000000"/>
                              </a:solidFill>
                              <a:latin typeface="Cambria Math" panose="02040503050406030204" pitchFamily="18" charset="0"/>
                            </a:rPr>
                            <m:t>(</m:t>
                          </m:r>
                          <m:r>
                            <a:rPr sz="6750" i="1">
                              <a:solidFill>
                                <a:srgbClr val="000000"/>
                              </a:solidFill>
                              <a:latin typeface="Cambria Math" panose="02040503050406030204" pitchFamily="18" charset="0"/>
                            </a:rPr>
                            <m:t>𝐵</m:t>
                          </m:r>
                          <m:r>
                            <a:rPr sz="6750" i="1">
                              <a:solidFill>
                                <a:srgbClr val="000000"/>
                              </a:solidFill>
                              <a:latin typeface="Cambria Math" panose="02040503050406030204" pitchFamily="18" charset="0"/>
                            </a:rPr>
                            <m:t>:</m:t>
                          </m:r>
                          <m:r>
                            <a:rPr sz="6750" i="1">
                              <a:solidFill>
                                <a:srgbClr val="000000"/>
                              </a:solidFill>
                              <a:latin typeface="Cambria Math" panose="02040503050406030204" pitchFamily="18" charset="0"/>
                            </a:rPr>
                            <m:t>𝐵</m:t>
                          </m:r>
                          <m:r>
                            <a:rPr sz="6750" i="1">
                              <a:solidFill>
                                <a:srgbClr val="000000"/>
                              </a:solidFill>
                              <a:latin typeface="Cambria Math" panose="02040503050406030204" pitchFamily="18" charset="0"/>
                            </a:rPr>
                            <m:t>∈</m:t>
                          </m:r>
                          <m:sSub>
                            <m:sSubPr>
                              <m:ctrlPr>
                                <a:rPr sz="6750" i="1">
                                  <a:solidFill>
                                    <a:srgbClr val="000000"/>
                                  </a:solidFill>
                                  <a:latin typeface="Cambria Math" panose="02040503050406030204" pitchFamily="18" charset="0"/>
                                </a:rPr>
                              </m:ctrlPr>
                            </m:sSubPr>
                            <m:e>
                              <m:r>
                                <a:rPr sz="6750" i="1">
                                  <a:solidFill>
                                    <a:srgbClr val="000000"/>
                                  </a:solidFill>
                                  <a:latin typeface="Cambria Math" panose="02040503050406030204" pitchFamily="18" charset="0"/>
                                </a:rPr>
                                <m:t>𝑁</m:t>
                              </m:r>
                            </m:e>
                            <m:sub>
                              <m:r>
                                <a:rPr sz="6750" i="1">
                                  <a:solidFill>
                                    <a:srgbClr val="000000"/>
                                  </a:solidFill>
                                  <a:latin typeface="Cambria Math" panose="02040503050406030204" pitchFamily="18" charset="0"/>
                                </a:rPr>
                                <m:t>𝑘</m:t>
                              </m:r>
                            </m:sub>
                          </m:sSub>
                          <m:r>
                            <a:rPr sz="6750" i="1">
                              <a:solidFill>
                                <a:srgbClr val="000000"/>
                              </a:solidFill>
                              <a:latin typeface="Cambria Math" panose="02040503050406030204" pitchFamily="18" charset="0"/>
                            </a:rPr>
                            <m:t>(</m:t>
                          </m:r>
                          <m:r>
                            <a:rPr sz="6750" i="1">
                              <a:solidFill>
                                <a:srgbClr val="000000"/>
                              </a:solidFill>
                              <a:latin typeface="Cambria Math" panose="02040503050406030204" pitchFamily="18" charset="0"/>
                            </a:rPr>
                            <m:t>𝐴</m:t>
                          </m:r>
                          <m:r>
                            <a:rPr sz="6750" i="1">
                              <a:solidFill>
                                <a:srgbClr val="000000"/>
                              </a:solidFill>
                              <a:latin typeface="Cambria Math" panose="02040503050406030204" pitchFamily="18" charset="0"/>
                            </a:rPr>
                            <m:t>))</m:t>
                          </m:r>
                        </m:num>
                        <m:den>
                          <m:r>
                            <a:rPr sz="6750" i="1">
                              <a:solidFill>
                                <a:srgbClr val="000000"/>
                              </a:solidFill>
                              <a:latin typeface="Cambria Math" panose="02040503050406030204" pitchFamily="18" charset="0"/>
                            </a:rPr>
                            <m:t>𝐿𝑅𝐷</m:t>
                          </m:r>
                          <m:r>
                            <a:rPr sz="6750" i="1">
                              <a:solidFill>
                                <a:srgbClr val="000000"/>
                              </a:solidFill>
                              <a:latin typeface="Cambria Math" panose="02040503050406030204" pitchFamily="18" charset="0"/>
                            </a:rPr>
                            <m:t>(</m:t>
                          </m:r>
                          <m:r>
                            <a:rPr sz="6750" i="1">
                              <a:solidFill>
                                <a:srgbClr val="000000"/>
                              </a:solidFill>
                              <a:latin typeface="Cambria Math" panose="02040503050406030204" pitchFamily="18" charset="0"/>
                            </a:rPr>
                            <m:t>𝐴</m:t>
                          </m:r>
                          <m:r>
                            <a:rPr sz="6750" i="1">
                              <a:solidFill>
                                <a:srgbClr val="000000"/>
                              </a:solidFill>
                              <a:latin typeface="Cambria Math" panose="02040503050406030204" pitchFamily="18" charset="0"/>
                            </a:rPr>
                            <m:t>)</m:t>
                          </m:r>
                        </m:den>
                      </m:f>
                    </m:oMath>
                  </m:oMathPara>
                </a14:m>
                <a:endParaRPr/>
              </a:p>
              <a:p>
                <a:pPr marL="741494" indent="-741494" defTabSz="784225">
                  <a:spcBef>
                    <a:spcPts val="5600"/>
                  </a:spcBef>
                  <a:defRPr sz="5605"/>
                </a:pPr>
                <a:r>
                  <a:t>If  LOF ≈ 1 → normal.</a:t>
                </a:r>
              </a:p>
              <a:p>
                <a:pPr marL="741494" indent="-741494" defTabSz="784225">
                  <a:spcBef>
                    <a:spcPts val="5600"/>
                  </a:spcBef>
                  <a:defRPr sz="5605"/>
                </a:pPr>
                <a:r>
                  <a:t>If LOF &gt; 1 → The point with lower density than its neighbors </a:t>
                </a:r>
                <a:br/>
                <a:r>
                  <a:t>                 → possible outlier.</a:t>
                </a:r>
              </a:p>
              <a:p>
                <a:pPr marL="741494" indent="-741494" defTabSz="784225">
                  <a:spcBef>
                    <a:spcPts val="5600"/>
                  </a:spcBef>
                  <a:defRPr sz="5605"/>
                </a:pPr>
                <a:r>
                  <a:t>The higher the LOF, the greater the "rarity" of the point.</a:t>
                </a:r>
              </a:p>
            </p:txBody>
          </p:sp>
        </mc:Choice>
        <mc:Fallback>
          <p:sp>
            <p:nvSpPr>
              <p:cNvPr id="246" name="If  LOF ≈ 1 → normal.…"/>
              <p:cNvSpPr txBox="1">
                <a:spLocks noGrp="1" noRot="1" noChangeAspect="1" noMove="1" noResize="1" noEditPoints="1" noAdjustHandles="1" noChangeArrowheads="1" noChangeShapeType="1" noTextEdit="1"/>
              </p:cNvSpPr>
              <p:nvPr>
                <p:ph type="body" idx="1"/>
              </p:nvPr>
            </p:nvSpPr>
            <p:spPr>
              <a:xfrm>
                <a:off x="1689100" y="3098800"/>
                <a:ext cx="21005800" cy="9296400"/>
              </a:xfrm>
              <a:prstGeom prst="rect">
                <a:avLst/>
              </a:prstGeom>
              <a:blipFill>
                <a:blip r:embed="rId2"/>
                <a:stretch>
                  <a:fillRect l="-2174" b="-2046"/>
                </a:stretch>
              </a:blipFill>
            </p:spPr>
            <p:txBody>
              <a:bodyPr/>
              <a:lstStyle/>
              <a:p>
                <a:r>
                  <a:rPr lang="es-ES">
                    <a:noFill/>
                  </a:rPr>
                  <a:t> </a:t>
                </a:r>
              </a:p>
            </p:txBody>
          </p:sp>
        </mc:Fallback>
      </mc:AlternateContent>
      <p:sp>
        <p:nvSpPr>
          <p:cNvPr id="247" name="Local Outlier Factor (LOF)"/>
          <p:cNvSpPr txBox="1">
            <a:spLocks noGrp="1"/>
          </p:cNvSpPr>
          <p:nvPr>
            <p:ph type="title"/>
          </p:nvPr>
        </p:nvSpPr>
        <p:spPr>
          <a:prstGeom prst="rect">
            <a:avLst/>
          </a:prstGeom>
        </p:spPr>
        <p:txBody>
          <a:bodyPr/>
          <a:lstStyle/>
          <a:p>
            <a:r>
              <a:t>Local Outlier Factor (LOF)</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49" name="vídeo-pegado.png" descr="vídeo-pegado.png"/>
          <p:cNvPicPr>
            <a:picLocks noChangeAspect="1"/>
          </p:cNvPicPr>
          <p:nvPr/>
        </p:nvPicPr>
        <p:blipFill>
          <a:blip r:embed="rId2"/>
          <a:srcRect b="10258"/>
          <a:stretch>
            <a:fillRect/>
          </a:stretch>
        </p:blipFill>
        <p:spPr>
          <a:xfrm>
            <a:off x="6428051" y="2737566"/>
            <a:ext cx="10200297" cy="9153865"/>
          </a:xfrm>
          <a:prstGeom prst="rect">
            <a:avLst/>
          </a:prstGeom>
          <a:ln w="12700">
            <a:miter lim="400000"/>
          </a:ln>
        </p:spPr>
      </p:pic>
      <p:sp>
        <p:nvSpPr>
          <p:cNvPr id="250" name="Local Outlier Factor (LOF)"/>
          <p:cNvSpPr txBox="1">
            <a:spLocks noGrp="1"/>
          </p:cNvSpPr>
          <p:nvPr>
            <p:ph type="title" idx="4294967295"/>
          </p:nvPr>
        </p:nvSpPr>
        <p:spPr>
          <a:prstGeom prst="rect">
            <a:avLst/>
          </a:prstGeom>
        </p:spPr>
        <p:txBody>
          <a:bodyPr/>
          <a:lstStyle/>
          <a:p>
            <a:r>
              <a:t>Local Outlier Factor (LOF)</a:t>
            </a:r>
          </a:p>
        </p:txBody>
      </p:sp>
      <p:sp>
        <p:nvSpPr>
          <p:cNvPr id="251" name="Rectángulo redondeado"/>
          <p:cNvSpPr/>
          <p:nvPr/>
        </p:nvSpPr>
        <p:spPr>
          <a:xfrm>
            <a:off x="12991352" y="11144799"/>
            <a:ext cx="1270001" cy="1270001"/>
          </a:xfrm>
          <a:prstGeom prst="roundRect">
            <a:avLst>
              <a:gd name="adj" fmla="val 15000"/>
            </a:avLst>
          </a:prstGeom>
          <a:solidFill>
            <a:srgbClr val="FFFFFF"/>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3" name="Isolation Forest"/>
          <p:cNvSpPr txBox="1">
            <a:spLocks noGrp="1"/>
          </p:cNvSpPr>
          <p:nvPr>
            <p:ph type="title"/>
          </p:nvPr>
        </p:nvSpPr>
        <p:spPr>
          <a:prstGeom prst="rect">
            <a:avLst/>
          </a:prstGeom>
        </p:spPr>
        <p:txBody>
          <a:bodyPr/>
          <a:lstStyle/>
          <a:p>
            <a:r>
              <a:t>Isolation Forest</a:t>
            </a:r>
          </a:p>
        </p:txBody>
      </p:sp>
      <p:sp>
        <p:nvSpPr>
          <p:cNvPr id="254" name="Idea: Anomalies are easier to &quot;isolate&quot; in decision tree type structures with fewer splits.…"/>
          <p:cNvSpPr txBox="1">
            <a:spLocks noGrp="1"/>
          </p:cNvSpPr>
          <p:nvPr>
            <p:ph type="body" idx="1"/>
          </p:nvPr>
        </p:nvSpPr>
        <p:spPr>
          <a:prstGeom prst="rect">
            <a:avLst/>
          </a:prstGeom>
        </p:spPr>
        <p:txBody>
          <a:bodyPr/>
          <a:lstStyle/>
          <a:p>
            <a:pPr marL="657048" indent="-657048" defTabSz="457200">
              <a:spcBef>
                <a:spcPts val="6400"/>
              </a:spcBef>
              <a:buSzPct val="50000"/>
              <a:buBlip>
                <a:blip r:embed="rId2"/>
              </a:buBlip>
              <a:defRPr sz="4966">
                <a:latin typeface="Verdana"/>
                <a:ea typeface="Verdana"/>
                <a:cs typeface="Verdana"/>
                <a:sym typeface="Verdana"/>
              </a:defRPr>
            </a:pPr>
            <a:r>
              <a:t>Idea: Anomalies are easier to "isolate" in decision tree type structures with fewer splits. </a:t>
            </a:r>
          </a:p>
          <a:p>
            <a:pPr marL="657048" indent="-657048" defTabSz="457200">
              <a:spcBef>
                <a:spcPts val="3500"/>
              </a:spcBef>
              <a:buSzPct val="50000"/>
              <a:buBlip>
                <a:blip r:embed="rId2"/>
              </a:buBlip>
              <a:defRPr sz="4966">
                <a:latin typeface="Verdana"/>
                <a:ea typeface="Verdana"/>
                <a:cs typeface="Verdana"/>
                <a:sym typeface="Verdana"/>
              </a:defRPr>
            </a:pPr>
            <a:r>
              <a:t>Advantages: </a:t>
            </a:r>
          </a:p>
          <a:p>
            <a:pPr marL="1927048" lvl="2" indent="-657048" defTabSz="457200">
              <a:spcBef>
                <a:spcPts val="1500"/>
              </a:spcBef>
              <a:buSzPct val="50000"/>
              <a:buBlip>
                <a:blip r:embed="rId2"/>
              </a:buBlip>
              <a:defRPr sz="4966">
                <a:latin typeface="Verdana"/>
                <a:ea typeface="Verdana"/>
                <a:cs typeface="Verdana"/>
                <a:sym typeface="Verdana"/>
              </a:defRPr>
            </a:pPr>
            <a:r>
              <a:t>Fast and scalable, even with millions of data. </a:t>
            </a:r>
          </a:p>
          <a:p>
            <a:pPr marL="1927048" lvl="2" indent="-657048" defTabSz="457200">
              <a:spcBef>
                <a:spcPts val="1500"/>
              </a:spcBef>
              <a:buSzPct val="50000"/>
              <a:buBlip>
                <a:blip r:embed="rId2"/>
              </a:buBlip>
              <a:defRPr sz="4966">
                <a:latin typeface="Verdana"/>
                <a:ea typeface="Verdana"/>
                <a:cs typeface="Verdana"/>
                <a:sym typeface="Verdana"/>
              </a:defRPr>
            </a:pPr>
            <a:r>
              <a:t>Works well in high dimension. </a:t>
            </a:r>
          </a:p>
          <a:p>
            <a:pPr marL="1927048" lvl="2" indent="-657048" defTabSz="457200">
              <a:spcBef>
                <a:spcPts val="1500"/>
              </a:spcBef>
              <a:buSzPct val="50000"/>
              <a:buBlip>
                <a:blip r:embed="rId2"/>
              </a:buBlip>
              <a:defRPr sz="4966">
                <a:latin typeface="Verdana"/>
                <a:ea typeface="Verdana"/>
                <a:cs typeface="Verdana"/>
                <a:sym typeface="Verdana"/>
              </a:defRPr>
            </a:pPr>
            <a:r>
              <a:t>No need to assume statistical distributions. </a:t>
            </a:r>
          </a:p>
          <a:p>
            <a:pPr marL="1927048" lvl="2" indent="-657048" defTabSz="457200">
              <a:spcBef>
                <a:spcPts val="1500"/>
              </a:spcBef>
              <a:buSzPct val="50000"/>
              <a:buBlip>
                <a:blip r:embed="rId2"/>
              </a:buBlip>
              <a:defRPr sz="4966">
                <a:latin typeface="Verdana"/>
                <a:ea typeface="Verdana"/>
                <a:cs typeface="Verdana"/>
                <a:sym typeface="Verdana"/>
              </a:defRPr>
            </a:pPr>
            <a:r>
              <a:t>Can be applied to unnormalized numerical data.</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 name="Isolation Forest"/>
          <p:cNvSpPr txBox="1">
            <a:spLocks noGrp="1"/>
          </p:cNvSpPr>
          <p:nvPr>
            <p:ph type="title"/>
          </p:nvPr>
        </p:nvSpPr>
        <p:spPr>
          <a:prstGeom prst="rect">
            <a:avLst/>
          </a:prstGeom>
        </p:spPr>
        <p:txBody>
          <a:bodyPr/>
          <a:lstStyle/>
          <a:p>
            <a:r>
              <a:t>Isolation Forest</a:t>
            </a:r>
          </a:p>
        </p:txBody>
      </p:sp>
      <p:sp>
        <p:nvSpPr>
          <p:cNvPr id="257" name="1. Data Set Subsampling…"/>
          <p:cNvSpPr txBox="1">
            <a:spLocks noGrp="1"/>
          </p:cNvSpPr>
          <p:nvPr>
            <p:ph type="body" idx="1"/>
          </p:nvPr>
        </p:nvSpPr>
        <p:spPr>
          <a:prstGeom prst="rect">
            <a:avLst/>
          </a:prstGeom>
        </p:spPr>
        <p:txBody>
          <a:bodyPr/>
          <a:lstStyle/>
          <a:p>
            <a:pPr marL="0" indent="0" defTabSz="553084">
              <a:spcBef>
                <a:spcPts val="3900"/>
              </a:spcBef>
              <a:buSzTx/>
              <a:buNone/>
              <a:defRPr sz="3953"/>
            </a:pPr>
            <a:r>
              <a:t>1. Data Set Subsampling</a:t>
            </a:r>
          </a:p>
          <a:p>
            <a:pPr marL="1373848" lvl="2" indent="-522948" defTabSz="553084">
              <a:spcBef>
                <a:spcPts val="800"/>
              </a:spcBef>
              <a:defRPr sz="3953"/>
            </a:pPr>
            <a:r>
              <a:t>A small sample of the data is randomly selected (for example, 256 points).</a:t>
            </a:r>
          </a:p>
          <a:p>
            <a:pPr marL="1373848" lvl="2" indent="-522948" defTabSz="553084">
              <a:spcBef>
                <a:spcPts val="800"/>
              </a:spcBef>
              <a:defRPr sz="3953"/>
            </a:pPr>
            <a:r>
              <a:t>This reduces the computational cost and is enough to detect outliers.</a:t>
            </a:r>
          </a:p>
          <a:p>
            <a:pPr marL="1373848" lvl="2" indent="-522948" defTabSz="553084">
              <a:spcBef>
                <a:spcPts val="800"/>
              </a:spcBef>
              <a:defRPr sz="3953"/>
            </a:pPr>
            <a:endParaRPr/>
          </a:p>
          <a:p>
            <a:pPr marL="0" indent="0" defTabSz="553084">
              <a:spcBef>
                <a:spcPts val="1200"/>
              </a:spcBef>
              <a:buSzTx/>
              <a:buNone/>
              <a:defRPr sz="3953"/>
            </a:pPr>
            <a:r>
              <a:t>2. Construction of an insulation tree. A binary tree is created for each sample:</a:t>
            </a:r>
          </a:p>
          <a:p>
            <a:pPr marL="1373848" lvl="2" indent="-522948" defTabSz="553084">
              <a:spcBef>
                <a:spcPts val="1200"/>
              </a:spcBef>
              <a:defRPr sz="3953"/>
            </a:pPr>
            <a:r>
              <a:t>Select a random feature (for example, "height").</a:t>
            </a:r>
          </a:p>
          <a:p>
            <a:pPr marL="1373848" lvl="2" indent="-522948" defTabSz="553084">
              <a:spcBef>
                <a:spcPts val="1200"/>
              </a:spcBef>
              <a:defRPr sz="3953"/>
            </a:pPr>
            <a:r>
              <a:t>Choose a random cut-off value between the minimum and maximum of that feature.</a:t>
            </a:r>
          </a:p>
          <a:p>
            <a:pPr marL="1373848" lvl="2" indent="-522948" defTabSz="553084">
              <a:spcBef>
                <a:spcPts val="1200"/>
              </a:spcBef>
              <a:defRPr sz="3953"/>
            </a:pPr>
            <a:r>
              <a:t>Divide the data into two groups: left and right of the cut.</a:t>
            </a:r>
          </a:p>
          <a:p>
            <a:pPr marL="1373848" lvl="2" indent="-522948" defTabSz="553084">
              <a:spcBef>
                <a:spcPts val="1200"/>
              </a:spcBef>
              <a:defRPr sz="3953"/>
            </a:pPr>
            <a:r>
              <a:t>Repeat with each subgroup until:</a:t>
            </a:r>
          </a:p>
          <a:p>
            <a:pPr marL="2224749" lvl="4" indent="-522949" defTabSz="553084">
              <a:spcBef>
                <a:spcPts val="1200"/>
              </a:spcBef>
              <a:defRPr sz="3953"/>
            </a:pPr>
            <a:r>
              <a:t>The node contains only one point (it is "isolated").</a:t>
            </a:r>
          </a:p>
          <a:p>
            <a:pPr marL="2224749" lvl="4" indent="-522949" defTabSz="553084">
              <a:spcBef>
                <a:spcPts val="1200"/>
              </a:spcBef>
              <a:defRPr sz="3953"/>
            </a:pPr>
            <a:r>
              <a:t>A maximum depth is reached.</a:t>
            </a:r>
          </a:p>
          <a:p>
            <a:pPr marL="522948" indent="-522948" defTabSz="553084">
              <a:spcBef>
                <a:spcPts val="3900"/>
              </a:spcBef>
              <a:defRPr sz="3953"/>
            </a:pPr>
            <a:r>
              <a:t>🔁This process is repeated to build many trees (for example, 100).</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9" name="Isolation Forest"/>
          <p:cNvSpPr txBox="1">
            <a:spLocks noGrp="1"/>
          </p:cNvSpPr>
          <p:nvPr>
            <p:ph type="title"/>
          </p:nvPr>
        </p:nvSpPr>
        <p:spPr>
          <a:prstGeom prst="rect">
            <a:avLst/>
          </a:prstGeom>
        </p:spPr>
        <p:txBody>
          <a:bodyPr/>
          <a:lstStyle/>
          <a:p>
            <a:r>
              <a:t>Isolation Forest</a:t>
            </a:r>
          </a:p>
        </p:txBody>
      </p:sp>
      <p:sp>
        <p:nvSpPr>
          <p:cNvPr id="260" name="For each point, the average depth of the point in all trees is calculated.…"/>
          <p:cNvSpPr txBox="1">
            <a:spLocks noGrp="1"/>
          </p:cNvSpPr>
          <p:nvPr>
            <p:ph type="body" idx="1"/>
          </p:nvPr>
        </p:nvSpPr>
        <p:spPr>
          <a:prstGeom prst="rect">
            <a:avLst/>
          </a:prstGeom>
        </p:spPr>
        <p:txBody>
          <a:bodyPr/>
          <a:lstStyle/>
          <a:p>
            <a:pPr marL="0" indent="0" defTabSz="457200">
              <a:spcBef>
                <a:spcPts val="1200"/>
              </a:spcBef>
              <a:buSzTx/>
              <a:buNone/>
              <a:defRPr sz="5900"/>
            </a:pPr>
            <a:r>
              <a:t>For each point, the average depth of the point in all trees is calculated.</a:t>
            </a:r>
          </a:p>
          <a:p>
            <a:pPr marL="0" indent="0" defTabSz="457200">
              <a:spcBef>
                <a:spcPts val="1200"/>
              </a:spcBef>
              <a:buSzTx/>
              <a:buNone/>
              <a:defRPr sz="5900"/>
            </a:pPr>
            <a:endParaRPr/>
          </a:p>
          <a:p>
            <a:pPr marL="0" indent="0" defTabSz="457200">
              <a:spcBef>
                <a:spcPts val="1200"/>
              </a:spcBef>
              <a:buSzTx/>
              <a:buNone/>
              <a:defRPr sz="5900"/>
            </a:pPr>
            <a:r>
              <a:t>An </a:t>
            </a:r>
            <a:r>
              <a:rPr b="1"/>
              <a:t>outlier</a:t>
            </a:r>
            <a:r>
              <a:t> will be isolated with fewer cuts → less depth.</a:t>
            </a:r>
          </a:p>
          <a:p>
            <a:pPr marL="0" indent="0" defTabSz="457200">
              <a:spcBef>
                <a:spcPts val="1200"/>
              </a:spcBef>
              <a:buSzTx/>
              <a:buNone/>
              <a:defRPr sz="5900"/>
            </a:pPr>
            <a:endParaRPr/>
          </a:p>
          <a:p>
            <a:pPr marL="0" indent="0" defTabSz="457200">
              <a:spcBef>
                <a:spcPts val="1200"/>
              </a:spcBef>
              <a:buSzTx/>
              <a:buNone/>
              <a:defRPr sz="5900"/>
            </a:pPr>
            <a:r>
              <a:t>A </a:t>
            </a:r>
            <a:r>
              <a:rPr b="1"/>
              <a:t>normal</a:t>
            </a:r>
            <a:r>
              <a:t> stitch will need more cuts → greater depth.</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62" name="vídeo-pegado.png" descr="vídeo-pegado.png"/>
          <p:cNvPicPr>
            <a:picLocks noChangeAspect="1"/>
          </p:cNvPicPr>
          <p:nvPr/>
        </p:nvPicPr>
        <p:blipFill>
          <a:blip r:embed="rId2"/>
          <a:stretch>
            <a:fillRect/>
          </a:stretch>
        </p:blipFill>
        <p:spPr>
          <a:xfrm>
            <a:off x="4162604" y="22227"/>
            <a:ext cx="13671547" cy="13671546"/>
          </a:xfrm>
          <a:prstGeom prst="rect">
            <a:avLst/>
          </a:prstGeom>
          <a:ln w="12700">
            <a:miter lim="400000"/>
          </a:ln>
        </p:spPr>
      </p:pic>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When data are images"/>
          <p:cNvSpPr txBox="1">
            <a:spLocks noGrp="1"/>
          </p:cNvSpPr>
          <p:nvPr>
            <p:ph type="title"/>
          </p:nvPr>
        </p:nvSpPr>
        <p:spPr>
          <a:prstGeom prst="rect">
            <a:avLst/>
          </a:prstGeom>
        </p:spPr>
        <p:txBody>
          <a:bodyPr/>
          <a:lstStyle/>
          <a:p>
            <a:r>
              <a:t>When data are images</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Rectángulo"/>
          <p:cNvSpPr/>
          <p:nvPr/>
        </p:nvSpPr>
        <p:spPr>
          <a:xfrm>
            <a:off x="2381432" y="2519101"/>
            <a:ext cx="5196406" cy="9186711"/>
          </a:xfrm>
          <a:prstGeom prst="rect">
            <a:avLst/>
          </a:prstGeom>
          <a:solidFill>
            <a:schemeClr val="accent3"/>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267" name="Óvalo"/>
          <p:cNvSpPr/>
          <p:nvPr/>
        </p:nvSpPr>
        <p:spPr>
          <a:xfrm>
            <a:off x="6113391" y="9933255"/>
            <a:ext cx="1009351" cy="1011105"/>
          </a:xfrm>
          <a:prstGeom prst="ellipse">
            <a:avLst/>
          </a:prstGeom>
          <a:solidFill>
            <a:schemeClr val="accent5">
              <a:hueOff val="-82419"/>
              <a:satOff val="-9513"/>
              <a:lumOff val="-16343"/>
            </a:schemeClr>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268" name="Línea"/>
          <p:cNvSpPr/>
          <p:nvPr/>
        </p:nvSpPr>
        <p:spPr>
          <a:xfrm flipV="1">
            <a:off x="3051463" y="2014023"/>
            <a:ext cx="1" cy="10196867"/>
          </a:xfrm>
          <a:prstGeom prst="line">
            <a:avLst/>
          </a:prstGeom>
          <a:ln w="25400">
            <a:solidFill>
              <a:srgbClr val="000000"/>
            </a:solidFill>
            <a:miter lim="400000"/>
          </a:ln>
        </p:spPr>
        <p:txBody>
          <a:bodyPr lIns="50800" tIns="50800" rIns="50800" bIns="50800" anchor="ctr"/>
          <a:lstStyle/>
          <a:p>
            <a:endParaRPr/>
          </a:p>
        </p:txBody>
      </p:sp>
      <p:sp>
        <p:nvSpPr>
          <p:cNvPr id="269" name="Línea"/>
          <p:cNvSpPr/>
          <p:nvPr/>
        </p:nvSpPr>
        <p:spPr>
          <a:xfrm flipV="1">
            <a:off x="3743613" y="2141023"/>
            <a:ext cx="1" cy="10196867"/>
          </a:xfrm>
          <a:prstGeom prst="line">
            <a:avLst/>
          </a:prstGeom>
          <a:ln w="25400">
            <a:solidFill>
              <a:srgbClr val="000000"/>
            </a:solidFill>
            <a:miter lim="400000"/>
          </a:ln>
        </p:spPr>
        <p:txBody>
          <a:bodyPr lIns="50800" tIns="50800" rIns="50800" bIns="50800" anchor="ctr"/>
          <a:lstStyle/>
          <a:p>
            <a:endParaRPr/>
          </a:p>
        </p:txBody>
      </p:sp>
      <p:sp>
        <p:nvSpPr>
          <p:cNvPr id="270" name="Línea"/>
          <p:cNvSpPr/>
          <p:nvPr/>
        </p:nvSpPr>
        <p:spPr>
          <a:xfrm flipV="1">
            <a:off x="5229922" y="2014023"/>
            <a:ext cx="1" cy="10196867"/>
          </a:xfrm>
          <a:prstGeom prst="line">
            <a:avLst/>
          </a:prstGeom>
          <a:ln w="25400">
            <a:solidFill>
              <a:srgbClr val="000000"/>
            </a:solidFill>
            <a:miter lim="400000"/>
          </a:ln>
        </p:spPr>
        <p:txBody>
          <a:bodyPr lIns="50800" tIns="50800" rIns="50800" bIns="50800" anchor="ctr"/>
          <a:lstStyle/>
          <a:p>
            <a:endParaRPr/>
          </a:p>
        </p:txBody>
      </p:sp>
      <p:sp>
        <p:nvSpPr>
          <p:cNvPr id="271" name="Línea"/>
          <p:cNvSpPr/>
          <p:nvPr/>
        </p:nvSpPr>
        <p:spPr>
          <a:xfrm flipV="1">
            <a:off x="4537772" y="2141023"/>
            <a:ext cx="1" cy="10196867"/>
          </a:xfrm>
          <a:prstGeom prst="line">
            <a:avLst/>
          </a:prstGeom>
          <a:ln w="25400">
            <a:solidFill>
              <a:srgbClr val="000000"/>
            </a:solidFill>
            <a:miter lim="400000"/>
          </a:ln>
        </p:spPr>
        <p:txBody>
          <a:bodyPr lIns="50800" tIns="50800" rIns="50800" bIns="50800" anchor="ctr"/>
          <a:lstStyle/>
          <a:p>
            <a:endParaRPr/>
          </a:p>
        </p:txBody>
      </p:sp>
      <p:sp>
        <p:nvSpPr>
          <p:cNvPr id="272" name="Línea"/>
          <p:cNvSpPr/>
          <p:nvPr/>
        </p:nvSpPr>
        <p:spPr>
          <a:xfrm flipV="1">
            <a:off x="6020497" y="2268023"/>
            <a:ext cx="1" cy="10196867"/>
          </a:xfrm>
          <a:prstGeom prst="line">
            <a:avLst/>
          </a:prstGeom>
          <a:ln w="25400">
            <a:solidFill>
              <a:srgbClr val="000000"/>
            </a:solidFill>
            <a:miter lim="400000"/>
          </a:ln>
        </p:spPr>
        <p:txBody>
          <a:bodyPr lIns="50800" tIns="50800" rIns="50800" bIns="50800" anchor="ctr"/>
          <a:lstStyle/>
          <a:p>
            <a:endParaRPr/>
          </a:p>
        </p:txBody>
      </p:sp>
      <p:sp>
        <p:nvSpPr>
          <p:cNvPr id="273" name="Línea"/>
          <p:cNvSpPr/>
          <p:nvPr/>
        </p:nvSpPr>
        <p:spPr>
          <a:xfrm flipV="1">
            <a:off x="6811072" y="2268023"/>
            <a:ext cx="1" cy="10196867"/>
          </a:xfrm>
          <a:prstGeom prst="line">
            <a:avLst/>
          </a:prstGeom>
          <a:ln w="25400">
            <a:solidFill>
              <a:srgbClr val="000000"/>
            </a:solidFill>
            <a:miter lim="400000"/>
          </a:ln>
        </p:spPr>
        <p:txBody>
          <a:bodyPr lIns="50800" tIns="50800" rIns="50800" bIns="50800" anchor="ctr"/>
          <a:lstStyle/>
          <a:p>
            <a:endParaRPr/>
          </a:p>
        </p:txBody>
      </p:sp>
      <p:sp>
        <p:nvSpPr>
          <p:cNvPr id="274" name="Línea"/>
          <p:cNvSpPr/>
          <p:nvPr/>
        </p:nvSpPr>
        <p:spPr>
          <a:xfrm>
            <a:off x="1785183" y="3577059"/>
            <a:ext cx="6388904" cy="1"/>
          </a:xfrm>
          <a:prstGeom prst="line">
            <a:avLst/>
          </a:prstGeom>
          <a:ln w="25400">
            <a:solidFill>
              <a:srgbClr val="000000"/>
            </a:solidFill>
            <a:miter lim="400000"/>
          </a:ln>
        </p:spPr>
        <p:txBody>
          <a:bodyPr lIns="50800" tIns="50800" rIns="50800" bIns="50800" anchor="ctr"/>
          <a:lstStyle/>
          <a:p>
            <a:endParaRPr/>
          </a:p>
        </p:txBody>
      </p:sp>
      <p:sp>
        <p:nvSpPr>
          <p:cNvPr id="275" name="Línea"/>
          <p:cNvSpPr/>
          <p:nvPr/>
        </p:nvSpPr>
        <p:spPr>
          <a:xfrm>
            <a:off x="1772483" y="4491459"/>
            <a:ext cx="6388904" cy="1"/>
          </a:xfrm>
          <a:prstGeom prst="line">
            <a:avLst/>
          </a:prstGeom>
          <a:ln w="25400">
            <a:solidFill>
              <a:srgbClr val="000000"/>
            </a:solidFill>
            <a:miter lim="400000"/>
          </a:ln>
        </p:spPr>
        <p:txBody>
          <a:bodyPr lIns="50800" tIns="50800" rIns="50800" bIns="50800" anchor="ctr"/>
          <a:lstStyle/>
          <a:p>
            <a:endParaRPr/>
          </a:p>
        </p:txBody>
      </p:sp>
      <p:sp>
        <p:nvSpPr>
          <p:cNvPr id="276" name="Línea"/>
          <p:cNvSpPr/>
          <p:nvPr/>
        </p:nvSpPr>
        <p:spPr>
          <a:xfrm>
            <a:off x="1912183" y="5329659"/>
            <a:ext cx="6388904" cy="1"/>
          </a:xfrm>
          <a:prstGeom prst="line">
            <a:avLst/>
          </a:prstGeom>
          <a:ln w="25400">
            <a:solidFill>
              <a:srgbClr val="000000"/>
            </a:solidFill>
            <a:miter lim="400000"/>
          </a:ln>
        </p:spPr>
        <p:txBody>
          <a:bodyPr lIns="50800" tIns="50800" rIns="50800" bIns="50800" anchor="ctr"/>
          <a:lstStyle/>
          <a:p>
            <a:endParaRPr/>
          </a:p>
        </p:txBody>
      </p:sp>
      <p:sp>
        <p:nvSpPr>
          <p:cNvPr id="277" name="Línea"/>
          <p:cNvSpPr/>
          <p:nvPr/>
        </p:nvSpPr>
        <p:spPr>
          <a:xfrm>
            <a:off x="1899483" y="6244059"/>
            <a:ext cx="6388904" cy="1"/>
          </a:xfrm>
          <a:prstGeom prst="line">
            <a:avLst/>
          </a:prstGeom>
          <a:ln w="25400">
            <a:solidFill>
              <a:srgbClr val="000000"/>
            </a:solidFill>
            <a:miter lim="400000"/>
          </a:ln>
        </p:spPr>
        <p:txBody>
          <a:bodyPr lIns="50800" tIns="50800" rIns="50800" bIns="50800" anchor="ctr"/>
          <a:lstStyle/>
          <a:p>
            <a:endParaRPr/>
          </a:p>
        </p:txBody>
      </p:sp>
      <p:sp>
        <p:nvSpPr>
          <p:cNvPr id="278" name="Línea"/>
          <p:cNvSpPr/>
          <p:nvPr/>
        </p:nvSpPr>
        <p:spPr>
          <a:xfrm>
            <a:off x="1715333" y="7082259"/>
            <a:ext cx="6388904" cy="1"/>
          </a:xfrm>
          <a:prstGeom prst="line">
            <a:avLst/>
          </a:prstGeom>
          <a:ln w="25400">
            <a:solidFill>
              <a:srgbClr val="000000"/>
            </a:solidFill>
            <a:miter lim="400000"/>
          </a:ln>
        </p:spPr>
        <p:txBody>
          <a:bodyPr lIns="50800" tIns="50800" rIns="50800" bIns="50800" anchor="ctr"/>
          <a:lstStyle/>
          <a:p>
            <a:endParaRPr/>
          </a:p>
        </p:txBody>
      </p:sp>
      <p:sp>
        <p:nvSpPr>
          <p:cNvPr id="279" name="Línea"/>
          <p:cNvSpPr/>
          <p:nvPr/>
        </p:nvSpPr>
        <p:spPr>
          <a:xfrm>
            <a:off x="1702633" y="7996659"/>
            <a:ext cx="6388904" cy="1"/>
          </a:xfrm>
          <a:prstGeom prst="line">
            <a:avLst/>
          </a:prstGeom>
          <a:ln w="25400">
            <a:solidFill>
              <a:srgbClr val="000000"/>
            </a:solidFill>
            <a:miter lim="400000"/>
          </a:ln>
        </p:spPr>
        <p:txBody>
          <a:bodyPr lIns="50800" tIns="50800" rIns="50800" bIns="50800" anchor="ctr"/>
          <a:lstStyle/>
          <a:p>
            <a:endParaRPr/>
          </a:p>
        </p:txBody>
      </p:sp>
      <p:sp>
        <p:nvSpPr>
          <p:cNvPr id="280" name="Línea"/>
          <p:cNvSpPr/>
          <p:nvPr/>
        </p:nvSpPr>
        <p:spPr>
          <a:xfrm>
            <a:off x="1842333" y="8834859"/>
            <a:ext cx="6388904" cy="1"/>
          </a:xfrm>
          <a:prstGeom prst="line">
            <a:avLst/>
          </a:prstGeom>
          <a:ln w="25400">
            <a:solidFill>
              <a:srgbClr val="000000"/>
            </a:solidFill>
            <a:miter lim="400000"/>
          </a:ln>
        </p:spPr>
        <p:txBody>
          <a:bodyPr lIns="50800" tIns="50800" rIns="50800" bIns="50800" anchor="ctr"/>
          <a:lstStyle/>
          <a:p>
            <a:endParaRPr/>
          </a:p>
        </p:txBody>
      </p:sp>
      <p:sp>
        <p:nvSpPr>
          <p:cNvPr id="281" name="Línea"/>
          <p:cNvSpPr/>
          <p:nvPr/>
        </p:nvSpPr>
        <p:spPr>
          <a:xfrm>
            <a:off x="1829633" y="9749259"/>
            <a:ext cx="6388904" cy="1"/>
          </a:xfrm>
          <a:prstGeom prst="line">
            <a:avLst/>
          </a:prstGeom>
          <a:ln w="25400">
            <a:solidFill>
              <a:srgbClr val="000000"/>
            </a:solidFill>
            <a:miter lim="400000"/>
          </a:ln>
        </p:spPr>
        <p:txBody>
          <a:bodyPr lIns="50800" tIns="50800" rIns="50800" bIns="50800" anchor="ctr"/>
          <a:lstStyle/>
          <a:p>
            <a:endParaRPr/>
          </a:p>
        </p:txBody>
      </p:sp>
      <p:sp>
        <p:nvSpPr>
          <p:cNvPr id="282" name="Línea"/>
          <p:cNvSpPr/>
          <p:nvPr/>
        </p:nvSpPr>
        <p:spPr>
          <a:xfrm>
            <a:off x="1702633" y="10587459"/>
            <a:ext cx="6388904" cy="1"/>
          </a:xfrm>
          <a:prstGeom prst="line">
            <a:avLst/>
          </a:prstGeom>
          <a:ln w="25400">
            <a:solidFill>
              <a:srgbClr val="000000"/>
            </a:solidFill>
            <a:miter lim="400000"/>
          </a:ln>
        </p:spPr>
        <p:txBody>
          <a:bodyPr lIns="50800" tIns="50800" rIns="50800" bIns="50800" anchor="ctr"/>
          <a:lstStyle/>
          <a:p>
            <a:endParaRPr/>
          </a:p>
        </p:txBody>
      </p:sp>
      <p:sp>
        <p:nvSpPr>
          <p:cNvPr id="283" name="Rectángulo"/>
          <p:cNvSpPr/>
          <p:nvPr/>
        </p:nvSpPr>
        <p:spPr>
          <a:xfrm>
            <a:off x="11164161" y="4824107"/>
            <a:ext cx="1009352" cy="1011105"/>
          </a:xfrm>
          <a:prstGeom prst="rect">
            <a:avLst/>
          </a:prstGeom>
          <a:solidFill>
            <a:schemeClr val="accent3"/>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284" name="Línea"/>
          <p:cNvSpPr/>
          <p:nvPr/>
        </p:nvSpPr>
        <p:spPr>
          <a:xfrm flipV="1">
            <a:off x="17792882" y="3585374"/>
            <a:ext cx="1" cy="6545252"/>
          </a:xfrm>
          <a:prstGeom prst="line">
            <a:avLst/>
          </a:prstGeom>
          <a:ln w="50800">
            <a:solidFill>
              <a:schemeClr val="accent1"/>
            </a:solidFill>
            <a:miter lim="400000"/>
          </a:ln>
        </p:spPr>
        <p:txBody>
          <a:bodyPr lIns="50800" tIns="50800" rIns="50800" bIns="50800" anchor="ctr"/>
          <a:lstStyle/>
          <a:p>
            <a:endParaRPr/>
          </a:p>
        </p:txBody>
      </p:sp>
      <p:sp>
        <p:nvSpPr>
          <p:cNvPr id="285" name="Línea"/>
          <p:cNvSpPr/>
          <p:nvPr/>
        </p:nvSpPr>
        <p:spPr>
          <a:xfrm>
            <a:off x="14647257" y="6985000"/>
            <a:ext cx="6545251" cy="0"/>
          </a:xfrm>
          <a:prstGeom prst="line">
            <a:avLst/>
          </a:prstGeom>
          <a:ln w="50800">
            <a:solidFill>
              <a:schemeClr val="accent1"/>
            </a:solidFill>
            <a:miter lim="400000"/>
          </a:ln>
        </p:spPr>
        <p:txBody>
          <a:bodyPr lIns="50800" tIns="50800" rIns="50800" bIns="50800" anchor="ctr"/>
          <a:lstStyle/>
          <a:p>
            <a:endParaRPr/>
          </a:p>
        </p:txBody>
      </p:sp>
      <p:sp>
        <p:nvSpPr>
          <p:cNvPr id="286" name="Línea"/>
          <p:cNvSpPr/>
          <p:nvPr/>
        </p:nvSpPr>
        <p:spPr>
          <a:xfrm>
            <a:off x="12375714" y="5329659"/>
            <a:ext cx="3857019" cy="356997"/>
          </a:xfrm>
          <a:prstGeom prst="line">
            <a:avLst/>
          </a:prstGeom>
          <a:ln w="25400">
            <a:solidFill>
              <a:srgbClr val="000000"/>
            </a:solidFill>
            <a:miter lim="400000"/>
            <a:tailEnd type="triangle"/>
          </a:ln>
        </p:spPr>
        <p:txBody>
          <a:bodyPr lIns="50800" tIns="50800" rIns="50800" bIns="50800" anchor="ctr"/>
          <a:lstStyle/>
          <a:p>
            <a:endParaRPr/>
          </a:p>
        </p:txBody>
      </p:sp>
      <p:sp>
        <p:nvSpPr>
          <p:cNvPr id="287" name="Estrella"/>
          <p:cNvSpPr/>
          <p:nvPr/>
        </p:nvSpPr>
        <p:spPr>
          <a:xfrm>
            <a:off x="16433762" y="5159912"/>
            <a:ext cx="773858"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288" name="Rectángulo"/>
          <p:cNvSpPr/>
          <p:nvPr/>
        </p:nvSpPr>
        <p:spPr>
          <a:xfrm>
            <a:off x="11281909" y="3267517"/>
            <a:ext cx="1009352" cy="1011105"/>
          </a:xfrm>
          <a:prstGeom prst="rect">
            <a:avLst/>
          </a:prstGeom>
          <a:solidFill>
            <a:schemeClr val="accent3"/>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289" name="Línea"/>
          <p:cNvSpPr/>
          <p:nvPr/>
        </p:nvSpPr>
        <p:spPr>
          <a:xfrm>
            <a:off x="12370724" y="3624626"/>
            <a:ext cx="3608291" cy="970803"/>
          </a:xfrm>
          <a:prstGeom prst="line">
            <a:avLst/>
          </a:prstGeom>
          <a:ln w="25400">
            <a:solidFill>
              <a:srgbClr val="000000"/>
            </a:solidFill>
            <a:miter lim="400000"/>
            <a:tailEnd type="triangle"/>
          </a:ln>
        </p:spPr>
        <p:txBody>
          <a:bodyPr lIns="50800" tIns="50800" rIns="50800" bIns="50800" anchor="ctr"/>
          <a:lstStyle/>
          <a:p>
            <a:endParaRPr/>
          </a:p>
        </p:txBody>
      </p:sp>
      <p:sp>
        <p:nvSpPr>
          <p:cNvPr id="290" name="Estrella"/>
          <p:cNvSpPr/>
          <p:nvPr/>
        </p:nvSpPr>
        <p:spPr>
          <a:xfrm>
            <a:off x="16055179" y="4304818"/>
            <a:ext cx="773858"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291" name="Rectángulo"/>
          <p:cNvSpPr/>
          <p:nvPr/>
        </p:nvSpPr>
        <p:spPr>
          <a:xfrm>
            <a:off x="11151491" y="6547703"/>
            <a:ext cx="1009351" cy="1011105"/>
          </a:xfrm>
          <a:prstGeom prst="rect">
            <a:avLst/>
          </a:prstGeom>
          <a:solidFill>
            <a:schemeClr val="accent3"/>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292" name="Línea"/>
          <p:cNvSpPr/>
          <p:nvPr/>
        </p:nvSpPr>
        <p:spPr>
          <a:xfrm flipV="1">
            <a:off x="12363043" y="6466426"/>
            <a:ext cx="2988087" cy="586830"/>
          </a:xfrm>
          <a:prstGeom prst="line">
            <a:avLst/>
          </a:prstGeom>
          <a:ln w="25400">
            <a:solidFill>
              <a:srgbClr val="000000"/>
            </a:solidFill>
            <a:miter lim="400000"/>
            <a:tailEnd type="triangle"/>
          </a:ln>
        </p:spPr>
        <p:txBody>
          <a:bodyPr lIns="50800" tIns="50800" rIns="50800" bIns="50800" anchor="ctr"/>
          <a:lstStyle/>
          <a:p>
            <a:endParaRPr/>
          </a:p>
        </p:txBody>
      </p:sp>
      <p:sp>
        <p:nvSpPr>
          <p:cNvPr id="293" name="Estrella"/>
          <p:cNvSpPr/>
          <p:nvPr/>
        </p:nvSpPr>
        <p:spPr>
          <a:xfrm>
            <a:off x="15551236" y="6021711"/>
            <a:ext cx="773858" cy="733307"/>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pic>
        <p:nvPicPr>
          <p:cNvPr id="294" name="Captura de pantalla 2024-09-13 a las 18.55.07.png" descr="Captura de pantalla 2024-09-13 a las 18.55.07.png"/>
          <p:cNvPicPr>
            <a:picLocks noChangeAspect="1"/>
          </p:cNvPicPr>
          <p:nvPr/>
        </p:nvPicPr>
        <p:blipFill>
          <a:blip r:embed="rId2"/>
          <a:srcRect l="17155" t="9505" b="18758"/>
          <a:stretch>
            <a:fillRect/>
          </a:stretch>
        </p:blipFill>
        <p:spPr>
          <a:xfrm>
            <a:off x="13028315" y="10000372"/>
            <a:ext cx="946759" cy="1011085"/>
          </a:xfrm>
          <a:prstGeom prst="rect">
            <a:avLst/>
          </a:prstGeom>
          <a:ln w="12700">
            <a:miter lim="400000"/>
          </a:ln>
        </p:spPr>
      </p:pic>
      <p:sp>
        <p:nvSpPr>
          <p:cNvPr id="295" name="Línea"/>
          <p:cNvSpPr/>
          <p:nvPr/>
        </p:nvSpPr>
        <p:spPr>
          <a:xfrm flipV="1">
            <a:off x="14110445" y="8934296"/>
            <a:ext cx="1270001" cy="1270001"/>
          </a:xfrm>
          <a:prstGeom prst="line">
            <a:avLst/>
          </a:prstGeom>
          <a:ln w="25400">
            <a:solidFill>
              <a:srgbClr val="000000"/>
            </a:solidFill>
            <a:miter lim="400000"/>
            <a:tailEnd type="triangle"/>
          </a:ln>
        </p:spPr>
        <p:txBody>
          <a:bodyPr lIns="50800" tIns="50800" rIns="50800" bIns="50800" anchor="ctr"/>
          <a:lstStyle/>
          <a:p>
            <a:endParaRPr/>
          </a:p>
        </p:txBody>
      </p:sp>
      <p:sp>
        <p:nvSpPr>
          <p:cNvPr id="296" name="Estrella"/>
          <p:cNvSpPr/>
          <p:nvPr/>
        </p:nvSpPr>
        <p:spPr>
          <a:xfrm>
            <a:off x="15551236" y="8233881"/>
            <a:ext cx="773858" cy="733307"/>
          </a:xfrm>
          <a:prstGeom prst="star5">
            <a:avLst>
              <a:gd name="adj" fmla="val 19100"/>
              <a:gd name="hf" fmla="val 105146"/>
              <a:gd name="vf" fmla="val 110557"/>
            </a:avLst>
          </a:prstGeom>
          <a:solidFill>
            <a:schemeClr val="accent5">
              <a:hueOff val="-82419"/>
              <a:satOff val="-9513"/>
              <a:lumOff val="-16343"/>
            </a:schemeClr>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Línea"/>
          <p:cNvSpPr/>
          <p:nvPr/>
        </p:nvSpPr>
        <p:spPr>
          <a:xfrm flipV="1">
            <a:off x="5137895" y="1929844"/>
            <a:ext cx="1" cy="6545251"/>
          </a:xfrm>
          <a:prstGeom prst="line">
            <a:avLst/>
          </a:prstGeom>
          <a:ln w="50800">
            <a:solidFill>
              <a:schemeClr val="accent1"/>
            </a:solidFill>
            <a:miter lim="400000"/>
          </a:ln>
        </p:spPr>
        <p:txBody>
          <a:bodyPr lIns="50800" tIns="50800" rIns="50800" bIns="50800" anchor="ctr"/>
          <a:lstStyle/>
          <a:p>
            <a:endParaRPr/>
          </a:p>
        </p:txBody>
      </p:sp>
      <p:sp>
        <p:nvSpPr>
          <p:cNvPr id="299" name="Línea"/>
          <p:cNvSpPr/>
          <p:nvPr/>
        </p:nvSpPr>
        <p:spPr>
          <a:xfrm>
            <a:off x="1992270" y="5329469"/>
            <a:ext cx="6545251" cy="1"/>
          </a:xfrm>
          <a:prstGeom prst="line">
            <a:avLst/>
          </a:prstGeom>
          <a:ln w="50800">
            <a:solidFill>
              <a:schemeClr val="accent1"/>
            </a:solidFill>
            <a:miter lim="400000"/>
          </a:ln>
        </p:spPr>
        <p:txBody>
          <a:bodyPr lIns="50800" tIns="50800" rIns="50800" bIns="50800" anchor="ctr"/>
          <a:lstStyle/>
          <a:p>
            <a:endParaRPr/>
          </a:p>
        </p:txBody>
      </p:sp>
      <p:sp>
        <p:nvSpPr>
          <p:cNvPr id="300" name="Estrella"/>
          <p:cNvSpPr/>
          <p:nvPr/>
        </p:nvSpPr>
        <p:spPr>
          <a:xfrm>
            <a:off x="3778775" y="3504382"/>
            <a:ext cx="773857"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01" name="Estrella"/>
          <p:cNvSpPr/>
          <p:nvPr/>
        </p:nvSpPr>
        <p:spPr>
          <a:xfrm>
            <a:off x="3400192" y="2649288"/>
            <a:ext cx="773857" cy="733307"/>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02" name="Estrella"/>
          <p:cNvSpPr/>
          <p:nvPr/>
        </p:nvSpPr>
        <p:spPr>
          <a:xfrm>
            <a:off x="2896249" y="4366180"/>
            <a:ext cx="773857"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03" name="Estrella"/>
          <p:cNvSpPr/>
          <p:nvPr/>
        </p:nvSpPr>
        <p:spPr>
          <a:xfrm>
            <a:off x="2896249" y="6578350"/>
            <a:ext cx="773857" cy="733307"/>
          </a:xfrm>
          <a:prstGeom prst="star5">
            <a:avLst>
              <a:gd name="adj" fmla="val 19100"/>
              <a:gd name="hf" fmla="val 105146"/>
              <a:gd name="vf" fmla="val 110557"/>
            </a:avLst>
          </a:prstGeom>
          <a:solidFill>
            <a:schemeClr val="accent5">
              <a:hueOff val="-82419"/>
              <a:satOff val="-9513"/>
              <a:lumOff val="-16343"/>
            </a:schemeClr>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04" name="Estrella"/>
          <p:cNvSpPr/>
          <p:nvPr/>
        </p:nvSpPr>
        <p:spPr>
          <a:xfrm>
            <a:off x="2951741" y="3322724"/>
            <a:ext cx="773857"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05" name="Estrella"/>
          <p:cNvSpPr/>
          <p:nvPr/>
        </p:nvSpPr>
        <p:spPr>
          <a:xfrm>
            <a:off x="2573158" y="2467629"/>
            <a:ext cx="773856"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06" name="Estrella"/>
          <p:cNvSpPr/>
          <p:nvPr/>
        </p:nvSpPr>
        <p:spPr>
          <a:xfrm>
            <a:off x="2069214" y="4184522"/>
            <a:ext cx="773857"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07" name="Estrella"/>
          <p:cNvSpPr/>
          <p:nvPr/>
        </p:nvSpPr>
        <p:spPr>
          <a:xfrm>
            <a:off x="4004372" y="4184522"/>
            <a:ext cx="773857"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08" name="Estrella"/>
          <p:cNvSpPr/>
          <p:nvPr/>
        </p:nvSpPr>
        <p:spPr>
          <a:xfrm>
            <a:off x="2122393" y="3347281"/>
            <a:ext cx="773857"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09" name="Estrella"/>
          <p:cNvSpPr/>
          <p:nvPr/>
        </p:nvSpPr>
        <p:spPr>
          <a:xfrm>
            <a:off x="3402935" y="6817590"/>
            <a:ext cx="773856" cy="733307"/>
          </a:xfrm>
          <a:prstGeom prst="star5">
            <a:avLst>
              <a:gd name="adj" fmla="val 19100"/>
              <a:gd name="hf" fmla="val 105146"/>
              <a:gd name="vf" fmla="val 110557"/>
            </a:avLst>
          </a:prstGeom>
          <a:solidFill>
            <a:schemeClr val="accent5">
              <a:hueOff val="-82419"/>
              <a:satOff val="-9513"/>
              <a:lumOff val="-16343"/>
            </a:schemeClr>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10" name="Estrella"/>
          <p:cNvSpPr/>
          <p:nvPr/>
        </p:nvSpPr>
        <p:spPr>
          <a:xfrm>
            <a:off x="5619949" y="2246244"/>
            <a:ext cx="773857"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11" name="Estrella"/>
          <p:cNvSpPr/>
          <p:nvPr/>
        </p:nvSpPr>
        <p:spPr>
          <a:xfrm>
            <a:off x="5241366" y="1391149"/>
            <a:ext cx="773857"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12" name="Estrella"/>
          <p:cNvSpPr/>
          <p:nvPr/>
        </p:nvSpPr>
        <p:spPr>
          <a:xfrm>
            <a:off x="4737423" y="3108042"/>
            <a:ext cx="773857"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13" name="Estrella"/>
          <p:cNvSpPr/>
          <p:nvPr/>
        </p:nvSpPr>
        <p:spPr>
          <a:xfrm>
            <a:off x="4792915" y="2064585"/>
            <a:ext cx="773856"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14" name="Estrella"/>
          <p:cNvSpPr/>
          <p:nvPr/>
        </p:nvSpPr>
        <p:spPr>
          <a:xfrm>
            <a:off x="4414332" y="1209491"/>
            <a:ext cx="773856"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15" name="Estrella"/>
          <p:cNvSpPr/>
          <p:nvPr/>
        </p:nvSpPr>
        <p:spPr>
          <a:xfrm>
            <a:off x="3910389" y="2926384"/>
            <a:ext cx="773856" cy="733307"/>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16" name="Estrella"/>
          <p:cNvSpPr/>
          <p:nvPr/>
        </p:nvSpPr>
        <p:spPr>
          <a:xfrm>
            <a:off x="5845546" y="2926384"/>
            <a:ext cx="773857" cy="733307"/>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17" name="Estrella"/>
          <p:cNvSpPr/>
          <p:nvPr/>
        </p:nvSpPr>
        <p:spPr>
          <a:xfrm>
            <a:off x="3963567" y="2089143"/>
            <a:ext cx="773857"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18" name="Estrella"/>
          <p:cNvSpPr/>
          <p:nvPr/>
        </p:nvSpPr>
        <p:spPr>
          <a:xfrm>
            <a:off x="6578597" y="4453657"/>
            <a:ext cx="773857"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19" name="Estrella"/>
          <p:cNvSpPr/>
          <p:nvPr/>
        </p:nvSpPr>
        <p:spPr>
          <a:xfrm>
            <a:off x="6200014" y="3598563"/>
            <a:ext cx="773857"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20" name="Estrella"/>
          <p:cNvSpPr/>
          <p:nvPr/>
        </p:nvSpPr>
        <p:spPr>
          <a:xfrm>
            <a:off x="5696071" y="5315456"/>
            <a:ext cx="773857" cy="733307"/>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21" name="Estrella"/>
          <p:cNvSpPr/>
          <p:nvPr/>
        </p:nvSpPr>
        <p:spPr>
          <a:xfrm>
            <a:off x="5751563" y="4271999"/>
            <a:ext cx="773856"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22" name="Estrella"/>
          <p:cNvSpPr/>
          <p:nvPr/>
        </p:nvSpPr>
        <p:spPr>
          <a:xfrm>
            <a:off x="5372980" y="3416905"/>
            <a:ext cx="773856" cy="733307"/>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23" name="Estrella"/>
          <p:cNvSpPr/>
          <p:nvPr/>
        </p:nvSpPr>
        <p:spPr>
          <a:xfrm>
            <a:off x="4869036" y="5133797"/>
            <a:ext cx="773857"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24" name="Estrella"/>
          <p:cNvSpPr/>
          <p:nvPr/>
        </p:nvSpPr>
        <p:spPr>
          <a:xfrm>
            <a:off x="6804193" y="5133797"/>
            <a:ext cx="773857" cy="733308"/>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25" name="Estrella"/>
          <p:cNvSpPr/>
          <p:nvPr/>
        </p:nvSpPr>
        <p:spPr>
          <a:xfrm>
            <a:off x="4922215" y="4296557"/>
            <a:ext cx="773857" cy="733307"/>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26" name="Flecha"/>
          <p:cNvSpPr/>
          <p:nvPr/>
        </p:nvSpPr>
        <p:spPr>
          <a:xfrm>
            <a:off x="9094579" y="4028210"/>
            <a:ext cx="2771221" cy="1270001"/>
          </a:xfrm>
          <a:prstGeom prst="rightArrow">
            <a:avLst>
              <a:gd name="adj1" fmla="val 32000"/>
              <a:gd name="adj2" fmla="val 64000"/>
            </a:avLst>
          </a:prstGeom>
          <a:solidFill>
            <a:schemeClr val="accent3"/>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pic>
        <p:nvPicPr>
          <p:cNvPr id="327" name="images.png" descr="images.png"/>
          <p:cNvPicPr>
            <a:picLocks noChangeAspect="1"/>
          </p:cNvPicPr>
          <p:nvPr/>
        </p:nvPicPr>
        <p:blipFill>
          <a:blip r:embed="rId2"/>
          <a:stretch>
            <a:fillRect/>
          </a:stretch>
        </p:blipFill>
        <p:spPr>
          <a:xfrm>
            <a:off x="12471072" y="1608027"/>
            <a:ext cx="8985979" cy="5342181"/>
          </a:xfrm>
          <a:prstGeom prst="rect">
            <a:avLst/>
          </a:prstGeom>
          <a:ln w="12700">
            <a:miter lim="400000"/>
          </a:ln>
        </p:spPr>
      </p:pic>
      <p:sp>
        <p:nvSpPr>
          <p:cNvPr id="328" name="Estrella"/>
          <p:cNvSpPr/>
          <p:nvPr/>
        </p:nvSpPr>
        <p:spPr>
          <a:xfrm>
            <a:off x="13677844" y="6181328"/>
            <a:ext cx="509805" cy="521838"/>
          </a:xfrm>
          <a:prstGeom prst="star5">
            <a:avLst>
              <a:gd name="adj" fmla="val 19100"/>
              <a:gd name="hf" fmla="val 105146"/>
              <a:gd name="vf" fmla="val 110557"/>
            </a:avLst>
          </a:prstGeom>
          <a:solidFill>
            <a:schemeClr val="accent5">
              <a:hueOff val="-82419"/>
              <a:satOff val="-9513"/>
              <a:lumOff val="-16343"/>
            </a:schemeClr>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29" name="Estrella"/>
          <p:cNvSpPr/>
          <p:nvPr/>
        </p:nvSpPr>
        <p:spPr>
          <a:xfrm>
            <a:off x="16190546" y="6195943"/>
            <a:ext cx="664818" cy="624450"/>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30" name="Estrella"/>
          <p:cNvSpPr/>
          <p:nvPr/>
        </p:nvSpPr>
        <p:spPr>
          <a:xfrm>
            <a:off x="16631653" y="6195943"/>
            <a:ext cx="664817" cy="624450"/>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31" name="Estrella"/>
          <p:cNvSpPr/>
          <p:nvPr/>
        </p:nvSpPr>
        <p:spPr>
          <a:xfrm>
            <a:off x="17075162" y="6195943"/>
            <a:ext cx="664818" cy="624450"/>
          </a:xfrm>
          <a:prstGeom prst="star5">
            <a:avLst>
              <a:gd name="adj" fmla="val 19100"/>
              <a:gd name="hf" fmla="val 105146"/>
              <a:gd name="vf" fmla="val 110557"/>
            </a:avLst>
          </a:prstGeom>
          <a:solidFill>
            <a:schemeClr val="accent1"/>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pic>
        <p:nvPicPr>
          <p:cNvPr id="332" name="Captura de pantalla 2024-09-13 a las 18.55.07.png" descr="Captura de pantalla 2024-09-13 a las 18.55.07.png"/>
          <p:cNvPicPr>
            <a:picLocks noChangeAspect="1"/>
          </p:cNvPicPr>
          <p:nvPr/>
        </p:nvPicPr>
        <p:blipFill>
          <a:blip r:embed="rId3"/>
          <a:srcRect l="17155" t="9505" b="18758"/>
          <a:stretch>
            <a:fillRect/>
          </a:stretch>
        </p:blipFill>
        <p:spPr>
          <a:xfrm>
            <a:off x="9071877" y="9102457"/>
            <a:ext cx="946760" cy="1011085"/>
          </a:xfrm>
          <a:prstGeom prst="rect">
            <a:avLst/>
          </a:prstGeom>
          <a:ln w="12700">
            <a:miter lim="400000"/>
          </a:ln>
        </p:spPr>
      </p:pic>
      <p:sp>
        <p:nvSpPr>
          <p:cNvPr id="333" name="Anomalous"/>
          <p:cNvSpPr txBox="1"/>
          <p:nvPr/>
        </p:nvSpPr>
        <p:spPr>
          <a:xfrm>
            <a:off x="10391042" y="9203860"/>
            <a:ext cx="3174493" cy="8084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Anomalous</a:t>
            </a:r>
          </a:p>
        </p:txBody>
      </p:sp>
      <p:sp>
        <p:nvSpPr>
          <p:cNvPr id="334" name="}"/>
          <p:cNvSpPr txBox="1"/>
          <p:nvPr/>
        </p:nvSpPr>
        <p:spPr>
          <a:xfrm>
            <a:off x="13617923" y="8833408"/>
            <a:ext cx="1023558" cy="32890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1500"/>
            </a:lvl1pPr>
          </a:lstStyle>
          <a:p>
            <a:r>
              <a:t>}</a:t>
            </a:r>
          </a:p>
        </p:txBody>
      </p:sp>
      <p:sp>
        <p:nvSpPr>
          <p:cNvPr id="335" name="…"/>
          <p:cNvSpPr txBox="1"/>
          <p:nvPr/>
        </p:nvSpPr>
        <p:spPr>
          <a:xfrm>
            <a:off x="10118239" y="10578580"/>
            <a:ext cx="723901" cy="8084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a:t>
            </a:r>
          </a:p>
        </p:txBody>
      </p:sp>
      <p:sp>
        <p:nvSpPr>
          <p:cNvPr id="336" name="Rectángulo"/>
          <p:cNvSpPr/>
          <p:nvPr/>
        </p:nvSpPr>
        <p:spPr>
          <a:xfrm>
            <a:off x="17407571" y="9842931"/>
            <a:ext cx="1795356" cy="1656263"/>
          </a:xfrm>
          <a:prstGeom prst="rect">
            <a:avLst/>
          </a:prstGeom>
          <a:solidFill>
            <a:schemeClr val="accent3"/>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37" name="Óvalo"/>
          <p:cNvSpPr/>
          <p:nvPr/>
        </p:nvSpPr>
        <p:spPr>
          <a:xfrm>
            <a:off x="17793470" y="10165443"/>
            <a:ext cx="1023558" cy="1011239"/>
          </a:xfrm>
          <a:prstGeom prst="ellipse">
            <a:avLst/>
          </a:prstGeom>
          <a:solidFill>
            <a:schemeClr val="accent5">
              <a:hueOff val="-82419"/>
              <a:satOff val="-9513"/>
              <a:lumOff val="-16343"/>
            </a:schemeClr>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
        <p:nvSpPr>
          <p:cNvPr id="338" name="Flecha"/>
          <p:cNvSpPr/>
          <p:nvPr/>
        </p:nvSpPr>
        <p:spPr>
          <a:xfrm>
            <a:off x="15067768" y="10036062"/>
            <a:ext cx="1913514" cy="1270001"/>
          </a:xfrm>
          <a:prstGeom prst="rightArrow">
            <a:avLst>
              <a:gd name="adj1" fmla="val 32000"/>
              <a:gd name="adj2" fmla="val 64000"/>
            </a:avLst>
          </a:prstGeom>
          <a:solidFill>
            <a:schemeClr val="accent3"/>
          </a:solidFill>
          <a:ln w="12700">
            <a:miter lim="400000"/>
          </a:ln>
        </p:spPr>
        <p:txBody>
          <a:bodyPr lIns="0" tIns="0" rIns="0" bIns="0" anchor="ctr"/>
          <a:lstStyle/>
          <a:p>
            <a:pPr algn="ctr">
              <a:spcBef>
                <a:spcPts val="0"/>
              </a:spcBef>
              <a:defRPr sz="3200">
                <a:solidFill>
                  <a:srgbClr val="FFFFFF"/>
                </a:solidFill>
                <a:latin typeface="+mn-lt"/>
                <a:ea typeface="+mn-ea"/>
                <a:cs typeface="+mn-cs"/>
                <a:sym typeface="Helvetica Neue Medium"/>
              </a:defRPr>
            </a:pPr>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Autoencoder"/>
          <p:cNvSpPr txBox="1">
            <a:spLocks noGrp="1"/>
          </p:cNvSpPr>
          <p:nvPr>
            <p:ph type="title"/>
          </p:nvPr>
        </p:nvSpPr>
        <p:spPr>
          <a:prstGeom prst="rect">
            <a:avLst/>
          </a:prstGeom>
        </p:spPr>
        <p:txBody>
          <a:bodyPr/>
          <a:lstStyle/>
          <a:p>
            <a:r>
              <a:t>Autoencoder</a:t>
            </a:r>
          </a:p>
        </p:txBody>
      </p:sp>
      <p:sp>
        <p:nvSpPr>
          <p:cNvPr id="341" name="Compress images…"/>
          <p:cNvSpPr txBox="1">
            <a:spLocks noGrp="1"/>
          </p:cNvSpPr>
          <p:nvPr>
            <p:ph type="body" idx="1"/>
          </p:nvPr>
        </p:nvSpPr>
        <p:spPr>
          <a:prstGeom prst="rect">
            <a:avLst/>
          </a:prstGeom>
        </p:spPr>
        <p:txBody>
          <a:bodyPr/>
          <a:lstStyle/>
          <a:p>
            <a:pPr marL="686858" indent="-686858" defTabSz="726440">
              <a:spcBef>
                <a:spcPts val="5100"/>
              </a:spcBef>
              <a:defRPr sz="5192"/>
            </a:pPr>
            <a:r>
              <a:t>Compress images</a:t>
            </a:r>
          </a:p>
          <a:p>
            <a:pPr marL="686858" indent="-686858" defTabSz="726440">
              <a:spcBef>
                <a:spcPts val="5100"/>
              </a:spcBef>
              <a:defRPr sz="5192"/>
            </a:pPr>
            <a:r>
              <a:t>Two networks, encoder and decoder. The compressed image is in the center and is called "latent representation" or "bottle neck"</a:t>
            </a:r>
          </a:p>
          <a:p>
            <a:pPr marL="686858" indent="-686858" defTabSz="726440">
              <a:spcBef>
                <a:spcPts val="5100"/>
              </a:spcBef>
              <a:defRPr sz="5192"/>
            </a:pPr>
            <a:r>
              <a:t>Utility:</a:t>
            </a:r>
          </a:p>
          <a:p>
            <a:pPr marL="1804458" lvl="2" indent="-686858" defTabSz="726440">
              <a:spcBef>
                <a:spcPts val="0"/>
              </a:spcBef>
              <a:defRPr sz="5192"/>
            </a:pPr>
            <a:r>
              <a:t>Dimensionality reduction</a:t>
            </a:r>
          </a:p>
          <a:p>
            <a:pPr marL="1804458" lvl="2" indent="-686858" defTabSz="726440">
              <a:spcBef>
                <a:spcPts val="0"/>
              </a:spcBef>
              <a:defRPr sz="5192"/>
            </a:pPr>
            <a:r>
              <a:t>Noise removal (Denoising)</a:t>
            </a:r>
          </a:p>
          <a:p>
            <a:pPr marL="1804458" lvl="2" indent="-686858" defTabSz="726440">
              <a:spcBef>
                <a:spcPts val="0"/>
              </a:spcBef>
              <a:defRPr sz="5192"/>
            </a:pPr>
            <a:r>
              <a:rPr b="1"/>
              <a:t>Anomaly detection</a:t>
            </a:r>
            <a:r>
              <a:t>: An autoencoder trained in "normal" data will have difficulty reconstructing "abnormal" data. The difference between input and output (the reconstruction error) will be greater for anomalies, which allows them to be detected.</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3" name="autoencoder-architecture.png" descr="autoencoder-architecture.png"/>
          <p:cNvPicPr>
            <a:picLocks noChangeAspect="1"/>
          </p:cNvPicPr>
          <p:nvPr/>
        </p:nvPicPr>
        <p:blipFill>
          <a:blip r:embed="rId2"/>
          <a:stretch>
            <a:fillRect/>
          </a:stretch>
        </p:blipFill>
        <p:spPr>
          <a:xfrm>
            <a:off x="-64939" y="588735"/>
            <a:ext cx="23799067" cy="11087566"/>
          </a:xfrm>
          <a:prstGeom prst="rect">
            <a:avLst/>
          </a:prstGeom>
          <a:ln w="12700">
            <a:miter lim="400000"/>
          </a:ln>
        </p:spPr>
      </p:pic>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Image encoding + algorithm"/>
          <p:cNvSpPr txBox="1">
            <a:spLocks noGrp="1"/>
          </p:cNvSpPr>
          <p:nvPr>
            <p:ph type="title"/>
          </p:nvPr>
        </p:nvSpPr>
        <p:spPr>
          <a:prstGeom prst="rect">
            <a:avLst/>
          </a:prstGeom>
        </p:spPr>
        <p:txBody>
          <a:bodyPr/>
          <a:lstStyle/>
          <a:p>
            <a:r>
              <a:t>Image encoding + algorithm</a:t>
            </a:r>
          </a:p>
        </p:txBody>
      </p:sp>
      <p:sp>
        <p:nvSpPr>
          <p:cNvPr id="346" name="Autoencoder…"/>
          <p:cNvSpPr txBox="1">
            <a:spLocks noGrp="1"/>
          </p:cNvSpPr>
          <p:nvPr>
            <p:ph type="body" idx="1"/>
          </p:nvPr>
        </p:nvSpPr>
        <p:spPr>
          <a:prstGeom prst="rect">
            <a:avLst/>
          </a:prstGeom>
        </p:spPr>
        <p:txBody>
          <a:bodyPr/>
          <a:lstStyle/>
          <a:p>
            <a:r>
              <a:t>Autoencoder</a:t>
            </a:r>
          </a:p>
          <a:p>
            <a:pPr lvl="2"/>
            <a:r>
              <a:t>High error (relative, problem 1-dim, IQR)</a:t>
            </a:r>
          </a:p>
          <a:p>
            <a:pPr lvl="2"/>
            <a:r>
              <a:t>Gaussian algorithm</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Conclusions"/>
          <p:cNvSpPr txBox="1">
            <a:spLocks noGrp="1"/>
          </p:cNvSpPr>
          <p:nvPr>
            <p:ph type="title"/>
          </p:nvPr>
        </p:nvSpPr>
        <p:spPr>
          <a:prstGeom prst="rect">
            <a:avLst/>
          </a:prstGeom>
        </p:spPr>
        <p:txBody>
          <a:bodyPr/>
          <a:lstStyle/>
          <a:p>
            <a:r>
              <a:t>Conclusions</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Anomaly detection is very useful…"/>
          <p:cNvSpPr txBox="1">
            <a:spLocks noGrp="1"/>
          </p:cNvSpPr>
          <p:nvPr>
            <p:ph type="body" idx="1"/>
          </p:nvPr>
        </p:nvSpPr>
        <p:spPr>
          <a:prstGeom prst="rect">
            <a:avLst/>
          </a:prstGeom>
        </p:spPr>
        <p:txBody>
          <a:bodyPr/>
          <a:lstStyle/>
          <a:p>
            <a:pPr marL="727604" indent="-727604">
              <a:buSzPct val="50000"/>
              <a:buBlip>
                <a:blip r:embed="rId2"/>
              </a:buBlip>
              <a:defRPr sz="5500">
                <a:latin typeface="Verdana"/>
                <a:ea typeface="Verdana"/>
                <a:cs typeface="Verdana"/>
                <a:sym typeface="Verdana"/>
              </a:defRPr>
            </a:pPr>
            <a:r>
              <a:t>Anomaly detection is very useful</a:t>
            </a:r>
          </a:p>
          <a:p>
            <a:pPr marL="727604" indent="-727604">
              <a:buSzPct val="50000"/>
              <a:buBlip>
                <a:blip r:embed="rId2"/>
              </a:buBlip>
              <a:defRPr sz="5500">
                <a:latin typeface="Verdana"/>
                <a:ea typeface="Verdana"/>
                <a:cs typeface="Verdana"/>
                <a:sym typeface="Verdana"/>
              </a:defRPr>
            </a:pPr>
            <a:r>
              <a:t>Algorithms: need to set thresholds</a:t>
            </a:r>
          </a:p>
          <a:p>
            <a:pPr marL="727604" indent="-727604">
              <a:buSzPct val="50000"/>
              <a:buBlip>
                <a:blip r:embed="rId2"/>
              </a:buBlip>
              <a:defRPr sz="5500">
                <a:latin typeface="Verdana"/>
                <a:ea typeface="Verdana"/>
                <a:cs typeface="Verdana"/>
                <a:sym typeface="Verdana"/>
              </a:defRPr>
            </a:pPr>
            <a:r>
              <a:t>If there are anomalous validation examples: use them for thresholds</a:t>
            </a:r>
          </a:p>
          <a:p>
            <a:pPr marL="727604" indent="-727604">
              <a:buSzPct val="50000"/>
              <a:buBlip>
                <a:blip r:embed="rId2"/>
              </a:buBlip>
              <a:defRPr sz="5500">
                <a:latin typeface="Verdana"/>
                <a:ea typeface="Verdana"/>
                <a:cs typeface="Verdana"/>
                <a:sym typeface="Verdana"/>
              </a:defRPr>
            </a:pPr>
            <a:r>
              <a:t>Alternative: Use rules like the 1-dimensional Gaussian or quartile rules</a:t>
            </a:r>
          </a:p>
          <a:p>
            <a:pPr marL="727604" indent="-727604">
              <a:buSzPct val="50000"/>
              <a:buBlip>
                <a:blip r:embed="rId2"/>
              </a:buBlip>
              <a:defRPr sz="5500">
                <a:latin typeface="Verdana"/>
                <a:ea typeface="Verdana"/>
                <a:cs typeface="Verdana"/>
                <a:sym typeface="Verdana"/>
              </a:defRPr>
            </a:pPr>
            <a:r>
              <a:t>In any case, consult findings with end users</a:t>
            </a: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00000"/>
          </a:lnSpc>
          <a:spcBef>
            <a:spcPts val="59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00000"/>
          </a:lnSpc>
          <a:spcBef>
            <a:spcPts val="59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1356</Words>
  <Application>Microsoft Macintosh PowerPoint</Application>
  <PresentationFormat>Personalizado</PresentationFormat>
  <Paragraphs>191</Paragraphs>
  <Slides>46</Slides>
  <Notes>2</Notes>
  <HiddenSlides>8</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46</vt:i4>
      </vt:variant>
    </vt:vector>
  </HeadingPairs>
  <TitlesOfParts>
    <vt:vector size="54" baseType="lpstr">
      <vt:lpstr>Abadi MT Condensed Light</vt:lpstr>
      <vt:lpstr>Arial</vt:lpstr>
      <vt:lpstr>Cambria Math</vt:lpstr>
      <vt:lpstr>Helvetica Neue</vt:lpstr>
      <vt:lpstr>Helvetica Neue Light</vt:lpstr>
      <vt:lpstr>Helvetica Neue Medium</vt:lpstr>
      <vt:lpstr>Verdana</vt:lpstr>
      <vt:lpstr>White</vt:lpstr>
      <vt:lpstr>Presentación de PowerPoint</vt:lpstr>
      <vt:lpstr>Presentación de PowerPoint</vt:lpstr>
      <vt:lpstr>Contents</vt:lpstr>
      <vt:lpstr>Presentación de PowerPoint</vt:lpstr>
      <vt:lpstr>Types of Anomalies</vt:lpstr>
      <vt:lpstr>Applications</vt:lpstr>
      <vt:lpstr>Presentación de PowerPoint</vt:lpstr>
      <vt:lpstr>Agriculture</vt:lpstr>
      <vt:lpstr>Presentación de PowerPoint</vt:lpstr>
      <vt:lpstr>Presentación de PowerPoint</vt:lpstr>
      <vt:lpstr>Presentación de PowerPoint</vt:lpstr>
      <vt:lpstr>Anomaly Detection Challenges</vt:lpstr>
      <vt:lpstr>Presentación de PowerPoint</vt:lpstr>
      <vt:lpstr>Evaluation</vt:lpstr>
      <vt:lpstr>Presentación de PowerPoint</vt:lpstr>
      <vt:lpstr>1 dimension</vt:lpstr>
      <vt:lpstr>Gaussian distribution</vt:lpstr>
      <vt:lpstr>Short table</vt:lpstr>
      <vt:lpstr>Algorithm 1-dim</vt:lpstr>
      <vt:lpstr>Observations Gaussian rule</vt:lpstr>
      <vt:lpstr>Inter-quartile range method (IQR)</vt:lpstr>
      <vt:lpstr>Gaussian m-dimension</vt:lpstr>
      <vt:lpstr>Density estimation</vt:lpstr>
      <vt:lpstr>Anomaly detection algorithm</vt:lpstr>
      <vt:lpstr>Alternative</vt:lpstr>
      <vt:lpstr>Limits</vt:lpstr>
      <vt:lpstr>Presentación de PowerPoint</vt:lpstr>
      <vt:lpstr>Presentación de PowerPoint</vt:lpstr>
      <vt:lpstr>Presentación de PowerPoint</vt:lpstr>
      <vt:lpstr>Other algorithms</vt:lpstr>
      <vt:lpstr>Local Outlier Factor (LOF)</vt:lpstr>
      <vt:lpstr>Local Outlier Factor (LOF)</vt:lpstr>
      <vt:lpstr>Local Outlier Factor (LOF)</vt:lpstr>
      <vt:lpstr>Local Outlier Factor (LOF)</vt:lpstr>
      <vt:lpstr>Isolation Forest</vt:lpstr>
      <vt:lpstr>Isolation Forest</vt:lpstr>
      <vt:lpstr>Isolation Forest</vt:lpstr>
      <vt:lpstr>Presentación de PowerPoint</vt:lpstr>
      <vt:lpstr>When data are images</vt:lpstr>
      <vt:lpstr>Presentación de PowerPoint</vt:lpstr>
      <vt:lpstr>Presentación de PowerPoint</vt:lpstr>
      <vt:lpstr>Autoencoder</vt:lpstr>
      <vt:lpstr>Presentación de PowerPoint</vt:lpstr>
      <vt:lpstr>Image encoding + algorithm</vt:lpstr>
      <vt:lpstr>Conclusions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ANTONIO BAHAMONDE RIONDA</cp:lastModifiedBy>
  <cp:revision>1</cp:revision>
  <dcterms:modified xsi:type="dcterms:W3CDTF">2025-11-26T10:54:05Z</dcterms:modified>
</cp:coreProperties>
</file>