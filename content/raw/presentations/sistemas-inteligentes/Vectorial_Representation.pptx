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36"/>
  </p:notesMasterIdLst>
  <p:sldIdLst>
    <p:sldId id="314"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87" r:id="rId21"/>
    <p:sldId id="279" r:id="rId22"/>
    <p:sldId id="280" r:id="rId23"/>
    <p:sldId id="281" r:id="rId24"/>
    <p:sldId id="282" r:id="rId25"/>
    <p:sldId id="283" r:id="rId26"/>
    <p:sldId id="284" r:id="rId27"/>
    <p:sldId id="285" r:id="rId28"/>
    <p:sldId id="286" r:id="rId29"/>
    <p:sldId id="288" r:id="rId30"/>
    <p:sldId id="289" r:id="rId31"/>
    <p:sldId id="290" r:id="rId32"/>
    <p:sldId id="291" r:id="rId33"/>
    <p:sldId id="292" r:id="rId34"/>
    <p:sldId id="293" r:id="rId35"/>
  </p:sldIdLst>
  <p:sldSz cx="24163338" cy="13723938"/>
  <p:notesSz cx="6858000" cy="9144000"/>
  <p:defaultTextStyle>
    <a:defPPr marL="0" marR="0" indent="0" algn="l" defTabSz="1521994" rtl="0" fontAlgn="auto" latinLnBrk="1" hangingPunct="0">
      <a:lnSpc>
        <a:spcPct val="100000"/>
      </a:lnSpc>
      <a:spcBef>
        <a:spcPts val="0"/>
      </a:spcBef>
      <a:spcAft>
        <a:spcPts val="0"/>
      </a:spcAft>
      <a:buClrTx/>
      <a:buSzTx/>
      <a:buFontTx/>
      <a:buNone/>
      <a:tabLst/>
      <a:defRPr kumimoji="0" sz="2996" b="0" i="0" u="none" strike="noStrike" cap="none" spc="0" normalizeH="0" baseline="0">
        <a:ln>
          <a:noFill/>
        </a:ln>
        <a:solidFill>
          <a:srgbClr val="000000"/>
        </a:solidFill>
        <a:effectLst/>
        <a:uFillTx/>
      </a:defRPr>
    </a:defPPr>
    <a:lvl1pPr marL="0" marR="0" indent="0"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1pPr>
    <a:lvl2pPr marL="0" marR="0" indent="380498"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2pPr>
    <a:lvl3pPr marL="0" marR="0" indent="760995"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3pPr>
    <a:lvl4pPr marL="0" marR="0" indent="1141496"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4pPr>
    <a:lvl5pPr marL="0" marR="0" indent="1521994"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5pPr>
    <a:lvl6pPr marL="0" marR="0" indent="1902491"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6pPr>
    <a:lvl7pPr marL="0" marR="0" indent="2282989"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7pPr>
    <a:lvl8pPr marL="0" marR="0" indent="2663489"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8pPr>
    <a:lvl9pPr marL="0" marR="0" indent="3043987" algn="ctr" defTabSz="972384" rtl="0" fontAlgn="auto" latinLnBrk="0" hangingPunct="0">
      <a:lnSpc>
        <a:spcPct val="100000"/>
      </a:lnSpc>
      <a:spcBef>
        <a:spcPts val="0"/>
      </a:spcBef>
      <a:spcAft>
        <a:spcPts val="0"/>
      </a:spcAft>
      <a:buClrTx/>
      <a:buSzTx/>
      <a:buFontTx/>
      <a:buNone/>
      <a:tabLst/>
      <a:defRPr kumimoji="0" sz="5993" b="0" i="0" u="none" strike="noStrike" cap="none" spc="0" normalizeH="0" baseline="0">
        <a:ln>
          <a:noFill/>
        </a:ln>
        <a:solidFill>
          <a:srgbClr val="000000"/>
        </a:solidFill>
        <a:effectLst/>
        <a:uFillTx/>
        <a:latin typeface="+mn-lt"/>
        <a:ea typeface="+mn-ea"/>
        <a:cs typeface="+mn-cs"/>
        <a:sym typeface="Helvetica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27"/>
    <p:restoredTop sz="94694"/>
  </p:normalViewPr>
  <p:slideViewPr>
    <p:cSldViewPr snapToGrid="0">
      <p:cViewPr varScale="1">
        <p:scale>
          <a:sx n="60" d="100"/>
          <a:sy n="60" d="100"/>
        </p:scale>
        <p:origin x="140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409575" y="685800"/>
            <a:ext cx="603885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760995" latinLnBrk="0">
      <a:lnSpc>
        <a:spcPct val="125000"/>
      </a:lnSpc>
      <a:defRPr sz="3993">
        <a:latin typeface="Avenir"/>
        <a:ea typeface="Avenir"/>
        <a:cs typeface="Avenir"/>
        <a:sym typeface="Avenir Roman"/>
      </a:defRPr>
    </a:lvl1pPr>
    <a:lvl2pPr indent="380498" defTabSz="760995" latinLnBrk="0">
      <a:lnSpc>
        <a:spcPct val="125000"/>
      </a:lnSpc>
      <a:defRPr sz="3993">
        <a:latin typeface="Avenir"/>
        <a:ea typeface="Avenir"/>
        <a:cs typeface="Avenir"/>
        <a:sym typeface="Avenir Roman"/>
      </a:defRPr>
    </a:lvl2pPr>
    <a:lvl3pPr indent="760995" defTabSz="760995" latinLnBrk="0">
      <a:lnSpc>
        <a:spcPct val="125000"/>
      </a:lnSpc>
      <a:defRPr sz="3993">
        <a:latin typeface="Avenir"/>
        <a:ea typeface="Avenir"/>
        <a:cs typeface="Avenir"/>
        <a:sym typeface="Avenir Roman"/>
      </a:defRPr>
    </a:lvl3pPr>
    <a:lvl4pPr indent="1141496" defTabSz="760995" latinLnBrk="0">
      <a:lnSpc>
        <a:spcPct val="125000"/>
      </a:lnSpc>
      <a:defRPr sz="3993">
        <a:latin typeface="Avenir"/>
        <a:ea typeface="Avenir"/>
        <a:cs typeface="Avenir"/>
        <a:sym typeface="Avenir Roman"/>
      </a:defRPr>
    </a:lvl4pPr>
    <a:lvl5pPr indent="1521994" defTabSz="760995" latinLnBrk="0">
      <a:lnSpc>
        <a:spcPct val="125000"/>
      </a:lnSpc>
      <a:defRPr sz="3993">
        <a:latin typeface="Avenir"/>
        <a:ea typeface="Avenir"/>
        <a:cs typeface="Avenir"/>
        <a:sym typeface="Avenir Roman"/>
      </a:defRPr>
    </a:lvl5pPr>
    <a:lvl6pPr indent="1902491" defTabSz="760995" latinLnBrk="0">
      <a:lnSpc>
        <a:spcPct val="125000"/>
      </a:lnSpc>
      <a:defRPr sz="3993">
        <a:latin typeface="Avenir"/>
        <a:ea typeface="Avenir"/>
        <a:cs typeface="Avenir"/>
        <a:sym typeface="Avenir Roman"/>
      </a:defRPr>
    </a:lvl6pPr>
    <a:lvl7pPr indent="2282989" defTabSz="760995" latinLnBrk="0">
      <a:lnSpc>
        <a:spcPct val="125000"/>
      </a:lnSpc>
      <a:defRPr sz="3993">
        <a:latin typeface="Avenir"/>
        <a:ea typeface="Avenir"/>
        <a:cs typeface="Avenir"/>
        <a:sym typeface="Avenir Roman"/>
      </a:defRPr>
    </a:lvl7pPr>
    <a:lvl8pPr indent="2663489" defTabSz="760995" latinLnBrk="0">
      <a:lnSpc>
        <a:spcPct val="125000"/>
      </a:lnSpc>
      <a:defRPr sz="3993">
        <a:latin typeface="Avenir"/>
        <a:ea typeface="Avenir"/>
        <a:cs typeface="Avenir"/>
        <a:sym typeface="Avenir Roman"/>
      </a:defRPr>
    </a:lvl8pPr>
    <a:lvl9pPr indent="3043987" defTabSz="760995" latinLnBrk="0">
      <a:lnSpc>
        <a:spcPct val="125000"/>
      </a:lnSpc>
      <a:defRPr sz="3993">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Shape 268"/>
          <p:cNvSpPr>
            <a:spLocks noGrp="1" noRot="1" noChangeAspect="1"/>
          </p:cNvSpPr>
          <p:nvPr>
            <p:ph type="sldImg"/>
          </p:nvPr>
        </p:nvSpPr>
        <p:spPr>
          <a:xfrm>
            <a:off x="409575" y="685800"/>
            <a:ext cx="6038850" cy="3429000"/>
          </a:xfrm>
          <a:prstGeom prst="rect">
            <a:avLst/>
          </a:prstGeom>
        </p:spPr>
        <p:txBody>
          <a:bodyPr/>
          <a:lstStyle/>
          <a:p>
            <a:endParaRPr/>
          </a:p>
        </p:txBody>
      </p:sp>
      <p:sp>
        <p:nvSpPr>
          <p:cNvPr id="269" name="Shape 269"/>
          <p:cNvSpPr>
            <a:spLocks noGrp="1"/>
          </p:cNvSpPr>
          <p:nvPr>
            <p:ph type="body" sz="quarter" idx="1"/>
          </p:nvPr>
        </p:nvSpPr>
        <p:spPr>
          <a:prstGeom prst="rect">
            <a:avLst/>
          </a:prstGeom>
        </p:spPr>
        <p:txBody>
          <a:bodyPr/>
          <a:lstStyle/>
          <a:p>
            <a:pPr marL="62532" marR="62532" defTabSz="1295400">
              <a:lnSpc>
                <a:spcPct val="100000"/>
              </a:lnSpc>
              <a:spcBef>
                <a:spcPts val="600"/>
              </a:spcBef>
              <a:buClr>
                <a:srgbClr val="000000"/>
              </a:buClr>
              <a:buFont typeface="Times New Roman"/>
              <a:defRPr sz="3000">
                <a:latin typeface="Lucida Grande"/>
                <a:ea typeface="Lucida Grande"/>
                <a:cs typeface="Lucida Grande"/>
                <a:sym typeface="Lucida Grande"/>
              </a:defRPr>
            </a:pPr>
            <a:r>
              <a:rPr sz="1600">
                <a:uFill>
                  <a:solidFill>
                    <a:srgbClr val="000000"/>
                  </a:solidFill>
                </a:uFill>
                <a:latin typeface="Times New Roman"/>
                <a:ea typeface="Times New Roman"/>
                <a:cs typeface="Times New Roman"/>
                <a:sym typeface="Times New Roman"/>
              </a:rPr>
              <a:t>Un segundo ámbito en el que aplicamos el análisis de encuestas de calidad sensorial fue el de la carne de vacuno. La encuesta la había realizado un grupo de La Facultad de Veterinaria de Zaragoza (del área de Producción Animal) [</a:t>
            </a:r>
            <a:r>
              <a:rPr sz="1600" b="1">
                <a:uFill>
                  <a:solidFill>
                    <a:srgbClr val="000000"/>
                  </a:solidFill>
                </a:uFill>
                <a:latin typeface="Times New Roman"/>
                <a:ea typeface="Times New Roman"/>
                <a:cs typeface="Times New Roman"/>
                <a:sym typeface="Times New Roman"/>
              </a:rPr>
              <a:t>Sañudo, 2004</a:t>
            </a:r>
            <a:r>
              <a:rPr sz="1600">
                <a:uFill>
                  <a:solidFill>
                    <a:srgbClr val="000000"/>
                  </a:solidFill>
                </a:uFill>
                <a:latin typeface="Times New Roman"/>
                <a:ea typeface="Times New Roman"/>
                <a:cs typeface="Times New Roman"/>
                <a:sym typeface="Times New Roman"/>
              </a:rPr>
              <a:t>]. Para esta experiencia se contaba con 101 animales de 7 razas españolas. Se sacrificaron de tal forma que aproximadamente la mitad dieron lugar a canales ligeras (con un peso en vivo entre 300 y 350 kg) y la otra mitad fueron canales pesadas (animales de entre 530 y 560 kg de peso en vivo). El conjunto de animales fue uniformemente distribuido entre razas y pesos.</a:t>
            </a:r>
          </a:p>
          <a:p>
            <a:pPr marL="62532" marR="62532" defTabSz="1295400">
              <a:lnSpc>
                <a:spcPct val="100000"/>
              </a:lnSpc>
              <a:spcBef>
                <a:spcPts val="600"/>
              </a:spcBef>
              <a:buClr>
                <a:srgbClr val="000000"/>
              </a:buClr>
              <a:buFont typeface="Times New Roman"/>
              <a:defRPr sz="1600">
                <a:uFill>
                  <a:solidFill>
                    <a:srgbClr val="000000"/>
                  </a:solidFill>
                </a:uFill>
                <a:latin typeface="Times New Roman"/>
                <a:ea typeface="Times New Roman"/>
                <a:cs typeface="Times New Roman"/>
                <a:sym typeface="Times New Roman"/>
              </a:defRPr>
            </a:pPr>
            <a:endParaRPr sz="1600">
              <a:uFill>
                <a:solidFill>
                  <a:srgbClr val="000000"/>
                </a:solidFill>
              </a:uFill>
              <a:latin typeface="Times New Roman"/>
              <a:ea typeface="Times New Roman"/>
              <a:cs typeface="Times New Roman"/>
              <a:sym typeface="Times New Roman"/>
            </a:endParaRPr>
          </a:p>
          <a:p>
            <a:pPr marL="62532" marR="62532" defTabSz="1295400">
              <a:lnSpc>
                <a:spcPct val="100000"/>
              </a:lnSpc>
              <a:spcBef>
                <a:spcPts val="600"/>
              </a:spcBef>
              <a:buClr>
                <a:srgbClr val="000000"/>
              </a:buClr>
              <a:buFont typeface="Times New Roman"/>
              <a:defRPr sz="1600">
                <a:uFill>
                  <a:solidFill>
                    <a:srgbClr val="000000"/>
                  </a:solidFill>
                </a:uFill>
                <a:latin typeface="Times New Roman"/>
                <a:ea typeface="Times New Roman"/>
                <a:cs typeface="Times New Roman"/>
                <a:sym typeface="Times New Roman"/>
              </a:defRPr>
            </a:pPr>
            <a:r>
              <a:t>Como se sabe que el periodo de maduración de la carne es muy importante, por esta razón las muestras de trozos de chuletas que iban a ser calificadas por los consumidores se prepararon con 3 periodos de maduración diferentes: 1, 7 y 21 días. De esta forma se disponía de 303 muestras de carne de vacuno diferentes.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Shape 274"/>
          <p:cNvSpPr>
            <a:spLocks noGrp="1" noRot="1" noChangeAspect="1"/>
          </p:cNvSpPr>
          <p:nvPr>
            <p:ph type="sldImg"/>
          </p:nvPr>
        </p:nvSpPr>
        <p:spPr>
          <a:xfrm>
            <a:off x="409575" y="685800"/>
            <a:ext cx="6038850" cy="3429000"/>
          </a:xfrm>
          <a:prstGeom prst="rect">
            <a:avLst/>
          </a:prstGeom>
        </p:spPr>
        <p:txBody>
          <a:bodyPr/>
          <a:lstStyle/>
          <a:p>
            <a:endParaRPr/>
          </a:p>
        </p:txBody>
      </p:sp>
      <p:sp>
        <p:nvSpPr>
          <p:cNvPr id="275" name="Shape 275"/>
          <p:cNvSpPr>
            <a:spLocks noGrp="1"/>
          </p:cNvSpPr>
          <p:nvPr>
            <p:ph type="body" sz="quarter" idx="1"/>
          </p:nvPr>
        </p:nvSpPr>
        <p:spPr>
          <a:prstGeom prst="rect">
            <a:avLst/>
          </a:prstGeom>
        </p:spPr>
        <p:txBody>
          <a:bodyPr/>
          <a:lstStyle>
            <a:lvl1pPr marL="62532" marR="62532" defTabSz="1295400">
              <a:lnSpc>
                <a:spcPct val="100000"/>
              </a:lnSpc>
              <a:spcBef>
                <a:spcPts val="600"/>
              </a:spcBef>
              <a:buClr>
                <a:srgbClr val="000000"/>
              </a:buClr>
              <a:buFont typeface="Times New Roman"/>
              <a:defRPr sz="1600">
                <a:uFill>
                  <a:solidFill>
                    <a:srgbClr val="000000"/>
                  </a:solidFill>
                </a:uFill>
                <a:latin typeface="Times New Roman"/>
                <a:ea typeface="Times New Roman"/>
                <a:cs typeface="Times New Roman"/>
                <a:sym typeface="Times New Roman"/>
              </a:defRPr>
            </a:lvl1pPr>
          </a:lstStyle>
          <a:p>
            <a:r>
              <a:t>Las razas consideradas constituyen una muestra muy variada de carne de vacuno. Se incluyen razas como la Asturiana de los Valles con animales culones muy musculosos. Pero también se incluyen otras razas rústicas de la España seca, como la Avileña, la Morucha o la Retinta; razas con muchas grasas y huesos.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 name="Shape 375"/>
          <p:cNvSpPr>
            <a:spLocks noGrp="1" noRot="1" noChangeAspect="1"/>
          </p:cNvSpPr>
          <p:nvPr>
            <p:ph type="sldImg"/>
          </p:nvPr>
        </p:nvSpPr>
        <p:spPr>
          <a:xfrm>
            <a:off x="409575" y="685800"/>
            <a:ext cx="6038850" cy="3429000"/>
          </a:xfrm>
          <a:prstGeom prst="rect">
            <a:avLst/>
          </a:prstGeom>
        </p:spPr>
        <p:txBody>
          <a:bodyPr/>
          <a:lstStyle/>
          <a:p>
            <a:endParaRPr/>
          </a:p>
        </p:txBody>
      </p:sp>
      <p:sp>
        <p:nvSpPr>
          <p:cNvPr id="376" name="Shape 376"/>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Shape 380"/>
          <p:cNvSpPr>
            <a:spLocks noGrp="1" noRot="1" noChangeAspect="1"/>
          </p:cNvSpPr>
          <p:nvPr>
            <p:ph type="sldImg"/>
          </p:nvPr>
        </p:nvSpPr>
        <p:spPr>
          <a:xfrm>
            <a:off x="409575" y="685800"/>
            <a:ext cx="6038850" cy="3429000"/>
          </a:xfrm>
          <a:prstGeom prst="rect">
            <a:avLst/>
          </a:prstGeom>
        </p:spPr>
        <p:txBody>
          <a:bodyPr/>
          <a:lstStyle/>
          <a:p>
            <a:endParaRPr/>
          </a:p>
        </p:txBody>
      </p:sp>
      <p:sp>
        <p:nvSpPr>
          <p:cNvPr id="381" name="Shape 381"/>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Shape 386"/>
          <p:cNvSpPr>
            <a:spLocks noGrp="1" noRot="1" noChangeAspect="1"/>
          </p:cNvSpPr>
          <p:nvPr>
            <p:ph type="sldImg"/>
          </p:nvPr>
        </p:nvSpPr>
        <p:spPr>
          <a:xfrm>
            <a:off x="409575" y="685800"/>
            <a:ext cx="6038850" cy="3429000"/>
          </a:xfrm>
          <a:prstGeom prst="rect">
            <a:avLst/>
          </a:prstGeom>
        </p:spPr>
        <p:txBody>
          <a:bodyPr/>
          <a:lstStyle/>
          <a:p>
            <a:endParaRPr/>
          </a:p>
        </p:txBody>
      </p:sp>
      <p:sp>
        <p:nvSpPr>
          <p:cNvPr id="387" name="Shape 387"/>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Shape 391"/>
          <p:cNvSpPr>
            <a:spLocks noGrp="1" noRot="1" noChangeAspect="1"/>
          </p:cNvSpPr>
          <p:nvPr>
            <p:ph type="sldImg"/>
          </p:nvPr>
        </p:nvSpPr>
        <p:spPr>
          <a:xfrm>
            <a:off x="409575" y="685800"/>
            <a:ext cx="6038850" cy="3429000"/>
          </a:xfrm>
          <a:prstGeom prst="rect">
            <a:avLst/>
          </a:prstGeom>
        </p:spPr>
        <p:txBody>
          <a:bodyPr/>
          <a:lstStyle/>
          <a:p>
            <a:endParaRPr/>
          </a:p>
        </p:txBody>
      </p:sp>
      <p:sp>
        <p:nvSpPr>
          <p:cNvPr id="392" name="Shape 392"/>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Shape 409"/>
          <p:cNvSpPr>
            <a:spLocks noGrp="1" noRot="1" noChangeAspect="1"/>
          </p:cNvSpPr>
          <p:nvPr>
            <p:ph type="sldImg"/>
          </p:nvPr>
        </p:nvSpPr>
        <p:spPr>
          <a:xfrm>
            <a:off x="409575" y="685800"/>
            <a:ext cx="6038850" cy="3429000"/>
          </a:xfrm>
          <a:prstGeom prst="rect">
            <a:avLst/>
          </a:prstGeom>
        </p:spPr>
        <p:txBody>
          <a:bodyPr/>
          <a:lstStyle/>
          <a:p>
            <a:endParaRPr/>
          </a:p>
        </p:txBody>
      </p:sp>
      <p:sp>
        <p:nvSpPr>
          <p:cNvPr id="410" name="Shape 410"/>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Shape 417"/>
          <p:cNvSpPr>
            <a:spLocks noGrp="1" noRot="1" noChangeAspect="1"/>
          </p:cNvSpPr>
          <p:nvPr>
            <p:ph type="sldImg"/>
          </p:nvPr>
        </p:nvSpPr>
        <p:spPr>
          <a:xfrm>
            <a:off x="409575" y="685800"/>
            <a:ext cx="6038850" cy="3429000"/>
          </a:xfrm>
          <a:prstGeom prst="rect">
            <a:avLst/>
          </a:prstGeom>
        </p:spPr>
        <p:txBody>
          <a:bodyPr/>
          <a:lstStyle/>
          <a:p>
            <a:endParaRPr/>
          </a:p>
        </p:txBody>
      </p:sp>
      <p:sp>
        <p:nvSpPr>
          <p:cNvPr id="418" name="Shape 418"/>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Shape 427"/>
          <p:cNvSpPr>
            <a:spLocks noGrp="1" noRot="1" noChangeAspect="1"/>
          </p:cNvSpPr>
          <p:nvPr>
            <p:ph type="sldImg"/>
          </p:nvPr>
        </p:nvSpPr>
        <p:spPr>
          <a:xfrm>
            <a:off x="409575" y="685800"/>
            <a:ext cx="6038850" cy="3429000"/>
          </a:xfrm>
          <a:prstGeom prst="rect">
            <a:avLst/>
          </a:prstGeom>
        </p:spPr>
        <p:txBody>
          <a:bodyPr/>
          <a:lstStyle/>
          <a:p>
            <a:endParaRPr/>
          </a:p>
        </p:txBody>
      </p:sp>
      <p:sp>
        <p:nvSpPr>
          <p:cNvPr id="428" name="Shape 428"/>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Shape 435"/>
          <p:cNvSpPr>
            <a:spLocks noGrp="1" noRot="1" noChangeAspect="1"/>
          </p:cNvSpPr>
          <p:nvPr>
            <p:ph type="sldImg"/>
          </p:nvPr>
        </p:nvSpPr>
        <p:spPr>
          <a:xfrm>
            <a:off x="409575" y="685800"/>
            <a:ext cx="6038850" cy="3429000"/>
          </a:xfrm>
          <a:prstGeom prst="rect">
            <a:avLst/>
          </a:prstGeom>
        </p:spPr>
        <p:txBody>
          <a:bodyPr/>
          <a:lstStyle/>
          <a:p>
            <a:endParaRPr/>
          </a:p>
        </p:txBody>
      </p:sp>
      <p:sp>
        <p:nvSpPr>
          <p:cNvPr id="436" name="Shape 436"/>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Shape 465"/>
          <p:cNvSpPr>
            <a:spLocks noGrp="1" noRot="1" noChangeAspect="1"/>
          </p:cNvSpPr>
          <p:nvPr>
            <p:ph type="sldImg"/>
          </p:nvPr>
        </p:nvSpPr>
        <p:spPr>
          <a:xfrm>
            <a:off x="409575" y="685800"/>
            <a:ext cx="6038850" cy="3429000"/>
          </a:xfrm>
          <a:prstGeom prst="rect">
            <a:avLst/>
          </a:prstGeom>
        </p:spPr>
        <p:txBody>
          <a:bodyPr/>
          <a:lstStyle/>
          <a:p>
            <a:endParaRPr/>
          </a:p>
        </p:txBody>
      </p:sp>
      <p:sp>
        <p:nvSpPr>
          <p:cNvPr id="466" name="Shape 466"/>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We follow the approach used in Recommender systems. We have a matrix of grades given by some students to the responses of other students. The goal is to fill this matrix according to the assessments of graders.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Shape 472"/>
          <p:cNvSpPr>
            <a:spLocks noGrp="1" noRot="1" noChangeAspect="1"/>
          </p:cNvSpPr>
          <p:nvPr>
            <p:ph type="sldImg"/>
          </p:nvPr>
        </p:nvSpPr>
        <p:spPr>
          <a:xfrm>
            <a:off x="409575" y="685800"/>
            <a:ext cx="6038850" cy="3429000"/>
          </a:xfrm>
          <a:prstGeom prst="rect">
            <a:avLst/>
          </a:prstGeom>
        </p:spPr>
        <p:txBody>
          <a:bodyPr/>
          <a:lstStyle/>
          <a:p>
            <a:endParaRPr/>
          </a:p>
        </p:txBody>
      </p:sp>
      <p:sp>
        <p:nvSpPr>
          <p:cNvPr id="473" name="Shape 473"/>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To have a vectorial representation of graders and answers, we may use a simple binary codification. The result (in terms of recommendation system) is a collaborative filter: the content of the answers is not used at all.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Shape 490"/>
          <p:cNvSpPr>
            <a:spLocks noGrp="1" noRot="1" noChangeAspect="1"/>
          </p:cNvSpPr>
          <p:nvPr>
            <p:ph type="sldImg"/>
          </p:nvPr>
        </p:nvSpPr>
        <p:spPr>
          <a:xfrm>
            <a:off x="409575" y="685800"/>
            <a:ext cx="6038850" cy="3429000"/>
          </a:xfrm>
          <a:prstGeom prst="rect">
            <a:avLst/>
          </a:prstGeom>
        </p:spPr>
        <p:txBody>
          <a:bodyPr/>
          <a:lstStyle/>
          <a:p>
            <a:endParaRPr/>
          </a:p>
        </p:txBody>
      </p:sp>
      <p:sp>
        <p:nvSpPr>
          <p:cNvPr id="491" name="Shape 491"/>
          <p:cNvSpPr>
            <a:spLocks noGrp="1"/>
          </p:cNvSpPr>
          <p:nvPr>
            <p:ph type="body" sz="quarter" idx="1"/>
          </p:nvPr>
        </p:nvSpPr>
        <p:spPr>
          <a:prstGeom prst="rect">
            <a:avLst/>
          </a:prstGeom>
        </p:spPr>
        <p:txBody>
          <a:bodyPr/>
          <a:lstStyle>
            <a:lvl1pPr>
              <a:lnSpc>
                <a:spcPct val="100000"/>
              </a:lnSpc>
              <a:defRPr sz="2500">
                <a:latin typeface="Calibri"/>
                <a:ea typeface="Calibri"/>
                <a:cs typeface="Calibri"/>
                <a:sym typeface="Calibri"/>
              </a:defRPr>
            </a:lvl1pPr>
          </a:lstStyle>
          <a:p>
            <a:r>
              <a:t>However, we may add content-based codification in answers. In addition to the binary codification we may use the vector space model to represent the answers. Each word of the corpus used by students is then an index, and we simply record if the word is present or not.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Foto (horizontal)">
    <p:spTree>
      <p:nvGrpSpPr>
        <p:cNvPr id="1" name=""/>
        <p:cNvGrpSpPr/>
        <p:nvPr/>
      </p:nvGrpSpPr>
      <p:grpSpPr>
        <a:xfrm>
          <a:off x="0" y="0"/>
          <a:ext cx="0" cy="0"/>
          <a:chOff x="0" y="0"/>
          <a:chExt cx="0" cy="0"/>
        </a:xfrm>
      </p:grpSpPr>
      <p:sp>
        <p:nvSpPr>
          <p:cNvPr id="20" name="Imagen"/>
          <p:cNvSpPr>
            <a:spLocks noGrp="1"/>
          </p:cNvSpPr>
          <p:nvPr>
            <p:ph type="pic" idx="21"/>
          </p:nvPr>
        </p:nvSpPr>
        <p:spPr>
          <a:xfrm>
            <a:off x="2985024" y="893488"/>
            <a:ext cx="18169697" cy="9177895"/>
          </a:xfrm>
          <a:prstGeom prst="rect">
            <a:avLst/>
          </a:prstGeom>
        </p:spPr>
        <p:txBody>
          <a:bodyPr lIns="91439" tIns="45719" rIns="91439" bIns="45719" anchor="t">
            <a:noAutofit/>
          </a:bodyPr>
          <a:lstStyle/>
          <a:p>
            <a:endParaRPr/>
          </a:p>
        </p:txBody>
      </p:sp>
      <p:sp>
        <p:nvSpPr>
          <p:cNvPr id="21" name="Texto del título"/>
          <p:cNvSpPr txBox="1">
            <a:spLocks noGrp="1"/>
          </p:cNvSpPr>
          <p:nvPr>
            <p:ph type="title"/>
          </p:nvPr>
        </p:nvSpPr>
        <p:spPr>
          <a:xfrm>
            <a:off x="2359703" y="9453076"/>
            <a:ext cx="19443937" cy="2001408"/>
          </a:xfrm>
          <a:prstGeom prst="rect">
            <a:avLst/>
          </a:prstGeom>
        </p:spPr>
        <p:txBody>
          <a:bodyPr anchor="b"/>
          <a:lstStyle/>
          <a:p>
            <a:r>
              <a:t>Texto del título</a:t>
            </a:r>
          </a:p>
        </p:txBody>
      </p:sp>
      <p:sp>
        <p:nvSpPr>
          <p:cNvPr id="22" name="Nivel de texto 1…"/>
          <p:cNvSpPr txBox="1">
            <a:spLocks noGrp="1"/>
          </p:cNvSpPr>
          <p:nvPr>
            <p:ph type="body" sz="quarter" idx="1"/>
          </p:nvPr>
        </p:nvSpPr>
        <p:spPr>
          <a:xfrm>
            <a:off x="2359703" y="11525964"/>
            <a:ext cx="19443937" cy="1590405"/>
          </a:xfrm>
          <a:prstGeom prst="rect">
            <a:avLst/>
          </a:prstGeom>
        </p:spPr>
        <p:txBody>
          <a:bodyPr anchor="t"/>
          <a:lstStyle>
            <a:lvl1pPr marL="0" indent="0" algn="ctr">
              <a:spcBef>
                <a:spcPts val="0"/>
              </a:spcBef>
              <a:buSzTx/>
              <a:buNone/>
              <a:defRPr sz="4458">
                <a:latin typeface="+mn-lt"/>
                <a:ea typeface="+mn-ea"/>
                <a:cs typeface="+mn-cs"/>
                <a:sym typeface="Helvetica Light"/>
              </a:defRPr>
            </a:lvl1pPr>
            <a:lvl2pPr marL="0" indent="318530" algn="ctr">
              <a:spcBef>
                <a:spcPts val="0"/>
              </a:spcBef>
              <a:buSzTx/>
              <a:buNone/>
              <a:defRPr sz="4458">
                <a:latin typeface="+mn-lt"/>
                <a:ea typeface="+mn-ea"/>
                <a:cs typeface="+mn-cs"/>
                <a:sym typeface="Helvetica Light"/>
              </a:defRPr>
            </a:lvl2pPr>
            <a:lvl3pPr marL="0" indent="637059" algn="ctr">
              <a:spcBef>
                <a:spcPts val="0"/>
              </a:spcBef>
              <a:buSzTx/>
              <a:buNone/>
              <a:defRPr sz="4458">
                <a:latin typeface="+mn-lt"/>
                <a:ea typeface="+mn-ea"/>
                <a:cs typeface="+mn-cs"/>
                <a:sym typeface="Helvetica Light"/>
              </a:defRPr>
            </a:lvl3pPr>
            <a:lvl4pPr marL="0" indent="955586" algn="ctr">
              <a:spcBef>
                <a:spcPts val="0"/>
              </a:spcBef>
              <a:buSzTx/>
              <a:buNone/>
              <a:defRPr sz="4458">
                <a:latin typeface="+mn-lt"/>
                <a:ea typeface="+mn-ea"/>
                <a:cs typeface="+mn-cs"/>
                <a:sym typeface="Helvetica Light"/>
              </a:defRPr>
            </a:lvl4pPr>
            <a:lvl5pPr marL="0" indent="1274116" algn="ctr">
              <a:spcBef>
                <a:spcPts val="0"/>
              </a:spcBef>
              <a:buSzTx/>
              <a:buNone/>
              <a:defRPr sz="4458">
                <a:latin typeface="+mn-lt"/>
                <a:ea typeface="+mn-ea"/>
                <a:cs typeface="+mn-cs"/>
                <a:sym typeface="Helvetica Light"/>
              </a:defRPr>
            </a:lvl5pPr>
          </a:lstStyle>
          <a:p>
            <a:r>
              <a:t>Nivel de texto 1</a:t>
            </a:r>
          </a:p>
          <a:p>
            <a:pPr lvl="1"/>
            <a:r>
              <a:t>Nivel de texto 2</a:t>
            </a:r>
          </a:p>
          <a:p>
            <a:pPr lvl="2"/>
            <a:r>
              <a:t>Nivel de texto 3</a:t>
            </a:r>
          </a:p>
          <a:p>
            <a:pPr lvl="3"/>
            <a:r>
              <a:t>Nivel de texto 4</a:t>
            </a:r>
          </a:p>
          <a:p>
            <a:pPr lvl="4"/>
            <a:r>
              <a:t>Nivel de texto 5</a:t>
            </a:r>
          </a:p>
        </p:txBody>
      </p:sp>
      <p:sp>
        <p:nvSpPr>
          <p:cNvPr id="23" name="Número de diapositiva"/>
          <p:cNvSpPr txBox="1">
            <a:spLocks noGrp="1"/>
          </p:cNvSpPr>
          <p:nvPr>
            <p:ph type="sldNum" sz="quarter" idx="2"/>
          </p:nvPr>
        </p:nvSpPr>
        <p:spPr>
          <a:xfrm>
            <a:off x="11727525" y="13009149"/>
            <a:ext cx="684691" cy="536091"/>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ítulo (centro)">
    <p:spTree>
      <p:nvGrpSpPr>
        <p:cNvPr id="1" name=""/>
        <p:cNvGrpSpPr/>
        <p:nvPr/>
      </p:nvGrpSpPr>
      <p:grpSpPr>
        <a:xfrm>
          <a:off x="0" y="0"/>
          <a:ext cx="0" cy="0"/>
          <a:chOff x="0" y="0"/>
          <a:chExt cx="0" cy="0"/>
        </a:xfrm>
      </p:grpSpPr>
      <p:sp>
        <p:nvSpPr>
          <p:cNvPr id="30" name="Texto del título"/>
          <p:cNvSpPr txBox="1">
            <a:spLocks noGrp="1"/>
          </p:cNvSpPr>
          <p:nvPr>
            <p:ph type="title"/>
          </p:nvPr>
        </p:nvSpPr>
        <p:spPr>
          <a:xfrm>
            <a:off x="2359703" y="4538909"/>
            <a:ext cx="19443937" cy="4646125"/>
          </a:xfrm>
          <a:prstGeom prst="rect">
            <a:avLst/>
          </a:prstGeom>
        </p:spPr>
        <p:txBody>
          <a:bodyPr/>
          <a:lstStyle/>
          <a:p>
            <a:r>
              <a:t>Texto del título</a:t>
            </a:r>
          </a:p>
        </p:txBody>
      </p:sp>
      <p:sp>
        <p:nvSpPr>
          <p:cNvPr id="3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Foto (vertical)">
    <p:spTree>
      <p:nvGrpSpPr>
        <p:cNvPr id="1" name=""/>
        <p:cNvGrpSpPr/>
        <p:nvPr/>
      </p:nvGrpSpPr>
      <p:grpSpPr>
        <a:xfrm>
          <a:off x="0" y="0"/>
          <a:ext cx="0" cy="0"/>
          <a:chOff x="0" y="0"/>
          <a:chExt cx="0" cy="0"/>
        </a:xfrm>
      </p:grpSpPr>
      <p:sp>
        <p:nvSpPr>
          <p:cNvPr id="38" name="Imagen"/>
          <p:cNvSpPr>
            <a:spLocks noGrp="1"/>
          </p:cNvSpPr>
          <p:nvPr>
            <p:ph type="pic" idx="21"/>
          </p:nvPr>
        </p:nvSpPr>
        <p:spPr>
          <a:xfrm>
            <a:off x="5049760" y="893489"/>
            <a:ext cx="22959891" cy="11591486"/>
          </a:xfrm>
          <a:prstGeom prst="rect">
            <a:avLst/>
          </a:prstGeom>
        </p:spPr>
        <p:txBody>
          <a:bodyPr lIns="91439" tIns="45719" rIns="91439" bIns="45719" anchor="t">
            <a:noAutofit/>
          </a:bodyPr>
          <a:lstStyle/>
          <a:p>
            <a:endParaRPr/>
          </a:p>
        </p:txBody>
      </p:sp>
      <p:sp>
        <p:nvSpPr>
          <p:cNvPr id="39" name="Texto del título"/>
          <p:cNvSpPr txBox="1">
            <a:spLocks noGrp="1"/>
          </p:cNvSpPr>
          <p:nvPr>
            <p:ph type="title"/>
          </p:nvPr>
        </p:nvSpPr>
        <p:spPr>
          <a:xfrm>
            <a:off x="1769775" y="893486"/>
            <a:ext cx="9910745" cy="5611088"/>
          </a:xfrm>
          <a:prstGeom prst="rect">
            <a:avLst/>
          </a:prstGeom>
        </p:spPr>
        <p:txBody>
          <a:bodyPr anchor="b"/>
          <a:lstStyle>
            <a:lvl1pPr>
              <a:defRPr sz="8361"/>
            </a:lvl1pPr>
          </a:lstStyle>
          <a:p>
            <a:r>
              <a:t>Texto del título</a:t>
            </a:r>
          </a:p>
        </p:txBody>
      </p:sp>
      <p:sp>
        <p:nvSpPr>
          <p:cNvPr id="40" name="Nivel de texto 1…"/>
          <p:cNvSpPr txBox="1">
            <a:spLocks noGrp="1"/>
          </p:cNvSpPr>
          <p:nvPr>
            <p:ph type="body" sz="quarter" idx="1"/>
          </p:nvPr>
        </p:nvSpPr>
        <p:spPr>
          <a:xfrm>
            <a:off x="1769775" y="6701144"/>
            <a:ext cx="9910745" cy="5771917"/>
          </a:xfrm>
          <a:prstGeom prst="rect">
            <a:avLst/>
          </a:prstGeom>
        </p:spPr>
        <p:txBody>
          <a:bodyPr anchor="t"/>
          <a:lstStyle>
            <a:lvl1pPr marL="0" indent="0" algn="ctr">
              <a:spcBef>
                <a:spcPts val="0"/>
              </a:spcBef>
              <a:buSzTx/>
              <a:buNone/>
              <a:defRPr sz="4458">
                <a:latin typeface="+mn-lt"/>
                <a:ea typeface="+mn-ea"/>
                <a:cs typeface="+mn-cs"/>
                <a:sym typeface="Helvetica Light"/>
              </a:defRPr>
            </a:lvl1pPr>
            <a:lvl2pPr marL="0" indent="318530" algn="ctr">
              <a:spcBef>
                <a:spcPts val="0"/>
              </a:spcBef>
              <a:buSzTx/>
              <a:buNone/>
              <a:defRPr sz="4458">
                <a:latin typeface="+mn-lt"/>
                <a:ea typeface="+mn-ea"/>
                <a:cs typeface="+mn-cs"/>
                <a:sym typeface="Helvetica Light"/>
              </a:defRPr>
            </a:lvl2pPr>
            <a:lvl3pPr marL="0" indent="637059" algn="ctr">
              <a:spcBef>
                <a:spcPts val="0"/>
              </a:spcBef>
              <a:buSzTx/>
              <a:buNone/>
              <a:defRPr sz="4458">
                <a:latin typeface="+mn-lt"/>
                <a:ea typeface="+mn-ea"/>
                <a:cs typeface="+mn-cs"/>
                <a:sym typeface="Helvetica Light"/>
              </a:defRPr>
            </a:lvl3pPr>
            <a:lvl4pPr marL="0" indent="955586" algn="ctr">
              <a:spcBef>
                <a:spcPts val="0"/>
              </a:spcBef>
              <a:buSzTx/>
              <a:buNone/>
              <a:defRPr sz="4458">
                <a:latin typeface="+mn-lt"/>
                <a:ea typeface="+mn-ea"/>
                <a:cs typeface="+mn-cs"/>
                <a:sym typeface="Helvetica Light"/>
              </a:defRPr>
            </a:lvl4pPr>
            <a:lvl5pPr marL="0" indent="1274116" algn="ctr">
              <a:spcBef>
                <a:spcPts val="0"/>
              </a:spcBef>
              <a:buSzTx/>
              <a:buNone/>
              <a:defRPr sz="4458">
                <a:latin typeface="+mn-lt"/>
                <a:ea typeface="+mn-ea"/>
                <a:cs typeface="+mn-cs"/>
                <a:sym typeface="Helvetica Light"/>
              </a:defRPr>
            </a:lvl5pPr>
          </a:lstStyle>
          <a:p>
            <a:r>
              <a:t>Nivel de texto 1</a:t>
            </a:r>
          </a:p>
          <a:p>
            <a:pPr lvl="1"/>
            <a:r>
              <a:t>Nivel de texto 2</a:t>
            </a:r>
          </a:p>
          <a:p>
            <a:pPr lvl="2"/>
            <a:r>
              <a:t>Nivel de texto 3</a:t>
            </a:r>
          </a:p>
          <a:p>
            <a:pPr lvl="3"/>
            <a:r>
              <a:t>Nivel de texto 4</a:t>
            </a:r>
          </a:p>
          <a:p>
            <a:pPr lvl="4"/>
            <a:r>
              <a:t>Nivel de texto 5</a:t>
            </a:r>
          </a:p>
        </p:txBody>
      </p:sp>
      <p:sp>
        <p:nvSpPr>
          <p:cNvPr id="4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48" name="Texto del título"/>
          <p:cNvSpPr txBox="1">
            <a:spLocks noGrp="1"/>
          </p:cNvSpPr>
          <p:nvPr>
            <p:ph type="title"/>
          </p:nvPr>
        </p:nvSpPr>
        <p:spPr>
          <a:prstGeom prst="rect">
            <a:avLst/>
          </a:prstGeom>
        </p:spPr>
        <p:txBody>
          <a:bodyPr/>
          <a:lstStyle/>
          <a:p>
            <a:r>
              <a:t>Texto del título</a:t>
            </a:r>
          </a:p>
        </p:txBody>
      </p:sp>
      <p:sp>
        <p:nvSpPr>
          <p:cNvPr id="49"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ítulo y viñetas">
    <p:spTree>
      <p:nvGrpSpPr>
        <p:cNvPr id="1" name=""/>
        <p:cNvGrpSpPr/>
        <p:nvPr/>
      </p:nvGrpSpPr>
      <p:grpSpPr>
        <a:xfrm>
          <a:off x="0" y="0"/>
          <a:ext cx="0" cy="0"/>
          <a:chOff x="0" y="0"/>
          <a:chExt cx="0" cy="0"/>
        </a:xfrm>
      </p:grpSpPr>
      <p:sp>
        <p:nvSpPr>
          <p:cNvPr id="56" name="Texto del título"/>
          <p:cNvSpPr txBox="1">
            <a:spLocks noGrp="1"/>
          </p:cNvSpPr>
          <p:nvPr>
            <p:ph type="title"/>
          </p:nvPr>
        </p:nvSpPr>
        <p:spPr>
          <a:prstGeom prst="rect">
            <a:avLst/>
          </a:prstGeom>
        </p:spPr>
        <p:txBody>
          <a:bodyPr/>
          <a:lstStyle/>
          <a:p>
            <a:r>
              <a:t>Texto del título</a:t>
            </a:r>
          </a:p>
        </p:txBody>
      </p:sp>
      <p:sp>
        <p:nvSpPr>
          <p:cNvPr id="57" name="Nivel de texto 1…"/>
          <p:cNvSpPr txBox="1">
            <a:spLocks noGrp="1"/>
          </p:cNvSpPr>
          <p:nvPr>
            <p:ph type="body" idx="1"/>
          </p:nvPr>
        </p:nvSpPr>
        <p:spPr>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5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viñetas y foto">
    <p:spTree>
      <p:nvGrpSpPr>
        <p:cNvPr id="1" name=""/>
        <p:cNvGrpSpPr/>
        <p:nvPr/>
      </p:nvGrpSpPr>
      <p:grpSpPr>
        <a:xfrm>
          <a:off x="0" y="0"/>
          <a:ext cx="0" cy="0"/>
          <a:chOff x="0" y="0"/>
          <a:chExt cx="0" cy="0"/>
        </a:xfrm>
      </p:grpSpPr>
      <p:sp>
        <p:nvSpPr>
          <p:cNvPr id="65" name="Imagen"/>
          <p:cNvSpPr>
            <a:spLocks noGrp="1"/>
          </p:cNvSpPr>
          <p:nvPr>
            <p:ph type="pic" idx="21"/>
          </p:nvPr>
        </p:nvSpPr>
        <p:spPr>
          <a:xfrm>
            <a:off x="8424133" y="3663292"/>
            <a:ext cx="17520780" cy="8845506"/>
          </a:xfrm>
          <a:prstGeom prst="rect">
            <a:avLst/>
          </a:prstGeom>
        </p:spPr>
        <p:txBody>
          <a:bodyPr lIns="91439" tIns="45719" rIns="91439" bIns="45719" anchor="t">
            <a:noAutofit/>
          </a:bodyPr>
          <a:lstStyle/>
          <a:p>
            <a:endParaRPr/>
          </a:p>
        </p:txBody>
      </p:sp>
      <p:sp>
        <p:nvSpPr>
          <p:cNvPr id="66" name="Texto del título"/>
          <p:cNvSpPr txBox="1">
            <a:spLocks noGrp="1"/>
          </p:cNvSpPr>
          <p:nvPr>
            <p:ph type="title"/>
          </p:nvPr>
        </p:nvSpPr>
        <p:spPr>
          <a:xfrm>
            <a:off x="1769778" y="553962"/>
            <a:ext cx="20623787" cy="3037850"/>
          </a:xfrm>
          <a:prstGeom prst="rect">
            <a:avLst/>
          </a:prstGeom>
        </p:spPr>
        <p:txBody>
          <a:bodyPr/>
          <a:lstStyle/>
          <a:p>
            <a:r>
              <a:t>Texto del título</a:t>
            </a:r>
          </a:p>
        </p:txBody>
      </p:sp>
      <p:sp>
        <p:nvSpPr>
          <p:cNvPr id="67" name="Nivel de texto 1…"/>
          <p:cNvSpPr txBox="1">
            <a:spLocks noGrp="1"/>
          </p:cNvSpPr>
          <p:nvPr>
            <p:ph type="body" sz="half" idx="1"/>
          </p:nvPr>
        </p:nvSpPr>
        <p:spPr>
          <a:xfrm>
            <a:off x="1769775" y="3663292"/>
            <a:ext cx="9910745" cy="8845506"/>
          </a:xfrm>
          <a:prstGeom prst="rect">
            <a:avLst/>
          </a:prstGeom>
        </p:spPr>
        <p:txBody>
          <a:bodyPr/>
          <a:lstStyle>
            <a:lvl1pPr marL="477793" indent="-477793">
              <a:spcBef>
                <a:spcPts val="4458"/>
              </a:spcBef>
              <a:defRPr sz="3900">
                <a:latin typeface="+mn-lt"/>
                <a:ea typeface="+mn-ea"/>
                <a:cs typeface="+mn-cs"/>
                <a:sym typeface="Helvetica Light"/>
              </a:defRPr>
            </a:lvl1pPr>
            <a:lvl2pPr marL="955586" indent="-477793">
              <a:spcBef>
                <a:spcPts val="4458"/>
              </a:spcBef>
              <a:defRPr sz="3900">
                <a:latin typeface="+mn-lt"/>
                <a:ea typeface="+mn-ea"/>
                <a:cs typeface="+mn-cs"/>
                <a:sym typeface="Helvetica Light"/>
              </a:defRPr>
            </a:lvl2pPr>
            <a:lvl3pPr marL="1433382" indent="-477793">
              <a:spcBef>
                <a:spcPts val="4458"/>
              </a:spcBef>
              <a:defRPr sz="3900">
                <a:latin typeface="+mn-lt"/>
                <a:ea typeface="+mn-ea"/>
                <a:cs typeface="+mn-cs"/>
                <a:sym typeface="Helvetica Light"/>
              </a:defRPr>
            </a:lvl3pPr>
            <a:lvl4pPr marL="1911175" indent="-477793">
              <a:spcBef>
                <a:spcPts val="4458"/>
              </a:spcBef>
              <a:defRPr sz="3900">
                <a:latin typeface="+mn-lt"/>
                <a:ea typeface="+mn-ea"/>
                <a:cs typeface="+mn-cs"/>
                <a:sym typeface="Helvetica Light"/>
              </a:defRPr>
            </a:lvl4pPr>
            <a:lvl5pPr marL="2388968" indent="-477793">
              <a:spcBef>
                <a:spcPts val="4458"/>
              </a:spcBef>
              <a:defRPr sz="3900">
                <a:latin typeface="+mn-lt"/>
                <a:ea typeface="+mn-ea"/>
                <a:cs typeface="+mn-cs"/>
                <a:sym typeface="Helvetica Light"/>
              </a:defRPr>
            </a:lvl5pPr>
          </a:lstStyle>
          <a:p>
            <a:r>
              <a:t>Nivel de texto 1</a:t>
            </a:r>
          </a:p>
          <a:p>
            <a:pPr lvl="1"/>
            <a:r>
              <a:t>Nivel de texto 2</a:t>
            </a:r>
          </a:p>
          <a:p>
            <a:pPr lvl="2"/>
            <a:r>
              <a:t>Nivel de texto 3</a:t>
            </a:r>
          </a:p>
          <a:p>
            <a:pPr lvl="3"/>
            <a:r>
              <a:t>Nivel de texto 4</a:t>
            </a:r>
          </a:p>
          <a:p>
            <a:pPr lvl="4"/>
            <a:r>
              <a:t>Nivel de texto 5</a:t>
            </a:r>
          </a:p>
        </p:txBody>
      </p:sp>
      <p:sp>
        <p:nvSpPr>
          <p:cNvPr id="6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iñetas">
    <p:spTree>
      <p:nvGrpSpPr>
        <p:cNvPr id="1" name=""/>
        <p:cNvGrpSpPr/>
        <p:nvPr/>
      </p:nvGrpSpPr>
      <p:grpSpPr>
        <a:xfrm>
          <a:off x="0" y="0"/>
          <a:ext cx="0" cy="0"/>
          <a:chOff x="0" y="0"/>
          <a:chExt cx="0" cy="0"/>
        </a:xfrm>
      </p:grpSpPr>
      <p:sp>
        <p:nvSpPr>
          <p:cNvPr id="75" name="Nivel de texto 1…"/>
          <p:cNvSpPr txBox="1">
            <a:spLocks noGrp="1"/>
          </p:cNvSpPr>
          <p:nvPr>
            <p:ph type="body" idx="1"/>
          </p:nvPr>
        </p:nvSpPr>
        <p:spPr>
          <a:xfrm>
            <a:off x="1769778" y="1786974"/>
            <a:ext cx="20623787" cy="10149996"/>
          </a:xfrm>
          <a:prstGeom prst="rect">
            <a:avLst/>
          </a:prstGeom>
        </p:spPr>
        <p:txBody>
          <a:bodyPr/>
          <a:lstStyle/>
          <a:p>
            <a:r>
              <a:t>Nivel de texto 1</a:t>
            </a:r>
          </a:p>
          <a:p>
            <a:pPr lvl="1"/>
            <a:r>
              <a:t>Nivel de texto 2</a:t>
            </a:r>
          </a:p>
          <a:p>
            <a:pPr lvl="2"/>
            <a:r>
              <a:t>Nivel de texto 3</a:t>
            </a:r>
          </a:p>
          <a:p>
            <a:pPr lvl="3"/>
            <a:r>
              <a:t>Nivel de texto 4</a:t>
            </a:r>
          </a:p>
          <a:p>
            <a:pPr lvl="4"/>
            <a:r>
              <a:t>Nivel de texto 5</a:t>
            </a:r>
          </a:p>
        </p:txBody>
      </p:sp>
      <p:sp>
        <p:nvSpPr>
          <p:cNvPr id="7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Foto (3)">
    <p:spTree>
      <p:nvGrpSpPr>
        <p:cNvPr id="1" name=""/>
        <p:cNvGrpSpPr/>
        <p:nvPr/>
      </p:nvGrpSpPr>
      <p:grpSpPr>
        <a:xfrm>
          <a:off x="0" y="0"/>
          <a:ext cx="0" cy="0"/>
          <a:chOff x="0" y="0"/>
          <a:chExt cx="0" cy="0"/>
        </a:xfrm>
      </p:grpSpPr>
      <p:sp>
        <p:nvSpPr>
          <p:cNvPr id="83" name="Imagen"/>
          <p:cNvSpPr>
            <a:spLocks noGrp="1"/>
          </p:cNvSpPr>
          <p:nvPr>
            <p:ph type="pic" idx="21"/>
          </p:nvPr>
        </p:nvSpPr>
        <p:spPr>
          <a:xfrm>
            <a:off x="-4412638" y="1250881"/>
            <a:ext cx="22251979" cy="11234093"/>
          </a:xfrm>
          <a:prstGeom prst="rect">
            <a:avLst/>
          </a:prstGeom>
        </p:spPr>
        <p:txBody>
          <a:bodyPr lIns="91439" tIns="45719" rIns="91439" bIns="45719" anchor="t">
            <a:noAutofit/>
          </a:bodyPr>
          <a:lstStyle/>
          <a:p>
            <a:endParaRPr/>
          </a:p>
        </p:txBody>
      </p:sp>
      <p:sp>
        <p:nvSpPr>
          <p:cNvPr id="84" name="Imagen"/>
          <p:cNvSpPr>
            <a:spLocks noGrp="1"/>
          </p:cNvSpPr>
          <p:nvPr>
            <p:ph type="pic" sz="quarter" idx="22"/>
          </p:nvPr>
        </p:nvSpPr>
        <p:spPr>
          <a:xfrm>
            <a:off x="12412028" y="7073237"/>
            <a:ext cx="11255776" cy="5685531"/>
          </a:xfrm>
          <a:prstGeom prst="rect">
            <a:avLst/>
          </a:prstGeom>
        </p:spPr>
        <p:txBody>
          <a:bodyPr lIns="91439" tIns="45719" rIns="91439" bIns="45719" anchor="t">
            <a:noAutofit/>
          </a:bodyPr>
          <a:lstStyle/>
          <a:p>
            <a:endParaRPr/>
          </a:p>
        </p:txBody>
      </p:sp>
      <p:sp>
        <p:nvSpPr>
          <p:cNvPr id="85" name="Imagen"/>
          <p:cNvSpPr>
            <a:spLocks noGrp="1"/>
          </p:cNvSpPr>
          <p:nvPr>
            <p:ph type="pic" sz="quarter" idx="23"/>
          </p:nvPr>
        </p:nvSpPr>
        <p:spPr>
          <a:xfrm>
            <a:off x="12081669" y="1247711"/>
            <a:ext cx="10901820" cy="5503871"/>
          </a:xfrm>
          <a:prstGeom prst="rect">
            <a:avLst/>
          </a:prstGeom>
        </p:spPr>
        <p:txBody>
          <a:bodyPr lIns="91439" tIns="45719" rIns="91439" bIns="45719" anchor="t">
            <a:noAutofit/>
          </a:bodyPr>
          <a:lstStyle/>
          <a:p>
            <a:endParaRPr/>
          </a:p>
        </p:txBody>
      </p:sp>
      <p:sp>
        <p:nvSpPr>
          <p:cNvPr id="8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ita">
    <p:spTree>
      <p:nvGrpSpPr>
        <p:cNvPr id="1" name=""/>
        <p:cNvGrpSpPr/>
        <p:nvPr/>
      </p:nvGrpSpPr>
      <p:grpSpPr>
        <a:xfrm>
          <a:off x="0" y="0"/>
          <a:ext cx="0" cy="0"/>
          <a:chOff x="0" y="0"/>
          <a:chExt cx="0" cy="0"/>
        </a:xfrm>
      </p:grpSpPr>
      <p:sp>
        <p:nvSpPr>
          <p:cNvPr id="93" name="– Juan López"/>
          <p:cNvSpPr txBox="1">
            <a:spLocks noGrp="1"/>
          </p:cNvSpPr>
          <p:nvPr>
            <p:ph type="body" sz="quarter" idx="21"/>
          </p:nvPr>
        </p:nvSpPr>
        <p:spPr>
          <a:xfrm>
            <a:off x="2359703" y="8952726"/>
            <a:ext cx="19443937" cy="617348"/>
          </a:xfrm>
          <a:prstGeom prst="rect">
            <a:avLst/>
          </a:prstGeom>
        </p:spPr>
        <p:txBody>
          <a:bodyPr anchor="t">
            <a:spAutoFit/>
          </a:bodyPr>
          <a:lstStyle>
            <a:lvl1pPr marL="0" indent="0" algn="ctr">
              <a:spcBef>
                <a:spcPts val="0"/>
              </a:spcBef>
              <a:buSzTx/>
              <a:buNone/>
              <a:defRPr sz="3345"/>
            </a:lvl1pPr>
          </a:lstStyle>
          <a:p>
            <a:r>
              <a:t>– Juan López</a:t>
            </a:r>
          </a:p>
        </p:txBody>
      </p:sp>
      <p:sp>
        <p:nvSpPr>
          <p:cNvPr id="94" name="“Escribir una cita aquí”"/>
          <p:cNvSpPr txBox="1">
            <a:spLocks noGrp="1"/>
          </p:cNvSpPr>
          <p:nvPr>
            <p:ph type="body" sz="quarter" idx="22"/>
          </p:nvPr>
        </p:nvSpPr>
        <p:spPr>
          <a:xfrm>
            <a:off x="2359703" y="6027924"/>
            <a:ext cx="19443937" cy="917559"/>
          </a:xfrm>
          <a:prstGeom prst="rect">
            <a:avLst/>
          </a:prstGeom>
        </p:spPr>
        <p:txBody>
          <a:bodyPr>
            <a:spAutoFit/>
          </a:bodyPr>
          <a:lstStyle>
            <a:lvl1pPr marL="0" indent="0" algn="ctr">
              <a:spcBef>
                <a:spcPts val="0"/>
              </a:spcBef>
              <a:buSzTx/>
              <a:buNone/>
              <a:defRPr sz="5296">
                <a:latin typeface="+mn-lt"/>
                <a:ea typeface="+mn-ea"/>
                <a:cs typeface="+mn-cs"/>
                <a:sym typeface="Helvetica Light"/>
              </a:defRPr>
            </a:lvl1pPr>
          </a:lstStyle>
          <a:p>
            <a:r>
              <a:t>“Escribir una cita aquí” </a:t>
            </a:r>
          </a:p>
        </p:txBody>
      </p:sp>
      <p:sp>
        <p:nvSpPr>
          <p:cNvPr id="9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Imagen"/>
          <p:cNvSpPr>
            <a:spLocks noGrp="1"/>
          </p:cNvSpPr>
          <p:nvPr>
            <p:ph type="pic" idx="21"/>
          </p:nvPr>
        </p:nvSpPr>
        <p:spPr>
          <a:xfrm>
            <a:off x="-1510207" y="0"/>
            <a:ext cx="27169604" cy="13723938"/>
          </a:xfrm>
          <a:prstGeom prst="rect">
            <a:avLst/>
          </a:prstGeom>
        </p:spPr>
        <p:txBody>
          <a:bodyPr lIns="91439" tIns="45719" rIns="91439" bIns="45719" anchor="t">
            <a:noAutofit/>
          </a:bodyPr>
          <a:lstStyle/>
          <a:p>
            <a:endParaRPr/>
          </a:p>
        </p:txBody>
      </p:sp>
      <p:sp>
        <p:nvSpPr>
          <p:cNvPr id="10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11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oc de notas copia 3">
    <p:spTree>
      <p:nvGrpSpPr>
        <p:cNvPr id="1" name=""/>
        <p:cNvGrpSpPr/>
        <p:nvPr/>
      </p:nvGrpSpPr>
      <p:grpSpPr>
        <a:xfrm>
          <a:off x="0" y="0"/>
          <a:ext cx="0" cy="0"/>
          <a:chOff x="0" y="0"/>
          <a:chExt cx="0" cy="0"/>
        </a:xfrm>
      </p:grpSpPr>
      <p:sp>
        <p:nvSpPr>
          <p:cNvPr id="126" name="Nivel de texto 1…"/>
          <p:cNvSpPr txBox="1">
            <a:spLocks noGrp="1"/>
          </p:cNvSpPr>
          <p:nvPr>
            <p:ph type="body" idx="1"/>
          </p:nvPr>
        </p:nvSpPr>
        <p:spPr>
          <a:xfrm>
            <a:off x="2022988" y="2537499"/>
            <a:ext cx="20529401" cy="10310823"/>
          </a:xfrm>
          <a:prstGeom prst="rect">
            <a:avLst/>
          </a:prstGeom>
        </p:spPr>
        <p:txBody>
          <a:bodyPr anchor="t">
            <a:noAutofit/>
          </a:bodyPr>
          <a:lstStyle>
            <a:lvl1pPr marL="760065" marR="80535" indent="-679529" defTabSz="1804997">
              <a:spcBef>
                <a:spcPts val="418"/>
              </a:spcBef>
              <a:buSzTx/>
              <a:buNone/>
              <a:defRPr sz="4738">
                <a:uFill>
                  <a:solidFill>
                    <a:srgbClr val="000000"/>
                  </a:solidFill>
                </a:uFill>
                <a:latin typeface="Verdana"/>
                <a:ea typeface="Verdana"/>
                <a:cs typeface="Verdana"/>
                <a:sym typeface="Verdana"/>
              </a:defRPr>
            </a:lvl1pPr>
            <a:lvl2pPr marL="1024325" marR="80535" indent="-566272" defTabSz="1804997">
              <a:spcBef>
                <a:spcPts val="1115"/>
              </a:spcBef>
              <a:buClr>
                <a:srgbClr val="000000"/>
              </a:buClr>
              <a:buSzTx/>
              <a:buFont typeface="Wingdings"/>
              <a:buNone/>
              <a:defRPr sz="4738">
                <a:uFill>
                  <a:solidFill>
                    <a:srgbClr val="000000"/>
                  </a:solidFill>
                </a:uFill>
                <a:latin typeface="Verdana"/>
                <a:ea typeface="Verdana"/>
                <a:cs typeface="Verdana"/>
                <a:sym typeface="Verdana"/>
              </a:defRPr>
            </a:lvl2pPr>
            <a:lvl3pPr marL="1304198" marR="80535" indent="-318527" defTabSz="1804997">
              <a:spcBef>
                <a:spcPts val="1115"/>
              </a:spcBef>
              <a:buClr>
                <a:srgbClr val="B0C77C"/>
              </a:buClr>
              <a:buSzPct val="125000"/>
              <a:buFont typeface="Verdana"/>
              <a:defRPr sz="4738">
                <a:uFill>
                  <a:solidFill>
                    <a:srgbClr val="000000"/>
                  </a:solidFill>
                </a:uFill>
                <a:latin typeface="Verdana"/>
                <a:ea typeface="Verdana"/>
                <a:cs typeface="Verdana"/>
                <a:sym typeface="Verdana"/>
              </a:defRPr>
            </a:lvl3pPr>
            <a:lvl4pPr marL="1888167" marR="80535" indent="-318530" defTabSz="1804997">
              <a:spcBef>
                <a:spcPts val="835"/>
              </a:spcBef>
              <a:buClr>
                <a:srgbClr val="B0C77C"/>
              </a:buClr>
              <a:buSzPct val="125000"/>
              <a:buFont typeface="Verdana"/>
              <a:buChar char="–"/>
              <a:defRPr sz="3900">
                <a:uFill>
                  <a:solidFill>
                    <a:srgbClr val="000000"/>
                  </a:solidFill>
                </a:uFill>
                <a:latin typeface="Verdana"/>
                <a:ea typeface="Verdana"/>
                <a:cs typeface="Verdana"/>
                <a:sym typeface="Verdana"/>
              </a:defRPr>
            </a:lvl4pPr>
            <a:lvl5pPr marL="2472138" marR="80535" indent="-318530" defTabSz="1804997">
              <a:spcBef>
                <a:spcPts val="835"/>
              </a:spcBef>
              <a:buClr>
                <a:srgbClr val="B0C77C"/>
              </a:buClr>
              <a:buSzPct val="125000"/>
              <a:buFont typeface="Verdana"/>
              <a:buChar char="»"/>
              <a:defRPr sz="3900">
                <a:uFill>
                  <a:solidFill>
                    <a:srgbClr val="000000"/>
                  </a:solidFill>
                </a:uFill>
                <a:latin typeface="Verdana"/>
                <a:ea typeface="Verdana"/>
                <a:cs typeface="Verdana"/>
                <a:sym typeface="Verdana"/>
              </a:defRPr>
            </a:lvl5pPr>
          </a:lstStyle>
          <a:p>
            <a:r>
              <a:t>Nivel de texto 1</a:t>
            </a:r>
          </a:p>
          <a:p>
            <a:pPr lvl="1"/>
            <a:r>
              <a:t>Nivel de texto 2</a:t>
            </a:r>
          </a:p>
          <a:p>
            <a:pPr lvl="2"/>
            <a:r>
              <a:t>Nivel de texto 3</a:t>
            </a:r>
          </a:p>
          <a:p>
            <a:pPr lvl="3"/>
            <a:r>
              <a:t>Nivel de texto 4</a:t>
            </a:r>
          </a:p>
          <a:p>
            <a:pPr lvl="4"/>
            <a:r>
              <a:t>Nivel de texto 5</a:t>
            </a:r>
          </a:p>
        </p:txBody>
      </p:sp>
      <p:sp>
        <p:nvSpPr>
          <p:cNvPr id="127" name="Número de diapositiva"/>
          <p:cNvSpPr txBox="1">
            <a:spLocks noGrp="1"/>
          </p:cNvSpPr>
          <p:nvPr>
            <p:ph type="sldNum" sz="quarter" idx="2"/>
          </p:nvPr>
        </p:nvSpPr>
        <p:spPr>
          <a:xfrm>
            <a:off x="23038264" y="13134238"/>
            <a:ext cx="381515" cy="402674"/>
          </a:xfrm>
          <a:prstGeom prst="rect">
            <a:avLst/>
          </a:prstGeom>
        </p:spPr>
        <p:txBody>
          <a:bodyPr>
            <a:spAutoFit/>
          </a:bodyPr>
          <a:lstStyle>
            <a:lvl1pPr defTabSz="1150243">
              <a:defRPr sz="1950">
                <a:uFill>
                  <a:solidFill>
                    <a:srgbClr val="000000"/>
                  </a:solidFill>
                </a:uFill>
                <a:latin typeface="Abadi MT Condensed Light"/>
                <a:ea typeface="Abadi MT Condensed Light"/>
                <a:cs typeface="Abadi MT Condensed Light"/>
                <a:sym typeface="Abadi MT Condensed Light"/>
              </a:defRPr>
            </a:lvl1p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ítulo y objetos">
    <p:spTree>
      <p:nvGrpSpPr>
        <p:cNvPr id="1" name=""/>
        <p:cNvGrpSpPr/>
        <p:nvPr/>
      </p:nvGrpSpPr>
      <p:grpSpPr>
        <a:xfrm>
          <a:off x="0" y="0"/>
          <a:ext cx="0" cy="0"/>
          <a:chOff x="0" y="0"/>
          <a:chExt cx="0" cy="0"/>
        </a:xfrm>
      </p:grpSpPr>
      <p:sp>
        <p:nvSpPr>
          <p:cNvPr id="134" name="Texto del título"/>
          <p:cNvSpPr txBox="1">
            <a:spLocks noGrp="1"/>
          </p:cNvSpPr>
          <p:nvPr>
            <p:ph type="title"/>
          </p:nvPr>
        </p:nvSpPr>
        <p:spPr>
          <a:xfrm>
            <a:off x="1208168" y="549594"/>
            <a:ext cx="21747007" cy="2287326"/>
          </a:xfrm>
          <a:prstGeom prst="rect">
            <a:avLst/>
          </a:prstGeom>
        </p:spPr>
        <p:txBody>
          <a:bodyPr lIns="65023" tIns="65023" rIns="65023" bIns="65023"/>
          <a:lstStyle>
            <a:lvl1pPr defTabSz="906039">
              <a:defRPr sz="8638">
                <a:latin typeface="Calibri"/>
                <a:ea typeface="Calibri"/>
                <a:cs typeface="Calibri"/>
                <a:sym typeface="Calibri"/>
              </a:defRPr>
            </a:lvl1pPr>
          </a:lstStyle>
          <a:p>
            <a:r>
              <a:t>Texto del título</a:t>
            </a:r>
          </a:p>
        </p:txBody>
      </p:sp>
      <p:sp>
        <p:nvSpPr>
          <p:cNvPr id="135" name="Nivel de texto 1…"/>
          <p:cNvSpPr txBox="1">
            <a:spLocks noGrp="1"/>
          </p:cNvSpPr>
          <p:nvPr>
            <p:ph type="body" idx="1"/>
          </p:nvPr>
        </p:nvSpPr>
        <p:spPr>
          <a:xfrm>
            <a:off x="1208168" y="3202253"/>
            <a:ext cx="21747007" cy="9057167"/>
          </a:xfrm>
          <a:prstGeom prst="rect">
            <a:avLst/>
          </a:prstGeom>
        </p:spPr>
        <p:txBody>
          <a:bodyPr lIns="65023" tIns="65023" rIns="65023" bIns="65023" anchor="t"/>
          <a:lstStyle>
            <a:lvl1pPr marL="656965" indent="-656965" defTabSz="906039">
              <a:spcBef>
                <a:spcPts val="1393"/>
              </a:spcBef>
              <a:buSzPct val="100000"/>
              <a:buFont typeface="Arial"/>
              <a:defRPr sz="6131">
                <a:latin typeface="Calibri"/>
                <a:ea typeface="Calibri"/>
                <a:cs typeface="Calibri"/>
                <a:sym typeface="Calibri"/>
              </a:defRPr>
            </a:lvl1pPr>
            <a:lvl2pPr marL="1262740" indent="-625681" defTabSz="906039">
              <a:spcBef>
                <a:spcPts val="1393"/>
              </a:spcBef>
              <a:buSzPct val="100000"/>
              <a:buFont typeface="Arial"/>
              <a:buChar char="–"/>
              <a:defRPr sz="6131">
                <a:latin typeface="Calibri"/>
                <a:ea typeface="Calibri"/>
                <a:cs typeface="Calibri"/>
                <a:sym typeface="Calibri"/>
              </a:defRPr>
            </a:lvl2pPr>
            <a:lvl3pPr indent="-583969" defTabSz="906039">
              <a:spcBef>
                <a:spcPts val="1393"/>
              </a:spcBef>
              <a:buSzPct val="100000"/>
              <a:buFont typeface="Arial"/>
              <a:defRPr sz="6131">
                <a:latin typeface="Calibri"/>
                <a:ea typeface="Calibri"/>
                <a:cs typeface="Calibri"/>
                <a:sym typeface="Calibri"/>
              </a:defRPr>
            </a:lvl3pPr>
            <a:lvl4pPr marL="2611937" indent="-700765" defTabSz="906039">
              <a:spcBef>
                <a:spcPts val="1393"/>
              </a:spcBef>
              <a:buSzPct val="100000"/>
              <a:buFont typeface="Arial"/>
              <a:buChar char="–"/>
              <a:defRPr sz="6131">
                <a:latin typeface="Calibri"/>
                <a:ea typeface="Calibri"/>
                <a:cs typeface="Calibri"/>
                <a:sym typeface="Calibri"/>
              </a:defRPr>
            </a:lvl4pPr>
            <a:lvl5pPr marL="3248996" indent="-700765" defTabSz="906039">
              <a:spcBef>
                <a:spcPts val="1393"/>
              </a:spcBef>
              <a:buSzPct val="100000"/>
              <a:buFont typeface="Arial"/>
              <a:buChar char="»"/>
              <a:defRPr sz="6131">
                <a:latin typeface="Calibri"/>
                <a:ea typeface="Calibri"/>
                <a:cs typeface="Calibri"/>
                <a:sym typeface="Calibri"/>
              </a:defRPr>
            </a:lvl5pPr>
          </a:lstStyle>
          <a:p>
            <a:r>
              <a:t>Nivel de texto 1</a:t>
            </a:r>
          </a:p>
          <a:p>
            <a:pPr lvl="1"/>
            <a:r>
              <a:t>Nivel de texto 2</a:t>
            </a:r>
          </a:p>
          <a:p>
            <a:pPr lvl="2"/>
            <a:r>
              <a:t>Nivel de texto 3</a:t>
            </a:r>
          </a:p>
          <a:p>
            <a:pPr lvl="3"/>
            <a:r>
              <a:t>Nivel de texto 4</a:t>
            </a:r>
          </a:p>
          <a:p>
            <a:pPr lvl="4"/>
            <a:r>
              <a:t>Nivel de texto 5</a:t>
            </a:r>
          </a:p>
        </p:txBody>
      </p:sp>
      <p:sp>
        <p:nvSpPr>
          <p:cNvPr id="136" name="Número de diapositiva"/>
          <p:cNvSpPr txBox="1">
            <a:spLocks noGrp="1"/>
          </p:cNvSpPr>
          <p:nvPr>
            <p:ph type="sldNum" sz="quarter" idx="2"/>
          </p:nvPr>
        </p:nvSpPr>
        <p:spPr>
          <a:xfrm>
            <a:off x="22326927" y="12848154"/>
            <a:ext cx="628247" cy="474487"/>
          </a:xfrm>
          <a:prstGeom prst="rect">
            <a:avLst/>
          </a:prstGeom>
        </p:spPr>
        <p:txBody>
          <a:bodyPr lIns="65023" tIns="65023" rIns="65023" bIns="65023" anchor="ctr">
            <a:spAutoFit/>
          </a:bodyPr>
          <a:lstStyle>
            <a:lvl1pPr algn="r" defTabSz="906039">
              <a:defRPr sz="2230">
                <a:solidFill>
                  <a:srgbClr val="888888"/>
                </a:solidFill>
                <a:latin typeface="Calibri"/>
                <a:ea typeface="Calibri"/>
                <a:cs typeface="Calibri"/>
                <a:sym typeface="Calibri"/>
              </a:defRPr>
            </a:lvl1pPr>
          </a:lstStyle>
          <a:p>
            <a:fld id="{86CB4B4D-7CA3-9044-876B-883B54F8677D}" type="slidenum">
              <a:t>‹Nº›</a:t>
            </a:fld>
            <a:endParaRPr/>
          </a:p>
        </p:txBody>
      </p:sp>
      <p:sp>
        <p:nvSpPr>
          <p:cNvPr id="137" name="Línea"/>
          <p:cNvSpPr/>
          <p:nvPr/>
        </p:nvSpPr>
        <p:spPr>
          <a:xfrm>
            <a:off x="2862917" y="2834721"/>
            <a:ext cx="18437504" cy="3"/>
          </a:xfrm>
          <a:prstGeom prst="line">
            <a:avLst/>
          </a:prstGeom>
          <a:ln w="25400">
            <a:solidFill>
              <a:srgbClr val="4F81BD"/>
            </a:solidFill>
          </a:ln>
          <a:effectLst>
            <a:outerShdw blurRad="50800" dist="25400" dir="5400000" rotWithShape="0">
              <a:srgbClr val="000000">
                <a:alpha val="38000"/>
              </a:srgbClr>
            </a:outerShdw>
          </a:effectLst>
        </p:spPr>
        <p:txBody>
          <a:bodyPr lIns="90610" tIns="90610" rIns="90610" bIns="90610"/>
          <a:lstStyle/>
          <a:p>
            <a:pPr algn="l" defTabSz="906039">
              <a:defRPr sz="2400">
                <a:latin typeface="Calibri"/>
                <a:ea typeface="Calibri"/>
                <a:cs typeface="Calibri"/>
                <a:sym typeface="Calibri"/>
              </a:defRPr>
            </a:pPr>
            <a:endParaRPr sz="3345"/>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ítulo y objetos">
    <p:spTree>
      <p:nvGrpSpPr>
        <p:cNvPr id="1" name=""/>
        <p:cNvGrpSpPr/>
        <p:nvPr/>
      </p:nvGrpSpPr>
      <p:grpSpPr>
        <a:xfrm>
          <a:off x="0" y="0"/>
          <a:ext cx="0" cy="0"/>
          <a:chOff x="0" y="0"/>
          <a:chExt cx="0" cy="0"/>
        </a:xfrm>
      </p:grpSpPr>
      <p:sp>
        <p:nvSpPr>
          <p:cNvPr id="144" name="Texto del título"/>
          <p:cNvSpPr txBox="1">
            <a:spLocks noGrp="1"/>
          </p:cNvSpPr>
          <p:nvPr>
            <p:ph type="title"/>
          </p:nvPr>
        </p:nvSpPr>
        <p:spPr>
          <a:xfrm>
            <a:off x="1208168" y="549594"/>
            <a:ext cx="21747007" cy="2287326"/>
          </a:xfrm>
          <a:prstGeom prst="rect">
            <a:avLst/>
          </a:prstGeom>
        </p:spPr>
        <p:txBody>
          <a:bodyPr lIns="65023" tIns="65023" rIns="65023" bIns="65023"/>
          <a:lstStyle>
            <a:lvl1pPr defTabSz="906039">
              <a:defRPr sz="8638">
                <a:latin typeface="Calibri"/>
                <a:ea typeface="Calibri"/>
                <a:cs typeface="Calibri"/>
                <a:sym typeface="Calibri"/>
              </a:defRPr>
            </a:lvl1pPr>
          </a:lstStyle>
          <a:p>
            <a:r>
              <a:t>Texto del título</a:t>
            </a:r>
          </a:p>
        </p:txBody>
      </p:sp>
      <p:sp>
        <p:nvSpPr>
          <p:cNvPr id="145" name="Nivel de texto 1…"/>
          <p:cNvSpPr txBox="1">
            <a:spLocks noGrp="1"/>
          </p:cNvSpPr>
          <p:nvPr>
            <p:ph type="body" idx="1"/>
          </p:nvPr>
        </p:nvSpPr>
        <p:spPr>
          <a:xfrm>
            <a:off x="1208168" y="3202253"/>
            <a:ext cx="21747007" cy="9057167"/>
          </a:xfrm>
          <a:prstGeom prst="rect">
            <a:avLst/>
          </a:prstGeom>
        </p:spPr>
        <p:txBody>
          <a:bodyPr lIns="65023" tIns="65023" rIns="65023" bIns="65023" anchor="t"/>
          <a:lstStyle>
            <a:lvl1pPr marL="492723" indent="-492723" defTabSz="906039">
              <a:spcBef>
                <a:spcPts val="1393"/>
              </a:spcBef>
              <a:buSzPct val="100000"/>
              <a:buFont typeface="Arial"/>
              <a:defRPr sz="6131">
                <a:latin typeface="Calibri"/>
                <a:ea typeface="Calibri"/>
                <a:cs typeface="Calibri"/>
                <a:sym typeface="Calibri"/>
              </a:defRPr>
            </a:lvl1pPr>
            <a:lvl2pPr marL="1274116" indent="-637059" defTabSz="906039">
              <a:spcBef>
                <a:spcPts val="1393"/>
              </a:spcBef>
              <a:buSzPct val="100000"/>
              <a:buFont typeface="Arial"/>
              <a:buChar char="–"/>
              <a:defRPr sz="5853">
                <a:latin typeface="Calibri"/>
                <a:ea typeface="Calibri"/>
                <a:cs typeface="Calibri"/>
                <a:sym typeface="Calibri"/>
              </a:defRPr>
            </a:lvl2pPr>
            <a:lvl3pPr marL="1850500" indent="-576385" defTabSz="906039">
              <a:spcBef>
                <a:spcPts val="1393"/>
              </a:spcBef>
              <a:buSzPct val="100000"/>
              <a:buFont typeface="Arial"/>
              <a:defRPr sz="5296">
                <a:latin typeface="Calibri"/>
                <a:ea typeface="Calibri"/>
                <a:cs typeface="Calibri"/>
                <a:sym typeface="Calibri"/>
              </a:defRPr>
            </a:lvl3pPr>
            <a:lvl4pPr marL="2616836" indent="-705664" defTabSz="906039">
              <a:spcBef>
                <a:spcPts val="1393"/>
              </a:spcBef>
              <a:buSzPct val="100000"/>
              <a:buFont typeface="Arial"/>
              <a:buChar char="–"/>
              <a:defRPr>
                <a:latin typeface="Calibri"/>
                <a:ea typeface="Calibri"/>
                <a:cs typeface="Calibri"/>
                <a:sym typeface="Calibri"/>
              </a:defRPr>
            </a:lvl4pPr>
            <a:lvl5pPr marL="3510897" indent="-962663" defTabSz="906039">
              <a:spcBef>
                <a:spcPts val="1393"/>
              </a:spcBef>
              <a:buSzPct val="100000"/>
              <a:buFont typeface="Arial"/>
              <a:buChar char="»"/>
              <a:defRPr sz="4738">
                <a:latin typeface="Calibri"/>
                <a:ea typeface="Calibri"/>
                <a:cs typeface="Calibri"/>
                <a:sym typeface="Calibri"/>
              </a:defRPr>
            </a:lvl5pPr>
          </a:lstStyle>
          <a:p>
            <a:r>
              <a:t>Nivel de texto 1</a:t>
            </a:r>
          </a:p>
          <a:p>
            <a:pPr lvl="1"/>
            <a:r>
              <a:t>Nivel de texto 2</a:t>
            </a:r>
          </a:p>
          <a:p>
            <a:pPr lvl="2"/>
            <a:r>
              <a:t>Nivel de texto 3</a:t>
            </a:r>
          </a:p>
          <a:p>
            <a:pPr lvl="3"/>
            <a:r>
              <a:t>Nivel de texto 4</a:t>
            </a:r>
          </a:p>
          <a:p>
            <a:pPr lvl="4"/>
            <a:r>
              <a:t>Nivel de texto 5</a:t>
            </a:r>
          </a:p>
        </p:txBody>
      </p:sp>
      <p:sp>
        <p:nvSpPr>
          <p:cNvPr id="146" name="Número de diapositiva"/>
          <p:cNvSpPr txBox="1">
            <a:spLocks noGrp="1"/>
          </p:cNvSpPr>
          <p:nvPr>
            <p:ph type="sldNum" sz="quarter" idx="2"/>
          </p:nvPr>
        </p:nvSpPr>
        <p:spPr>
          <a:xfrm>
            <a:off x="22326927" y="12848154"/>
            <a:ext cx="628247" cy="474487"/>
          </a:xfrm>
          <a:prstGeom prst="rect">
            <a:avLst/>
          </a:prstGeom>
        </p:spPr>
        <p:txBody>
          <a:bodyPr lIns="65023" tIns="65023" rIns="65023" bIns="65023" anchor="ctr">
            <a:spAutoFit/>
          </a:bodyPr>
          <a:lstStyle>
            <a:lvl1pPr algn="r" defTabSz="906039">
              <a:defRPr sz="2230">
                <a:solidFill>
                  <a:srgbClr val="888888"/>
                </a:solidFill>
                <a:latin typeface="Calibri"/>
                <a:ea typeface="Calibri"/>
                <a:cs typeface="Calibri"/>
                <a:sym typeface="Calibri"/>
              </a:defRPr>
            </a:lvl1pPr>
          </a:lstStyle>
          <a:p>
            <a:fld id="{86CB4B4D-7CA3-9044-876B-883B54F8677D}" type="slidenum">
              <a:t>‹Nº›</a:t>
            </a:fld>
            <a:endParaRPr/>
          </a:p>
        </p:txBody>
      </p:sp>
      <p:sp>
        <p:nvSpPr>
          <p:cNvPr id="147" name="Línea"/>
          <p:cNvSpPr/>
          <p:nvPr/>
        </p:nvSpPr>
        <p:spPr>
          <a:xfrm>
            <a:off x="2862917" y="2834721"/>
            <a:ext cx="18437504" cy="3"/>
          </a:xfrm>
          <a:prstGeom prst="line">
            <a:avLst/>
          </a:prstGeom>
          <a:ln w="25400">
            <a:solidFill>
              <a:srgbClr val="4F81BD"/>
            </a:solidFill>
          </a:ln>
          <a:effectLst>
            <a:outerShdw blurRad="50800" dist="25400" dir="5400000" rotWithShape="0">
              <a:srgbClr val="000000">
                <a:alpha val="38000"/>
              </a:srgbClr>
            </a:outerShdw>
          </a:effectLst>
        </p:spPr>
        <p:txBody>
          <a:bodyPr lIns="90610" tIns="90610" rIns="90610" bIns="90610"/>
          <a:lstStyle/>
          <a:p>
            <a:pPr algn="l" defTabSz="906039">
              <a:defRPr sz="2400">
                <a:latin typeface="Calibri"/>
                <a:ea typeface="Calibri"/>
                <a:cs typeface="Calibri"/>
                <a:sym typeface="Calibri"/>
              </a:defRPr>
            </a:pPr>
            <a:endParaRPr sz="3345"/>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ítulo y subtítulo">
    <p:spTree>
      <p:nvGrpSpPr>
        <p:cNvPr id="1" name=""/>
        <p:cNvGrpSpPr/>
        <p:nvPr/>
      </p:nvGrpSpPr>
      <p:grpSpPr>
        <a:xfrm>
          <a:off x="0" y="0"/>
          <a:ext cx="0" cy="0"/>
          <a:chOff x="0" y="0"/>
          <a:chExt cx="0" cy="0"/>
        </a:xfrm>
      </p:grpSpPr>
      <p:sp>
        <p:nvSpPr>
          <p:cNvPr id="11" name="Texto del título"/>
          <p:cNvSpPr txBox="1">
            <a:spLocks noGrp="1"/>
          </p:cNvSpPr>
          <p:nvPr>
            <p:ph type="title"/>
          </p:nvPr>
        </p:nvSpPr>
        <p:spPr>
          <a:xfrm>
            <a:off x="1761913" y="2300033"/>
            <a:ext cx="20639518" cy="4650890"/>
          </a:xfrm>
          <a:prstGeom prst="rect">
            <a:avLst/>
          </a:prstGeom>
        </p:spPr>
        <p:txBody>
          <a:bodyPr anchor="b"/>
          <a:lstStyle/>
          <a:p>
            <a:r>
              <a:t>Texto del título</a:t>
            </a:r>
          </a:p>
        </p:txBody>
      </p:sp>
      <p:sp>
        <p:nvSpPr>
          <p:cNvPr id="12" name="Nivel de texto 1…"/>
          <p:cNvSpPr txBox="1">
            <a:spLocks noGrp="1"/>
          </p:cNvSpPr>
          <p:nvPr>
            <p:ph type="body" sz="quarter" idx="1"/>
          </p:nvPr>
        </p:nvSpPr>
        <p:spPr>
          <a:xfrm>
            <a:off x="1761913" y="7077997"/>
            <a:ext cx="20639518" cy="1588420"/>
          </a:xfrm>
          <a:prstGeom prst="rect">
            <a:avLst/>
          </a:prstGeom>
        </p:spPr>
        <p:txBody>
          <a:bodyPr anchor="t"/>
          <a:lstStyle>
            <a:lvl1pPr marL="0" indent="0" algn="ctr">
              <a:spcBef>
                <a:spcPts val="0"/>
              </a:spcBef>
              <a:buSzTx/>
              <a:buNone/>
              <a:defRPr sz="4014"/>
            </a:lvl1pPr>
            <a:lvl2pPr marL="0" indent="0" algn="ctr">
              <a:spcBef>
                <a:spcPts val="0"/>
              </a:spcBef>
              <a:buSzTx/>
              <a:buNone/>
              <a:defRPr sz="4014"/>
            </a:lvl2pPr>
            <a:lvl3pPr marL="0" indent="0" algn="ctr">
              <a:spcBef>
                <a:spcPts val="0"/>
              </a:spcBef>
              <a:buSzTx/>
              <a:buNone/>
              <a:defRPr sz="4014"/>
            </a:lvl3pPr>
            <a:lvl4pPr marL="0" indent="0" algn="ctr">
              <a:spcBef>
                <a:spcPts val="0"/>
              </a:spcBef>
              <a:buSzTx/>
              <a:buNone/>
              <a:defRPr sz="4014"/>
            </a:lvl4pPr>
            <a:lvl5pPr marL="0" indent="0" algn="ctr">
              <a:spcBef>
                <a:spcPts val="0"/>
              </a:spcBef>
              <a:buSzTx/>
              <a:buNone/>
              <a:defRPr sz="4014"/>
            </a:lvl5pPr>
          </a:lstStyle>
          <a:p>
            <a:r>
              <a:t>Nivel de texto 1</a:t>
            </a:r>
          </a:p>
          <a:p>
            <a:pPr lvl="1"/>
            <a:r>
              <a:t>Nivel de texto 2</a:t>
            </a:r>
          </a:p>
          <a:p>
            <a:pPr lvl="2"/>
            <a:r>
              <a:t>Nivel de texto 3</a:t>
            </a:r>
          </a:p>
          <a:p>
            <a:pPr lvl="3"/>
            <a:r>
              <a:t>Nivel de texto 4</a:t>
            </a:r>
          </a:p>
          <a:p>
            <a:pPr lvl="4"/>
            <a:r>
              <a:t>Nivel de texto 5</a:t>
            </a:r>
          </a:p>
        </p:txBody>
      </p:sp>
      <p:sp>
        <p:nvSpPr>
          <p:cNvPr id="1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976310206"/>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Foto (horizontal)">
    <p:spTree>
      <p:nvGrpSpPr>
        <p:cNvPr id="1" name=""/>
        <p:cNvGrpSpPr/>
        <p:nvPr/>
      </p:nvGrpSpPr>
      <p:grpSpPr>
        <a:xfrm>
          <a:off x="0" y="0"/>
          <a:ext cx="0" cy="0"/>
          <a:chOff x="0" y="0"/>
          <a:chExt cx="0" cy="0"/>
        </a:xfrm>
      </p:grpSpPr>
      <p:sp>
        <p:nvSpPr>
          <p:cNvPr id="20" name="Vista de la playa y el mar desde una duna de arena cubierta de hierba"/>
          <p:cNvSpPr>
            <a:spLocks noGrp="1"/>
          </p:cNvSpPr>
          <p:nvPr>
            <p:ph type="pic" idx="21"/>
          </p:nvPr>
        </p:nvSpPr>
        <p:spPr>
          <a:xfrm>
            <a:off x="3097681" y="-393929"/>
            <a:ext cx="17971485" cy="12097397"/>
          </a:xfrm>
          <a:prstGeom prst="rect">
            <a:avLst/>
          </a:prstGeom>
        </p:spPr>
        <p:txBody>
          <a:bodyPr lIns="91439" tIns="45719" rIns="91439" bIns="45719" anchor="t">
            <a:noAutofit/>
          </a:bodyPr>
          <a:lstStyle/>
          <a:p>
            <a:endParaRPr/>
          </a:p>
        </p:txBody>
      </p:sp>
      <p:sp>
        <p:nvSpPr>
          <p:cNvPr id="21" name="Texto del título"/>
          <p:cNvSpPr txBox="1">
            <a:spLocks noGrp="1"/>
          </p:cNvSpPr>
          <p:nvPr>
            <p:ph type="title"/>
          </p:nvPr>
        </p:nvSpPr>
        <p:spPr>
          <a:xfrm>
            <a:off x="629256" y="9517808"/>
            <a:ext cx="22904831" cy="2007761"/>
          </a:xfrm>
          <a:prstGeom prst="rect">
            <a:avLst/>
          </a:prstGeom>
        </p:spPr>
        <p:txBody>
          <a:bodyPr anchor="b"/>
          <a:lstStyle/>
          <a:p>
            <a:r>
              <a:t>Texto del título</a:t>
            </a:r>
          </a:p>
        </p:txBody>
      </p:sp>
      <p:sp>
        <p:nvSpPr>
          <p:cNvPr id="22" name="Nivel de texto 1…"/>
          <p:cNvSpPr txBox="1">
            <a:spLocks noGrp="1"/>
          </p:cNvSpPr>
          <p:nvPr>
            <p:ph type="body" sz="quarter" idx="1"/>
          </p:nvPr>
        </p:nvSpPr>
        <p:spPr>
          <a:xfrm>
            <a:off x="629256" y="11449322"/>
            <a:ext cx="22904831" cy="1588420"/>
          </a:xfrm>
          <a:prstGeom prst="rect">
            <a:avLst/>
          </a:prstGeom>
        </p:spPr>
        <p:txBody>
          <a:bodyPr anchor="t"/>
          <a:lstStyle>
            <a:lvl1pPr marL="0" indent="0" algn="ctr">
              <a:spcBef>
                <a:spcPts val="0"/>
              </a:spcBef>
              <a:buSzTx/>
              <a:buNone/>
              <a:defRPr sz="4014"/>
            </a:lvl1pPr>
            <a:lvl2pPr marL="0" indent="0" algn="ctr">
              <a:spcBef>
                <a:spcPts val="0"/>
              </a:spcBef>
              <a:buSzTx/>
              <a:buNone/>
              <a:defRPr sz="4014"/>
            </a:lvl2pPr>
            <a:lvl3pPr marL="0" indent="0" algn="ctr">
              <a:spcBef>
                <a:spcPts val="0"/>
              </a:spcBef>
              <a:buSzTx/>
              <a:buNone/>
              <a:defRPr sz="4014"/>
            </a:lvl3pPr>
            <a:lvl4pPr marL="0" indent="0" algn="ctr">
              <a:spcBef>
                <a:spcPts val="0"/>
              </a:spcBef>
              <a:buSzTx/>
              <a:buNone/>
              <a:defRPr sz="4014"/>
            </a:lvl4pPr>
            <a:lvl5pPr marL="0" indent="0" algn="ctr">
              <a:spcBef>
                <a:spcPts val="0"/>
              </a:spcBef>
              <a:buSzTx/>
              <a:buNone/>
              <a:defRPr sz="4014"/>
            </a:lvl5pPr>
          </a:lstStyle>
          <a:p>
            <a:r>
              <a:t>Nivel de texto 1</a:t>
            </a:r>
          </a:p>
          <a:p>
            <a:pPr lvl="1"/>
            <a:r>
              <a:t>Nivel de texto 2</a:t>
            </a:r>
          </a:p>
          <a:p>
            <a:pPr lvl="2"/>
            <a:r>
              <a:t>Nivel de texto 3</a:t>
            </a:r>
          </a:p>
          <a:p>
            <a:pPr lvl="3"/>
            <a:r>
              <a:t>Nivel de texto 4</a:t>
            </a:r>
          </a:p>
          <a:p>
            <a:pPr lvl="4"/>
            <a:r>
              <a:t>Nivel de texto 5</a:t>
            </a:r>
          </a:p>
        </p:txBody>
      </p:sp>
      <p:sp>
        <p:nvSpPr>
          <p:cNvPr id="2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2919458931"/>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ítulo (centro)">
    <p:spTree>
      <p:nvGrpSpPr>
        <p:cNvPr id="1" name=""/>
        <p:cNvGrpSpPr/>
        <p:nvPr/>
      </p:nvGrpSpPr>
      <p:grpSpPr>
        <a:xfrm>
          <a:off x="0" y="0"/>
          <a:ext cx="0" cy="0"/>
          <a:chOff x="0" y="0"/>
          <a:chExt cx="0" cy="0"/>
        </a:xfrm>
      </p:grpSpPr>
      <p:sp>
        <p:nvSpPr>
          <p:cNvPr id="30" name="Texto del título"/>
          <p:cNvSpPr txBox="1">
            <a:spLocks noGrp="1"/>
          </p:cNvSpPr>
          <p:nvPr>
            <p:ph type="title"/>
          </p:nvPr>
        </p:nvSpPr>
        <p:spPr>
          <a:xfrm>
            <a:off x="1761913" y="4536527"/>
            <a:ext cx="20639518" cy="4650890"/>
          </a:xfrm>
          <a:prstGeom prst="rect">
            <a:avLst/>
          </a:prstGeom>
        </p:spPr>
        <p:txBody>
          <a:bodyPr/>
          <a:lstStyle/>
          <a:p>
            <a:r>
              <a:t>Texto del título</a:t>
            </a:r>
          </a:p>
        </p:txBody>
      </p:sp>
      <p:sp>
        <p:nvSpPr>
          <p:cNvPr id="3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58085902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Foto (vertical)">
    <p:spTree>
      <p:nvGrpSpPr>
        <p:cNvPr id="1" name=""/>
        <p:cNvGrpSpPr/>
        <p:nvPr/>
      </p:nvGrpSpPr>
      <p:grpSpPr>
        <a:xfrm>
          <a:off x="0" y="0"/>
          <a:ext cx="0" cy="0"/>
          <a:chOff x="0" y="0"/>
          <a:chExt cx="0" cy="0"/>
        </a:xfrm>
      </p:grpSpPr>
      <p:sp>
        <p:nvSpPr>
          <p:cNvPr id="38" name="Garza volando bajo en una playa con una pequeña valla en primer plano"/>
          <p:cNvSpPr>
            <a:spLocks noGrp="1"/>
          </p:cNvSpPr>
          <p:nvPr>
            <p:ph type="pic" sz="half" idx="21"/>
          </p:nvPr>
        </p:nvSpPr>
        <p:spPr>
          <a:xfrm>
            <a:off x="12710923" y="953054"/>
            <a:ext cx="11364321" cy="11474736"/>
          </a:xfrm>
          <a:prstGeom prst="rect">
            <a:avLst/>
          </a:prstGeom>
        </p:spPr>
        <p:txBody>
          <a:bodyPr lIns="91439" tIns="45719" rIns="91439" bIns="45719" anchor="t">
            <a:noAutofit/>
          </a:bodyPr>
          <a:lstStyle/>
          <a:p>
            <a:endParaRPr/>
          </a:p>
        </p:txBody>
      </p:sp>
      <p:sp>
        <p:nvSpPr>
          <p:cNvPr id="39" name="Texto del título"/>
          <p:cNvSpPr txBox="1">
            <a:spLocks noGrp="1"/>
          </p:cNvSpPr>
          <p:nvPr>
            <p:ph type="title"/>
          </p:nvPr>
        </p:nvSpPr>
        <p:spPr>
          <a:xfrm>
            <a:off x="1636062" y="953051"/>
            <a:ext cx="10130982" cy="5553113"/>
          </a:xfrm>
          <a:prstGeom prst="rect">
            <a:avLst/>
          </a:prstGeom>
        </p:spPr>
        <p:txBody>
          <a:bodyPr anchor="b"/>
          <a:lstStyle>
            <a:lvl1pPr>
              <a:defRPr sz="6242"/>
            </a:lvl1pPr>
          </a:lstStyle>
          <a:p>
            <a:r>
              <a:t>Texto del título</a:t>
            </a:r>
          </a:p>
        </p:txBody>
      </p:sp>
      <p:sp>
        <p:nvSpPr>
          <p:cNvPr id="40" name="Nivel de texto 1…"/>
          <p:cNvSpPr txBox="1">
            <a:spLocks noGrp="1"/>
          </p:cNvSpPr>
          <p:nvPr>
            <p:ph type="body" sz="quarter" idx="1"/>
          </p:nvPr>
        </p:nvSpPr>
        <p:spPr>
          <a:xfrm>
            <a:off x="1636062" y="6531579"/>
            <a:ext cx="10130982" cy="5731014"/>
          </a:xfrm>
          <a:prstGeom prst="rect">
            <a:avLst/>
          </a:prstGeom>
        </p:spPr>
        <p:txBody>
          <a:bodyPr anchor="t"/>
          <a:lstStyle>
            <a:lvl1pPr marL="0" indent="0" algn="ctr">
              <a:spcBef>
                <a:spcPts val="0"/>
              </a:spcBef>
              <a:buSzTx/>
              <a:buNone/>
              <a:defRPr sz="4014"/>
            </a:lvl1pPr>
            <a:lvl2pPr marL="0" indent="0" algn="ctr">
              <a:spcBef>
                <a:spcPts val="0"/>
              </a:spcBef>
              <a:buSzTx/>
              <a:buNone/>
              <a:defRPr sz="4014"/>
            </a:lvl2pPr>
            <a:lvl3pPr marL="0" indent="0" algn="ctr">
              <a:spcBef>
                <a:spcPts val="0"/>
              </a:spcBef>
              <a:buSzTx/>
              <a:buNone/>
              <a:defRPr sz="4014"/>
            </a:lvl3pPr>
            <a:lvl4pPr marL="0" indent="0" algn="ctr">
              <a:spcBef>
                <a:spcPts val="0"/>
              </a:spcBef>
              <a:buSzTx/>
              <a:buNone/>
              <a:defRPr sz="4014"/>
            </a:lvl4pPr>
            <a:lvl5pPr marL="0" indent="0" algn="ctr">
              <a:spcBef>
                <a:spcPts val="0"/>
              </a:spcBef>
              <a:buSzTx/>
              <a:buNone/>
              <a:defRPr sz="4014"/>
            </a:lvl5pPr>
          </a:lstStyle>
          <a:p>
            <a:r>
              <a:t>Nivel de texto 1</a:t>
            </a:r>
          </a:p>
          <a:p>
            <a:pPr lvl="1"/>
            <a:r>
              <a:t>Nivel de texto 2</a:t>
            </a:r>
          </a:p>
          <a:p>
            <a:pPr lvl="2"/>
            <a:r>
              <a:t>Nivel de texto 3</a:t>
            </a:r>
          </a:p>
          <a:p>
            <a:pPr lvl="3"/>
            <a:r>
              <a:t>Nivel de texto 4</a:t>
            </a:r>
          </a:p>
          <a:p>
            <a:pPr lvl="4"/>
            <a:r>
              <a:t>Nivel de texto 5</a:t>
            </a:r>
          </a:p>
        </p:txBody>
      </p:sp>
      <p:sp>
        <p:nvSpPr>
          <p:cNvPr id="41"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108141931"/>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48" name="Texto del título"/>
          <p:cNvSpPr txBox="1">
            <a:spLocks noGrp="1"/>
          </p:cNvSpPr>
          <p:nvPr>
            <p:ph type="title"/>
          </p:nvPr>
        </p:nvSpPr>
        <p:spPr>
          <a:prstGeom prst="rect">
            <a:avLst/>
          </a:prstGeom>
        </p:spPr>
        <p:txBody>
          <a:bodyPr/>
          <a:lstStyle/>
          <a:p>
            <a:r>
              <a:t>Texto del título</a:t>
            </a:r>
          </a:p>
        </p:txBody>
      </p:sp>
      <p:sp>
        <p:nvSpPr>
          <p:cNvPr id="49"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953941591"/>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ítulo y viñetas">
    <p:spTree>
      <p:nvGrpSpPr>
        <p:cNvPr id="1" name=""/>
        <p:cNvGrpSpPr/>
        <p:nvPr/>
      </p:nvGrpSpPr>
      <p:grpSpPr>
        <a:xfrm>
          <a:off x="0" y="0"/>
          <a:ext cx="0" cy="0"/>
          <a:chOff x="0" y="0"/>
          <a:chExt cx="0" cy="0"/>
        </a:xfrm>
      </p:grpSpPr>
      <p:sp>
        <p:nvSpPr>
          <p:cNvPr id="56" name="Texto del título"/>
          <p:cNvSpPr txBox="1">
            <a:spLocks noGrp="1"/>
          </p:cNvSpPr>
          <p:nvPr>
            <p:ph type="title"/>
          </p:nvPr>
        </p:nvSpPr>
        <p:spPr>
          <a:prstGeom prst="rect">
            <a:avLst/>
          </a:prstGeom>
        </p:spPr>
        <p:txBody>
          <a:bodyPr/>
          <a:lstStyle/>
          <a:p>
            <a:r>
              <a:t>Texto del título</a:t>
            </a:r>
          </a:p>
        </p:txBody>
      </p:sp>
      <p:sp>
        <p:nvSpPr>
          <p:cNvPr id="57" name="Nivel de texto 1…"/>
          <p:cNvSpPr txBox="1">
            <a:spLocks noGrp="1"/>
          </p:cNvSpPr>
          <p:nvPr>
            <p:ph type="body" idx="1"/>
          </p:nvPr>
        </p:nvSpPr>
        <p:spPr>
          <a:prstGeom prst="rect">
            <a:avLst/>
          </a:prstGeom>
        </p:spPr>
        <p:txBody>
          <a:bodyPr/>
          <a:lstStyle>
            <a:lvl1pPr>
              <a:defRPr sz="3567"/>
            </a:lvl1pPr>
            <a:lvl2pPr>
              <a:defRPr sz="3567"/>
            </a:lvl2pPr>
            <a:lvl3pPr>
              <a:defRPr sz="3567"/>
            </a:lvl3pPr>
            <a:lvl4pPr>
              <a:defRPr sz="3567"/>
            </a:lvl4pPr>
            <a:lvl5pPr>
              <a:defRPr sz="3567"/>
            </a:lvl5pPr>
          </a:lstStyle>
          <a:p>
            <a:r>
              <a:t>Nivel de texto 1</a:t>
            </a:r>
          </a:p>
          <a:p>
            <a:pPr lvl="1"/>
            <a:r>
              <a:t>Nivel de texto 2</a:t>
            </a:r>
          </a:p>
          <a:p>
            <a:pPr lvl="2"/>
            <a:r>
              <a:t>Nivel de texto 3</a:t>
            </a:r>
          </a:p>
          <a:p>
            <a:pPr lvl="3"/>
            <a:r>
              <a:t>Nivel de texto 4</a:t>
            </a:r>
          </a:p>
          <a:p>
            <a:pPr lvl="4"/>
            <a:r>
              <a:t>Nivel de texto 5</a:t>
            </a:r>
          </a:p>
        </p:txBody>
      </p:sp>
      <p:sp>
        <p:nvSpPr>
          <p:cNvPr id="5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9783776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ítulo, viñetas y foto">
    <p:spTree>
      <p:nvGrpSpPr>
        <p:cNvPr id="1" name=""/>
        <p:cNvGrpSpPr/>
        <p:nvPr/>
      </p:nvGrpSpPr>
      <p:grpSpPr>
        <a:xfrm>
          <a:off x="0" y="0"/>
          <a:ext cx="0" cy="0"/>
          <a:chOff x="0" y="0"/>
          <a:chExt cx="0" cy="0"/>
        </a:xfrm>
      </p:grpSpPr>
      <p:sp>
        <p:nvSpPr>
          <p:cNvPr id="65" name="Camino de arena entre dos colinas que lleva al mar"/>
          <p:cNvSpPr>
            <a:spLocks noGrp="1"/>
          </p:cNvSpPr>
          <p:nvPr>
            <p:ph type="pic" sz="half" idx="21"/>
          </p:nvPr>
        </p:nvSpPr>
        <p:spPr>
          <a:xfrm>
            <a:off x="10860920" y="3151423"/>
            <a:ext cx="13818409" cy="9301780"/>
          </a:xfrm>
          <a:prstGeom prst="rect">
            <a:avLst/>
          </a:prstGeom>
        </p:spPr>
        <p:txBody>
          <a:bodyPr lIns="91439" tIns="45719" rIns="91439" bIns="45719" anchor="t">
            <a:noAutofit/>
          </a:bodyPr>
          <a:lstStyle/>
          <a:p>
            <a:endParaRPr/>
          </a:p>
        </p:txBody>
      </p:sp>
      <p:sp>
        <p:nvSpPr>
          <p:cNvPr id="66" name="Texto del título"/>
          <p:cNvSpPr txBox="1">
            <a:spLocks noGrp="1"/>
          </p:cNvSpPr>
          <p:nvPr>
            <p:ph type="title"/>
          </p:nvPr>
        </p:nvSpPr>
        <p:spPr>
          <a:prstGeom prst="rect">
            <a:avLst/>
          </a:prstGeom>
        </p:spPr>
        <p:txBody>
          <a:bodyPr/>
          <a:lstStyle/>
          <a:p>
            <a:r>
              <a:t>Texto del título</a:t>
            </a:r>
          </a:p>
        </p:txBody>
      </p:sp>
      <p:sp>
        <p:nvSpPr>
          <p:cNvPr id="67" name="Nivel de texto 1…"/>
          <p:cNvSpPr txBox="1">
            <a:spLocks noGrp="1"/>
          </p:cNvSpPr>
          <p:nvPr>
            <p:ph type="body" sz="half" idx="1"/>
          </p:nvPr>
        </p:nvSpPr>
        <p:spPr>
          <a:xfrm>
            <a:off x="1673816" y="3151423"/>
            <a:ext cx="10130982" cy="9301780"/>
          </a:xfrm>
          <a:prstGeom prst="rect">
            <a:avLst/>
          </a:prstGeom>
        </p:spPr>
        <p:txBody>
          <a:bodyPr/>
          <a:lstStyle>
            <a:lvl1pPr marL="415242" indent="-415242">
              <a:spcBef>
                <a:spcPts val="3345"/>
              </a:spcBef>
              <a:defRPr sz="2825"/>
            </a:lvl1pPr>
            <a:lvl2pPr marL="830482" indent="-415242">
              <a:spcBef>
                <a:spcPts val="3345"/>
              </a:spcBef>
              <a:defRPr sz="2825"/>
            </a:lvl2pPr>
            <a:lvl3pPr marL="1245725" indent="-415242">
              <a:spcBef>
                <a:spcPts val="3345"/>
              </a:spcBef>
              <a:defRPr sz="2825"/>
            </a:lvl3pPr>
            <a:lvl4pPr marL="1660965" indent="-415242">
              <a:spcBef>
                <a:spcPts val="3345"/>
              </a:spcBef>
              <a:defRPr sz="2825"/>
            </a:lvl4pPr>
            <a:lvl5pPr marL="2076207" indent="-415242">
              <a:spcBef>
                <a:spcPts val="3345"/>
              </a:spcBef>
              <a:defRPr sz="2825"/>
            </a:lvl5pPr>
          </a:lstStyle>
          <a:p>
            <a:r>
              <a:t>Nivel de texto 1</a:t>
            </a:r>
          </a:p>
          <a:p>
            <a:pPr lvl="1"/>
            <a:r>
              <a:t>Nivel de texto 2</a:t>
            </a:r>
          </a:p>
          <a:p>
            <a:pPr lvl="2"/>
            <a:r>
              <a:t>Nivel de texto 3</a:t>
            </a:r>
          </a:p>
          <a:p>
            <a:pPr lvl="3"/>
            <a:r>
              <a:t>Nivel de texto 4</a:t>
            </a:r>
          </a:p>
          <a:p>
            <a:pPr lvl="4"/>
            <a:r>
              <a:t>Nivel de texto 5</a:t>
            </a:r>
          </a:p>
        </p:txBody>
      </p:sp>
      <p:sp>
        <p:nvSpPr>
          <p:cNvPr id="68"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48155074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Viñetas">
    <p:spTree>
      <p:nvGrpSpPr>
        <p:cNvPr id="1" name=""/>
        <p:cNvGrpSpPr/>
        <p:nvPr/>
      </p:nvGrpSpPr>
      <p:grpSpPr>
        <a:xfrm>
          <a:off x="0" y="0"/>
          <a:ext cx="0" cy="0"/>
          <a:chOff x="0" y="0"/>
          <a:chExt cx="0" cy="0"/>
        </a:xfrm>
      </p:grpSpPr>
      <p:sp>
        <p:nvSpPr>
          <p:cNvPr id="75" name="Nivel de texto 1…"/>
          <p:cNvSpPr txBox="1">
            <a:spLocks noGrp="1"/>
          </p:cNvSpPr>
          <p:nvPr>
            <p:ph type="body" idx="1"/>
          </p:nvPr>
        </p:nvSpPr>
        <p:spPr>
          <a:xfrm>
            <a:off x="1673817" y="1779032"/>
            <a:ext cx="20815709" cy="10165880"/>
          </a:xfrm>
          <a:prstGeom prst="rect">
            <a:avLst/>
          </a:prstGeom>
        </p:spPr>
        <p:txBody>
          <a:bodyPr/>
          <a:lstStyle>
            <a:lvl1pPr>
              <a:defRPr sz="3567"/>
            </a:lvl1pPr>
            <a:lvl2pPr>
              <a:defRPr sz="3567"/>
            </a:lvl2pPr>
            <a:lvl3pPr>
              <a:defRPr sz="3567"/>
            </a:lvl3pPr>
            <a:lvl4pPr>
              <a:defRPr sz="3567"/>
            </a:lvl4pPr>
            <a:lvl5pPr>
              <a:defRPr sz="3567"/>
            </a:lvl5pPr>
          </a:lstStyle>
          <a:p>
            <a:r>
              <a:t>Nivel de texto 1</a:t>
            </a:r>
          </a:p>
          <a:p>
            <a:pPr lvl="1"/>
            <a:r>
              <a:t>Nivel de texto 2</a:t>
            </a:r>
          </a:p>
          <a:p>
            <a:pPr lvl="2"/>
            <a:r>
              <a:t>Nivel de texto 3</a:t>
            </a:r>
          </a:p>
          <a:p>
            <a:pPr lvl="3"/>
            <a:r>
              <a:t>Nivel de texto 4</a:t>
            </a:r>
          </a:p>
          <a:p>
            <a:pPr lvl="4"/>
            <a:r>
              <a:t>Nivel de texto 5</a:t>
            </a:r>
          </a:p>
        </p:txBody>
      </p:sp>
      <p:sp>
        <p:nvSpPr>
          <p:cNvPr id="7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177432861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3 fotos">
    <p:spTree>
      <p:nvGrpSpPr>
        <p:cNvPr id="1" name=""/>
        <p:cNvGrpSpPr/>
        <p:nvPr/>
      </p:nvGrpSpPr>
      <p:grpSpPr>
        <a:xfrm>
          <a:off x="0" y="0"/>
          <a:ext cx="0" cy="0"/>
          <a:chOff x="0" y="0"/>
          <a:chExt cx="0" cy="0"/>
        </a:xfrm>
      </p:grpSpPr>
      <p:sp>
        <p:nvSpPr>
          <p:cNvPr id="83" name="Camino de arena entre dos colinas que lleva al mar"/>
          <p:cNvSpPr>
            <a:spLocks noGrp="1"/>
          </p:cNvSpPr>
          <p:nvPr>
            <p:ph type="pic" sz="quarter" idx="21"/>
          </p:nvPr>
        </p:nvSpPr>
        <p:spPr>
          <a:xfrm>
            <a:off x="15161867" y="7052579"/>
            <a:ext cx="8249515" cy="5553113"/>
          </a:xfrm>
          <a:prstGeom prst="rect">
            <a:avLst/>
          </a:prstGeom>
        </p:spPr>
        <p:txBody>
          <a:bodyPr lIns="91439" tIns="45719" rIns="91439" bIns="45719" anchor="t">
            <a:noAutofit/>
          </a:bodyPr>
          <a:lstStyle/>
          <a:p>
            <a:endParaRPr/>
          </a:p>
        </p:txBody>
      </p:sp>
      <p:sp>
        <p:nvSpPr>
          <p:cNvPr id="84" name="Garza volando bajo en una playa con una pequeña valla en primer plano"/>
          <p:cNvSpPr>
            <a:spLocks noGrp="1"/>
          </p:cNvSpPr>
          <p:nvPr>
            <p:ph type="pic" sz="quarter" idx="22"/>
          </p:nvPr>
        </p:nvSpPr>
        <p:spPr>
          <a:xfrm>
            <a:off x="15618077" y="864100"/>
            <a:ext cx="7337096" cy="7408386"/>
          </a:xfrm>
          <a:prstGeom prst="rect">
            <a:avLst/>
          </a:prstGeom>
        </p:spPr>
        <p:txBody>
          <a:bodyPr lIns="91439" tIns="45719" rIns="91439" bIns="45719" anchor="t">
            <a:noAutofit/>
          </a:bodyPr>
          <a:lstStyle/>
          <a:p>
            <a:endParaRPr/>
          </a:p>
        </p:txBody>
      </p:sp>
      <p:sp>
        <p:nvSpPr>
          <p:cNvPr id="85" name="Vista de la playa y el mar desde una duna de arena cubierta de hierba"/>
          <p:cNvSpPr>
            <a:spLocks noGrp="1"/>
          </p:cNvSpPr>
          <p:nvPr>
            <p:ph type="pic" idx="23"/>
          </p:nvPr>
        </p:nvSpPr>
        <p:spPr>
          <a:xfrm>
            <a:off x="-981636" y="1130957"/>
            <a:ext cx="17046479" cy="11474736"/>
          </a:xfrm>
          <a:prstGeom prst="rect">
            <a:avLst/>
          </a:prstGeom>
        </p:spPr>
        <p:txBody>
          <a:bodyPr lIns="91439" tIns="45719" rIns="91439" bIns="45719" anchor="t">
            <a:noAutofit/>
          </a:bodyPr>
          <a:lstStyle/>
          <a:p>
            <a:endParaRPr/>
          </a:p>
        </p:txBody>
      </p:sp>
      <p:sp>
        <p:nvSpPr>
          <p:cNvPr id="86"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1602364209"/>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Cita">
    <p:spTree>
      <p:nvGrpSpPr>
        <p:cNvPr id="1" name=""/>
        <p:cNvGrpSpPr/>
        <p:nvPr/>
      </p:nvGrpSpPr>
      <p:grpSpPr>
        <a:xfrm>
          <a:off x="0" y="0"/>
          <a:ext cx="0" cy="0"/>
          <a:chOff x="0" y="0"/>
          <a:chExt cx="0" cy="0"/>
        </a:xfrm>
      </p:grpSpPr>
      <p:sp>
        <p:nvSpPr>
          <p:cNvPr id="93" name="– Juan López"/>
          <p:cNvSpPr txBox="1">
            <a:spLocks noGrp="1"/>
          </p:cNvSpPr>
          <p:nvPr>
            <p:ph type="body" sz="quarter" idx="21"/>
          </p:nvPr>
        </p:nvSpPr>
        <p:spPr>
          <a:xfrm>
            <a:off x="2365995" y="8958683"/>
            <a:ext cx="19443937" cy="468526"/>
          </a:xfrm>
          <a:prstGeom prst="rect">
            <a:avLst/>
          </a:prstGeom>
        </p:spPr>
        <p:txBody>
          <a:bodyPr anchor="t">
            <a:spAutoFit/>
          </a:bodyPr>
          <a:lstStyle>
            <a:lvl1pPr marL="0" indent="0" algn="ctr">
              <a:spcBef>
                <a:spcPts val="0"/>
              </a:spcBef>
              <a:buSzTx/>
              <a:buNone/>
              <a:defRPr sz="2378" i="1"/>
            </a:lvl1pPr>
          </a:lstStyle>
          <a:p>
            <a:r>
              <a:t>– Juan López</a:t>
            </a:r>
          </a:p>
        </p:txBody>
      </p:sp>
      <p:sp>
        <p:nvSpPr>
          <p:cNvPr id="94" name="“Escribe una cita aquí”"/>
          <p:cNvSpPr txBox="1">
            <a:spLocks noGrp="1"/>
          </p:cNvSpPr>
          <p:nvPr>
            <p:ph type="body" sz="quarter" idx="22"/>
          </p:nvPr>
        </p:nvSpPr>
        <p:spPr>
          <a:xfrm>
            <a:off x="2365995" y="6167697"/>
            <a:ext cx="19443937" cy="651525"/>
          </a:xfrm>
          <a:prstGeom prst="rect">
            <a:avLst/>
          </a:prstGeom>
        </p:spPr>
        <p:txBody>
          <a:bodyPr>
            <a:spAutoFit/>
          </a:bodyPr>
          <a:lstStyle>
            <a:lvl1pPr marL="0" indent="0" algn="ctr">
              <a:spcBef>
                <a:spcPts val="0"/>
              </a:spcBef>
              <a:buSzTx/>
              <a:buNone/>
              <a:defRPr sz="3567">
                <a:latin typeface="+mn-lt"/>
                <a:ea typeface="+mn-ea"/>
                <a:cs typeface="+mn-cs"/>
                <a:sym typeface="Helvetica Neue Medium"/>
              </a:defRPr>
            </a:lvl1pPr>
          </a:lstStyle>
          <a:p>
            <a:r>
              <a:t>“Escribe una cita aquí”</a:t>
            </a:r>
          </a:p>
        </p:txBody>
      </p:sp>
      <p:sp>
        <p:nvSpPr>
          <p:cNvPr id="95"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192041061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Foto">
    <p:spTree>
      <p:nvGrpSpPr>
        <p:cNvPr id="1" name=""/>
        <p:cNvGrpSpPr/>
        <p:nvPr/>
      </p:nvGrpSpPr>
      <p:grpSpPr>
        <a:xfrm>
          <a:off x="0" y="0"/>
          <a:ext cx="0" cy="0"/>
          <a:chOff x="0" y="0"/>
          <a:chExt cx="0" cy="0"/>
        </a:xfrm>
      </p:grpSpPr>
      <p:sp>
        <p:nvSpPr>
          <p:cNvPr id="102" name="Vista de la playa y el mar desde una duna de arena cubierta de hierba"/>
          <p:cNvSpPr>
            <a:spLocks noGrp="1"/>
          </p:cNvSpPr>
          <p:nvPr>
            <p:ph type="pic" idx="21"/>
          </p:nvPr>
        </p:nvSpPr>
        <p:spPr>
          <a:xfrm>
            <a:off x="-50341" y="-1270733"/>
            <a:ext cx="24264019" cy="16333181"/>
          </a:xfrm>
          <a:prstGeom prst="rect">
            <a:avLst/>
          </a:prstGeom>
        </p:spPr>
        <p:txBody>
          <a:bodyPr lIns="91439" tIns="45719" rIns="91439" bIns="45719" anchor="t">
            <a:noAutofit/>
          </a:bodyPr>
          <a:lstStyle/>
          <a:p>
            <a:endParaRPr/>
          </a:p>
        </p:txBody>
      </p:sp>
      <p:sp>
        <p:nvSpPr>
          <p:cNvPr id="103"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3190979353"/>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En blanco">
    <p:spTree>
      <p:nvGrpSpPr>
        <p:cNvPr id="1" name=""/>
        <p:cNvGrpSpPr/>
        <p:nvPr/>
      </p:nvGrpSpPr>
      <p:grpSpPr>
        <a:xfrm>
          <a:off x="0" y="0"/>
          <a:ext cx="0" cy="0"/>
          <a:chOff x="0" y="0"/>
          <a:chExt cx="0" cy="0"/>
        </a:xfrm>
      </p:grpSpPr>
      <p:sp>
        <p:nvSpPr>
          <p:cNvPr id="110" name="Número de diapositiva"/>
          <p:cNvSpPr txBox="1">
            <a:spLocks noGrp="1"/>
          </p:cNvSpPr>
          <p:nvPr>
            <p:ph type="sldNum" sz="quarter" idx="2"/>
          </p:nvPr>
        </p:nvSpPr>
        <p:spPr>
          <a:prstGeom prst="rect">
            <a:avLst/>
          </a:prstGeom>
        </p:spPr>
        <p:txBody>
          <a:bodyPr/>
          <a:lstStyle/>
          <a:p>
            <a:fld id="{86CB4B4D-7CA3-9044-876B-883B54F8677D}" type="slidenum">
              <a:t>‹Nº›</a:t>
            </a:fld>
            <a:endParaRPr/>
          </a:p>
        </p:txBody>
      </p:sp>
    </p:spTree>
    <p:extLst>
      <p:ext uri="{BB962C8B-B14F-4D97-AF65-F5344CB8AC3E}">
        <p14:creationId xmlns:p14="http://schemas.microsoft.com/office/powerpoint/2010/main" val="283317610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txBox="1">
            <a:spLocks noGrp="1"/>
          </p:cNvSpPr>
          <p:nvPr>
            <p:ph type="title"/>
          </p:nvPr>
        </p:nvSpPr>
        <p:spPr>
          <a:xfrm>
            <a:off x="1769778" y="625441"/>
            <a:ext cx="20623787" cy="30378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Texto del título</a:t>
            </a:r>
          </a:p>
        </p:txBody>
      </p:sp>
      <p:sp>
        <p:nvSpPr>
          <p:cNvPr id="3" name="Nivel de texto 1…"/>
          <p:cNvSpPr txBox="1">
            <a:spLocks noGrp="1"/>
          </p:cNvSpPr>
          <p:nvPr>
            <p:ph type="body" idx="1"/>
          </p:nvPr>
        </p:nvSpPr>
        <p:spPr>
          <a:xfrm>
            <a:off x="1769778" y="3663292"/>
            <a:ext cx="20623787" cy="88455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txBox="1">
            <a:spLocks noGrp="1"/>
          </p:cNvSpPr>
          <p:nvPr>
            <p:ph type="sldNum" sz="quarter" idx="2"/>
          </p:nvPr>
        </p:nvSpPr>
        <p:spPr>
          <a:xfrm>
            <a:off x="11727525" y="13018085"/>
            <a:ext cx="684691" cy="536091"/>
          </a:xfrm>
          <a:prstGeom prst="rect">
            <a:avLst/>
          </a:prstGeom>
          <a:ln w="12700">
            <a:miter lim="400000"/>
          </a:ln>
        </p:spPr>
        <p:txBody>
          <a:bodyPr wrap="none" lIns="50800" tIns="50800" rIns="50800" bIns="50800">
            <a:normAutofit/>
          </a:bodyPr>
          <a:lstStyle>
            <a:lvl1pPr>
              <a:defRPr sz="2508"/>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2" r:id="rId12"/>
    <p:sldLayoutId id="2147483663" r:id="rId13"/>
    <p:sldLayoutId id="2147483664" r:id="rId14"/>
  </p:sldLayoutIdLst>
  <p:transition spd="med"/>
  <p:txStyles>
    <p:titleStyle>
      <a:lvl1pPr marL="0" marR="0" indent="0"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1pPr>
      <a:lvl2pPr marL="0" marR="0" indent="318530"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2pPr>
      <a:lvl3pPr marL="0" marR="0" indent="637059"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3pPr>
      <a:lvl4pPr marL="0" marR="0" indent="955586"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4pPr>
      <a:lvl5pPr marL="0" marR="0" indent="1274116"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5pPr>
      <a:lvl6pPr marL="0" marR="0" indent="1592645"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6pPr>
      <a:lvl7pPr marL="0" marR="0" indent="1911175"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7pPr>
      <a:lvl8pPr marL="0" marR="0" indent="2229702"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8pPr>
      <a:lvl9pPr marL="0" marR="0" indent="2548231" algn="ctr" defTabSz="814019" rtl="0" latinLnBrk="0">
        <a:lnSpc>
          <a:spcPct val="100000"/>
        </a:lnSpc>
        <a:spcBef>
          <a:spcPts val="0"/>
        </a:spcBef>
        <a:spcAft>
          <a:spcPts val="0"/>
        </a:spcAft>
        <a:buClrTx/>
        <a:buSzTx/>
        <a:buFontTx/>
        <a:buNone/>
        <a:tabLst/>
        <a:defRPr sz="11146" b="0" i="0" u="none" strike="noStrike" cap="none" spc="0" baseline="0">
          <a:solidFill>
            <a:srgbClr val="000000"/>
          </a:solidFill>
          <a:uFillTx/>
          <a:latin typeface="+mn-lt"/>
          <a:ea typeface="+mn-ea"/>
          <a:cs typeface="+mn-cs"/>
          <a:sym typeface="Helvetica Light"/>
        </a:defRPr>
      </a:lvl9pPr>
    </p:titleStyle>
    <p:bodyStyle>
      <a:lvl1pPr marL="619362"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1pPr>
      <a:lvl2pPr marL="1238725"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2pPr>
      <a:lvl3pPr marL="1858087"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3pPr>
      <a:lvl4pPr marL="2477447"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4pPr>
      <a:lvl5pPr marL="3096809"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5pPr>
      <a:lvl6pPr marL="3716172"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6pPr>
      <a:lvl7pPr marL="4335534"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7pPr>
      <a:lvl8pPr marL="4954896"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8pPr>
      <a:lvl9pPr marL="5574259" marR="0" indent="-619362" algn="l" defTabSz="814019" rtl="0" latinLnBrk="0">
        <a:lnSpc>
          <a:spcPct val="100000"/>
        </a:lnSpc>
        <a:spcBef>
          <a:spcPts val="5853"/>
        </a:spcBef>
        <a:spcAft>
          <a:spcPts val="0"/>
        </a:spcAft>
        <a:buClrTx/>
        <a:buSzPct val="75000"/>
        <a:buFontTx/>
        <a:buChar char="•"/>
        <a:tabLst/>
        <a:defRPr sz="5015" b="0" i="0" u="none" strike="noStrike" cap="none" spc="0" baseline="0">
          <a:solidFill>
            <a:srgbClr val="000000"/>
          </a:solidFill>
          <a:uFillTx/>
          <a:latin typeface="Helvetica"/>
          <a:ea typeface="Helvetica"/>
          <a:cs typeface="Helvetica"/>
          <a:sym typeface="Helvetica"/>
        </a:defRPr>
      </a:lvl9pPr>
    </p:bodyStyle>
    <p:otherStyle>
      <a:lvl1pPr marL="0" marR="0" indent="0"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1pPr>
      <a:lvl2pPr marL="0" marR="0" indent="318530"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2pPr>
      <a:lvl3pPr marL="0" marR="0" indent="637059"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3pPr>
      <a:lvl4pPr marL="0" marR="0" indent="955586"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4pPr>
      <a:lvl5pPr marL="0" marR="0" indent="1274116"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5pPr>
      <a:lvl6pPr marL="0" marR="0" indent="1592645"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6pPr>
      <a:lvl7pPr marL="0" marR="0" indent="1911175"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7pPr>
      <a:lvl8pPr marL="0" marR="0" indent="2229702"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8pPr>
      <a:lvl9pPr marL="0" marR="0" indent="2548231" algn="ctr" defTabSz="814019" rtl="0" latinLnBrk="0">
        <a:lnSpc>
          <a:spcPct val="100000"/>
        </a:lnSpc>
        <a:spcBef>
          <a:spcPts val="0"/>
        </a:spcBef>
        <a:spcAft>
          <a:spcPts val="0"/>
        </a:spcAft>
        <a:buClrTx/>
        <a:buSzTx/>
        <a:buFontTx/>
        <a:buNone/>
        <a:tabLst/>
        <a:defRPr sz="2508" b="0" i="0" u="none" strike="noStrike" cap="none" spc="0" baseline="0">
          <a:solidFill>
            <a:schemeClr val="tx1"/>
          </a:solidFill>
          <a:uFillTx/>
          <a:latin typeface="+mn-lt"/>
          <a:ea typeface="+mn-ea"/>
          <a:cs typeface="+mn-cs"/>
          <a:sym typeface="Helvetica Ligh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txBox="1">
            <a:spLocks noGrp="1"/>
          </p:cNvSpPr>
          <p:nvPr>
            <p:ph type="title"/>
          </p:nvPr>
        </p:nvSpPr>
        <p:spPr>
          <a:xfrm>
            <a:off x="1673817" y="355806"/>
            <a:ext cx="20815709" cy="22873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Texto del título</a:t>
            </a:r>
          </a:p>
        </p:txBody>
      </p:sp>
      <p:sp>
        <p:nvSpPr>
          <p:cNvPr id="3" name="Nivel de texto 1…"/>
          <p:cNvSpPr txBox="1">
            <a:spLocks noGrp="1"/>
          </p:cNvSpPr>
          <p:nvPr>
            <p:ph type="body" idx="1"/>
          </p:nvPr>
        </p:nvSpPr>
        <p:spPr>
          <a:xfrm>
            <a:off x="1673817" y="3151423"/>
            <a:ext cx="20815709" cy="930178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txBox="1">
            <a:spLocks noGrp="1"/>
          </p:cNvSpPr>
          <p:nvPr>
            <p:ph type="sldNum" sz="quarter" idx="2"/>
          </p:nvPr>
        </p:nvSpPr>
        <p:spPr>
          <a:xfrm>
            <a:off x="11846147" y="13088572"/>
            <a:ext cx="458459" cy="377155"/>
          </a:xfrm>
          <a:prstGeom prst="rect">
            <a:avLst/>
          </a:prstGeom>
          <a:ln w="12700">
            <a:miter lim="400000"/>
          </a:ln>
        </p:spPr>
        <p:txBody>
          <a:bodyPr wrap="none" lIns="50800" tIns="50800" rIns="50800" bIns="50800">
            <a:spAutoFit/>
          </a:bodyPr>
          <a:lstStyle>
            <a:lvl1pPr>
              <a:defRPr sz="1784" b="0">
                <a:latin typeface="Helvetica Neue Light"/>
                <a:ea typeface="Helvetica Neue Light"/>
                <a:cs typeface="Helvetica Neue Light"/>
                <a:sym typeface="Helvetica Neue Light"/>
              </a:defRPr>
            </a:lvl1pPr>
          </a:lstStyle>
          <a:p>
            <a:fld id="{86CB4B4D-7CA3-9044-876B-883B54F8677D}" type="slidenum">
              <a:t>‹Nº›</a:t>
            </a:fld>
            <a:endParaRPr/>
          </a:p>
        </p:txBody>
      </p:sp>
    </p:spTree>
    <p:extLst>
      <p:ext uri="{BB962C8B-B14F-4D97-AF65-F5344CB8AC3E}">
        <p14:creationId xmlns:p14="http://schemas.microsoft.com/office/powerpoint/2010/main" val="281364566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ransition spd="med"/>
  <p:txStyles>
    <p:titleStyle>
      <a:lvl1pPr marL="0" marR="0" indent="0"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1pPr>
      <a:lvl2pPr marL="0" marR="0" indent="339744"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2pPr>
      <a:lvl3pPr marL="0" marR="0" indent="679487"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3pPr>
      <a:lvl4pPr marL="0" marR="0" indent="1019228"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4pPr>
      <a:lvl5pPr marL="0" marR="0" indent="1358972"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5pPr>
      <a:lvl6pPr marL="0" marR="0" indent="1698715"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6pPr>
      <a:lvl7pPr marL="0" marR="0" indent="2038459"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7pPr>
      <a:lvl8pPr marL="0" marR="0" indent="2378200"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8pPr>
      <a:lvl9pPr marL="0" marR="0" indent="2717943" algn="ctr" defTabSz="613425" rtl="0" latinLnBrk="0">
        <a:lnSpc>
          <a:spcPct val="100000"/>
        </a:lnSpc>
        <a:spcBef>
          <a:spcPts val="0"/>
        </a:spcBef>
        <a:spcAft>
          <a:spcPts val="0"/>
        </a:spcAft>
        <a:buClrTx/>
        <a:buSzTx/>
        <a:buFontTx/>
        <a:buNone/>
        <a:tabLst/>
        <a:defRPr sz="8324" b="0" i="0" u="none" strike="noStrike" cap="none" spc="0" baseline="0">
          <a:solidFill>
            <a:srgbClr val="000000"/>
          </a:solidFill>
          <a:uFillTx/>
          <a:latin typeface="+mn-lt"/>
          <a:ea typeface="+mn-ea"/>
          <a:cs typeface="+mn-cs"/>
          <a:sym typeface="Helvetica Neue Medium"/>
        </a:defRPr>
      </a:lvl9pPr>
    </p:titleStyle>
    <p:bodyStyle>
      <a:lvl1pPr marL="471866"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1pPr>
      <a:lvl2pPr marL="943732"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2pPr>
      <a:lvl3pPr marL="1415598"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3pPr>
      <a:lvl4pPr marL="1887461"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4pPr>
      <a:lvl5pPr marL="2359327"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5pPr>
      <a:lvl6pPr marL="2831193"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6pPr>
      <a:lvl7pPr marL="3303059"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7pPr>
      <a:lvl8pPr marL="3774922"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8pPr>
      <a:lvl9pPr marL="4246788" marR="0" indent="-471866" algn="l" defTabSz="613425" latinLnBrk="0">
        <a:lnSpc>
          <a:spcPct val="100000"/>
        </a:lnSpc>
        <a:spcBef>
          <a:spcPts val="4384"/>
        </a:spcBef>
        <a:spcAft>
          <a:spcPts val="0"/>
        </a:spcAft>
        <a:buClrTx/>
        <a:buSzPct val="125000"/>
        <a:buFontTx/>
        <a:buChar char="•"/>
        <a:tabLst/>
        <a:defRPr sz="3863"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1pPr>
      <a:lvl2pPr marL="0" marR="0" indent="339744"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2pPr>
      <a:lvl3pPr marL="0" marR="0" indent="679487"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3pPr>
      <a:lvl4pPr marL="0" marR="0" indent="1019228"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4pPr>
      <a:lvl5pPr marL="0" marR="0" indent="1358972"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5pPr>
      <a:lvl6pPr marL="0" marR="0" indent="1698715"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6pPr>
      <a:lvl7pPr marL="0" marR="0" indent="2038459"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7pPr>
      <a:lvl8pPr marL="0" marR="0" indent="2378200"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8pPr>
      <a:lvl9pPr marL="0" marR="0" indent="2717943" algn="ctr" defTabSz="613425" rtl="0" latinLnBrk="0">
        <a:lnSpc>
          <a:spcPct val="100000"/>
        </a:lnSpc>
        <a:spcBef>
          <a:spcPts val="0"/>
        </a:spcBef>
        <a:spcAft>
          <a:spcPts val="0"/>
        </a:spcAft>
        <a:buClrTx/>
        <a:buSzTx/>
        <a:buFontTx/>
        <a:buNone/>
        <a:tabLst/>
        <a:defRPr sz="1784"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5: Classification, logistic regression and generative learning"/>
          <p:cNvSpPr txBox="1">
            <a:spLocks noGrp="1"/>
          </p:cNvSpPr>
          <p:nvPr>
            <p:ph type="ctrTitle"/>
          </p:nvPr>
        </p:nvSpPr>
        <p:spPr>
          <a:xfrm>
            <a:off x="4106653" y="4125196"/>
            <a:ext cx="15902837" cy="3454601"/>
          </a:xfrm>
          <a:prstGeom prst="rect">
            <a:avLst/>
          </a:prstGeom>
        </p:spPr>
        <p:txBody>
          <a:bodyPr>
            <a:noAutofit/>
          </a:bodyPr>
          <a:lstStyle>
            <a:lvl1pPr defTabSz="751205">
              <a:defRPr sz="10192"/>
            </a:lvl1pPr>
          </a:lstStyle>
          <a:p>
            <a:r>
              <a:rPr lang="es-ES" sz="11627" dirty="0"/>
              <a:t>6. Representaciones Vectoriales</a:t>
            </a:r>
            <a:endParaRPr sz="11627" dirty="0"/>
          </a:p>
        </p:txBody>
      </p:sp>
      <p:sp>
        <p:nvSpPr>
          <p:cNvPr id="120" name="Antonio Bahamonde…"/>
          <p:cNvSpPr txBox="1">
            <a:spLocks noGrp="1"/>
          </p:cNvSpPr>
          <p:nvPr>
            <p:ph type="subTitle" sz="quarter" idx="1"/>
          </p:nvPr>
        </p:nvSpPr>
        <p:spPr>
          <a:xfrm>
            <a:off x="4341853" y="8221158"/>
            <a:ext cx="15479638" cy="2561010"/>
          </a:xfrm>
          <a:prstGeom prst="rect">
            <a:avLst/>
          </a:prstGeom>
        </p:spPr>
        <p:txBody>
          <a:bodyPr>
            <a:normAutofit/>
          </a:bodyPr>
          <a:lstStyle/>
          <a:p>
            <a:pPr defTabSz="564351">
              <a:defRPr sz="4968"/>
            </a:pPr>
            <a:r>
              <a:rPr sz="6688" dirty="0"/>
              <a:t>Antonio </a:t>
            </a:r>
            <a:r>
              <a:rPr sz="6688" dirty="0" err="1"/>
              <a:t>Bahamonde</a:t>
            </a:r>
            <a:endParaRPr sz="6688" dirty="0"/>
          </a:p>
          <a:p>
            <a:pPr defTabSz="564351">
              <a:defRPr sz="4968"/>
            </a:pPr>
            <a:r>
              <a:rPr sz="6688" dirty="0" err="1"/>
              <a:t>Departamento</a:t>
            </a:r>
            <a:r>
              <a:rPr sz="6688" dirty="0"/>
              <a:t> de </a:t>
            </a:r>
            <a:r>
              <a:rPr sz="6688" dirty="0" err="1"/>
              <a:t>Informática</a:t>
            </a:r>
            <a:endParaRPr sz="6688"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Continuous/Discrete"/>
          <p:cNvSpPr txBox="1">
            <a:spLocks noGrp="1"/>
          </p:cNvSpPr>
          <p:nvPr>
            <p:ph type="title"/>
          </p:nvPr>
        </p:nvSpPr>
        <p:spPr>
          <a:prstGeom prst="rect">
            <a:avLst/>
          </a:prstGeom>
        </p:spPr>
        <p:txBody>
          <a:bodyPr/>
          <a:lstStyle/>
          <a:p>
            <a:r>
              <a:rPr dirty="0">
                <a:latin typeface="Helvetica Neue Medium" panose="02000503000000020004" pitchFamily="2" charset="0"/>
                <a:ea typeface="Helvetica Neue Medium" panose="02000503000000020004" pitchFamily="2" charset="0"/>
                <a:cs typeface="Helvetica Neue Medium" panose="02000503000000020004" pitchFamily="2" charset="0"/>
              </a:rPr>
              <a:t>Continuous/Discrete</a:t>
            </a:r>
          </a:p>
        </p:txBody>
      </p:sp>
      <p:sp>
        <p:nvSpPr>
          <p:cNvPr id="238" name="The components of the input vector are the characteristics (features) of the examples (cases)…"/>
          <p:cNvSpPr txBox="1">
            <a:spLocks noGrp="1"/>
          </p:cNvSpPr>
          <p:nvPr>
            <p:ph type="body" idx="1"/>
          </p:nvPr>
        </p:nvSpPr>
        <p:spPr>
          <a:xfrm>
            <a:off x="4214126" y="3702919"/>
            <a:ext cx="15467842" cy="8760388"/>
          </a:xfrm>
          <a:prstGeom prst="rect">
            <a:avLst/>
          </a:prstGeom>
        </p:spPr>
        <p:txBody>
          <a:bodyPr/>
          <a:lstStyle/>
          <a:p>
            <a:pPr marL="0" indent="0">
              <a:buSzTx/>
              <a:buNone/>
            </a:pPr>
            <a:r>
              <a:t>The components of the </a:t>
            </a:r>
            <a:r>
              <a:rPr b="1">
                <a:solidFill>
                  <a:schemeClr val="accent1"/>
                </a:solidFill>
              </a:rPr>
              <a:t>input</a:t>
            </a:r>
            <a:r>
              <a:t> vector are the characteristics (features) of the examples (cases)</a:t>
            </a:r>
          </a:p>
          <a:p>
            <a:pPr>
              <a:buSzPct val="45000"/>
              <a:buBlip>
                <a:blip r:embed="rId2"/>
              </a:buBlip>
            </a:pPr>
            <a:r>
              <a:t>Continuous</a:t>
            </a:r>
          </a:p>
          <a:p>
            <a:pPr>
              <a:buSzPct val="45000"/>
              <a:buBlip>
                <a:blip r:embed="rId2"/>
              </a:buBlip>
            </a:pPr>
            <a:r>
              <a:t>Discrete </a:t>
            </a:r>
          </a:p>
          <a:p>
            <a:pPr>
              <a:buSzPct val="45000"/>
              <a:buBlip>
                <a:blip r:embed="rId2"/>
              </a:buBlip>
            </a:pPr>
            <a:r>
              <a:t>Mixed</a:t>
            </a:r>
          </a:p>
        </p:txBody>
      </p:sp>
      <p:sp>
        <p:nvSpPr>
          <p:cNvPr id="239" name="Número de diapositiva"/>
          <p:cNvSpPr txBox="1">
            <a:spLocks noGrp="1"/>
          </p:cNvSpPr>
          <p:nvPr>
            <p:ph type="sldNum" sz="quarter" idx="4294967295"/>
          </p:nvPr>
        </p:nvSpPr>
        <p:spPr>
          <a:xfrm>
            <a:off x="11904619" y="12958846"/>
            <a:ext cx="336400" cy="53093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fld id="{86CB4B4D-7CA3-9044-876B-883B54F8677D}" type="slidenum">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Vectors"/>
          <p:cNvSpPr txBox="1">
            <a:spLocks noGrp="1"/>
          </p:cNvSpPr>
          <p:nvPr>
            <p:ph type="title"/>
          </p:nvPr>
        </p:nvSpPr>
        <p:spPr>
          <a:prstGeom prst="rect">
            <a:avLst/>
          </a:prstGeom>
        </p:spPr>
        <p:txBody>
          <a:bodyPr>
            <a:normAutofit/>
          </a:bodyPr>
          <a:lstStyle/>
          <a:p>
            <a:r>
              <a:rPr dirty="0">
                <a:latin typeface="Helvetica Neue Medium" panose="02000503000000020004" pitchFamily="2" charset="0"/>
                <a:ea typeface="Helvetica Neue Medium" panose="02000503000000020004" pitchFamily="2" charset="0"/>
                <a:cs typeface="Helvetica Neue Medium" panose="02000503000000020004" pitchFamily="2" charset="0"/>
              </a:rPr>
              <a:t>Vectors</a:t>
            </a:r>
          </a:p>
        </p:txBody>
      </p:sp>
      <p:pic>
        <p:nvPicPr>
          <p:cNvPr id="242" name="feedforward-nn.png" descr="feedforward-nn.png"/>
          <p:cNvPicPr>
            <a:picLocks noChangeAspect="1"/>
          </p:cNvPicPr>
          <p:nvPr/>
        </p:nvPicPr>
        <p:blipFill>
          <a:blip r:embed="rId2"/>
          <a:srcRect l="22274" r="18834" b="15531"/>
          <a:stretch>
            <a:fillRect/>
          </a:stretch>
        </p:blipFill>
        <p:spPr>
          <a:xfrm>
            <a:off x="13465868" y="4268350"/>
            <a:ext cx="8836081" cy="5110123"/>
          </a:xfrm>
          <a:prstGeom prst="rect">
            <a:avLst/>
          </a:prstGeom>
          <a:ln w="12700">
            <a:miter lim="400000"/>
          </a:ln>
        </p:spPr>
      </p:pic>
      <p:pic>
        <p:nvPicPr>
          <p:cNvPr id="243" name="pasted-image.pdf" descr="pasted-image.pdf"/>
          <p:cNvPicPr>
            <a:picLocks noChangeAspect="1"/>
          </p:cNvPicPr>
          <p:nvPr/>
        </p:nvPicPr>
        <p:blipFill>
          <a:blip r:embed="rId3"/>
          <a:srcRect b="31064"/>
          <a:stretch>
            <a:fillRect/>
          </a:stretch>
        </p:blipFill>
        <p:spPr>
          <a:xfrm>
            <a:off x="3089035" y="5950281"/>
            <a:ext cx="9857651" cy="3428192"/>
          </a:xfrm>
          <a:prstGeom prst="rect">
            <a:avLst/>
          </a:prstGeom>
          <a:ln w="12700">
            <a:miter lim="400000"/>
          </a:ln>
        </p:spPr>
      </p:pic>
      <p:sp>
        <p:nvSpPr>
          <p:cNvPr id="244" name="Número de diapositiva"/>
          <p:cNvSpPr txBox="1">
            <a:spLocks noGrp="1"/>
          </p:cNvSpPr>
          <p:nvPr>
            <p:ph type="sldNum" sz="quarter" idx="4294967295"/>
          </p:nvPr>
        </p:nvSpPr>
        <p:spPr>
          <a:xfrm>
            <a:off x="11904619" y="12958846"/>
            <a:ext cx="336400" cy="530933"/>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Continuous"/>
          <p:cNvSpPr txBox="1">
            <a:spLocks noGrp="1"/>
          </p:cNvSpPr>
          <p:nvPr>
            <p:ph type="title"/>
          </p:nvPr>
        </p:nvSpPr>
        <p:spPr>
          <a:prstGeom prst="rect">
            <a:avLst/>
          </a:prstGeom>
        </p:spPr>
        <p:txBody>
          <a:bodyPr>
            <a:normAutofit/>
          </a:bodyPr>
          <a:lstStyle/>
          <a:p>
            <a:r>
              <a:rPr dirty="0">
                <a:latin typeface="Helvetica Neue Medium" panose="02000503000000020004" pitchFamily="2" charset="0"/>
                <a:ea typeface="Helvetica Neue Medium" panose="02000503000000020004" pitchFamily="2" charset="0"/>
                <a:cs typeface="Helvetica Neue Medium" panose="02000503000000020004" pitchFamily="2" charset="0"/>
              </a:rPr>
              <a:t>Continuous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 name="Agrupar"/>
          <p:cNvGrpSpPr/>
          <p:nvPr/>
        </p:nvGrpSpPr>
        <p:grpSpPr>
          <a:xfrm>
            <a:off x="5084569" y="4436197"/>
            <a:ext cx="5716376" cy="3150200"/>
            <a:chOff x="0" y="0"/>
            <a:chExt cx="4102100" cy="2260599"/>
          </a:xfrm>
        </p:grpSpPr>
        <p:sp>
          <p:nvSpPr>
            <p:cNvPr id="248" name="Rectángulo"/>
            <p:cNvSpPr/>
            <p:nvPr/>
          </p:nvSpPr>
          <p:spPr>
            <a:xfrm>
              <a:off x="0" y="0"/>
              <a:ext cx="4102100" cy="1696386"/>
            </a:xfrm>
            <a:prstGeom prst="rect">
              <a:avLst/>
            </a:prstGeom>
            <a:solidFill>
              <a:srgbClr val="FFD5A9">
                <a:alpha val="50195"/>
              </a:srgbClr>
            </a:solidFill>
            <a:ln w="25400" cap="flat">
              <a:solidFill>
                <a:srgbClr val="FFA900"/>
              </a:solidFill>
              <a:prstDash val="solid"/>
              <a:miter lim="400000"/>
            </a:ln>
            <a:effectLst/>
          </p:spPr>
          <p:txBody>
            <a:bodyPr wrap="square" lIns="70791" tIns="70791" rIns="70791" bIns="70791" numCol="1" anchor="ctr">
              <a:noAutofit/>
            </a:bodyPr>
            <a:lstStyle/>
            <a:p>
              <a:pPr marR="80535" algn="just" defTabSz="1804997">
                <a:spcBef>
                  <a:spcPts val="1810"/>
                </a:spcBef>
                <a:defRPr sz="3400">
                  <a:uFill>
                    <a:solidFill>
                      <a:srgbClr val="000000"/>
                    </a:solidFill>
                  </a:uFill>
                  <a:latin typeface="Abadi MT Condensed Light"/>
                  <a:ea typeface="Abadi MT Condensed Light"/>
                  <a:cs typeface="Abadi MT Condensed Light"/>
                  <a:sym typeface="Abadi MT Condensed Light"/>
                </a:defRPr>
              </a:pPr>
              <a:endParaRPr sz="4738"/>
            </a:p>
          </p:txBody>
        </p:sp>
        <p:sp>
          <p:nvSpPr>
            <p:cNvPr id="249" name="Figura"/>
            <p:cNvSpPr/>
            <p:nvPr/>
          </p:nvSpPr>
          <p:spPr>
            <a:xfrm>
              <a:off x="1640839" y="1809476"/>
              <a:ext cx="411341" cy="451124"/>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rgbClr val="FFD5A9"/>
            </a:solidFill>
            <a:ln w="34925" cap="flat">
              <a:solidFill>
                <a:srgbClr val="008F00"/>
              </a:solidFill>
              <a:prstDash val="solid"/>
              <a:miter lim="400000"/>
            </a:ln>
            <a:effectLst/>
          </p:spPr>
          <p:txBody>
            <a:bodyPr wrap="square" lIns="70791" tIns="70791" rIns="70791" bIns="70791" numCol="1" anchor="ctr">
              <a:noAutofit/>
            </a:bodyPr>
            <a:lstStyle/>
            <a:p>
              <a:pPr marR="80535" algn="just" defTabSz="1804997">
                <a:spcBef>
                  <a:spcPts val="1810"/>
                </a:spcBef>
                <a:defRPr sz="3400">
                  <a:uFill>
                    <a:solidFill>
                      <a:srgbClr val="000000"/>
                    </a:solidFill>
                  </a:uFill>
                  <a:latin typeface="Abadi MT Condensed Light"/>
                  <a:ea typeface="Abadi MT Condensed Light"/>
                  <a:cs typeface="Abadi MT Condensed Light"/>
                  <a:sym typeface="Abadi MT Condensed Light"/>
                </a:defRPr>
              </a:pPr>
              <a:endParaRPr sz="4738"/>
            </a:p>
          </p:txBody>
        </p:sp>
      </p:grpSp>
      <p:sp>
        <p:nvSpPr>
          <p:cNvPr id="251" name="Rectángulo"/>
          <p:cNvSpPr/>
          <p:nvPr/>
        </p:nvSpPr>
        <p:spPr>
          <a:xfrm>
            <a:off x="12290896" y="5480366"/>
            <a:ext cx="5710478" cy="1291938"/>
          </a:xfrm>
          <a:prstGeom prst="rect">
            <a:avLst/>
          </a:prstGeom>
          <a:solidFill>
            <a:srgbClr val="FFD5A9">
              <a:alpha val="50195"/>
            </a:srgbClr>
          </a:solidFill>
          <a:ln w="25400">
            <a:solidFill>
              <a:srgbClr val="FFA900"/>
            </a:solidFill>
            <a:miter lim="400000"/>
          </a:ln>
        </p:spPr>
        <p:txBody>
          <a:bodyPr lIns="70791" tIns="70791" rIns="70791" bIns="70791" anchor="ctr"/>
          <a:lstStyle/>
          <a:p>
            <a:pPr marR="80535" algn="just" defTabSz="1804997">
              <a:spcBef>
                <a:spcPts val="1810"/>
              </a:spcBef>
              <a:defRPr sz="3400">
                <a:uFill>
                  <a:solidFill>
                    <a:srgbClr val="000000"/>
                  </a:solidFill>
                </a:uFill>
                <a:latin typeface="Abadi MT Condensed Light"/>
                <a:ea typeface="Abadi MT Condensed Light"/>
                <a:cs typeface="Abadi MT Condensed Light"/>
                <a:sym typeface="Abadi MT Condensed Light"/>
              </a:defRPr>
            </a:pPr>
            <a:endParaRPr sz="4738"/>
          </a:p>
        </p:txBody>
      </p:sp>
      <p:sp>
        <p:nvSpPr>
          <p:cNvPr id="252" name="Figura"/>
          <p:cNvSpPr/>
          <p:nvPr/>
        </p:nvSpPr>
        <p:spPr>
          <a:xfrm>
            <a:off x="14437834" y="6889106"/>
            <a:ext cx="849493" cy="714206"/>
          </a:xfrm>
          <a:custGeom>
            <a:avLst/>
            <a:gdLst/>
            <a:ahLst/>
            <a:cxnLst>
              <a:cxn ang="0">
                <a:pos x="wd2" y="hd2"/>
              </a:cxn>
              <a:cxn ang="5400000">
                <a:pos x="wd2" y="hd2"/>
              </a:cxn>
              <a:cxn ang="10800000">
                <a:pos x="wd2" y="hd2"/>
              </a:cxn>
              <a:cxn ang="16200000">
                <a:pos x="wd2" y="hd2"/>
              </a:cxn>
            </a:cxnLst>
            <a:rect l="0" t="0" r="r" b="b"/>
            <a:pathLst>
              <a:path w="21600" h="21600" extrusionOk="0">
                <a:moveTo>
                  <a:pt x="0" y="16200"/>
                </a:moveTo>
                <a:lnTo>
                  <a:pt x="5400" y="16200"/>
                </a:lnTo>
                <a:lnTo>
                  <a:pt x="5400" y="0"/>
                </a:lnTo>
                <a:lnTo>
                  <a:pt x="16200" y="0"/>
                </a:lnTo>
                <a:lnTo>
                  <a:pt x="16200" y="16200"/>
                </a:lnTo>
                <a:lnTo>
                  <a:pt x="21600" y="16200"/>
                </a:lnTo>
                <a:lnTo>
                  <a:pt x="10800" y="21600"/>
                </a:lnTo>
                <a:close/>
              </a:path>
            </a:pathLst>
          </a:custGeom>
          <a:solidFill>
            <a:srgbClr val="FFD5A9"/>
          </a:solidFill>
          <a:ln w="34925">
            <a:solidFill>
              <a:srgbClr val="008F00"/>
            </a:solidFill>
            <a:miter lim="400000"/>
          </a:ln>
        </p:spPr>
        <p:txBody>
          <a:bodyPr lIns="70791" tIns="70791" rIns="70791" bIns="70791" anchor="ctr"/>
          <a:lstStyle/>
          <a:p>
            <a:pPr marR="80535" algn="just" defTabSz="1804997">
              <a:spcBef>
                <a:spcPts val="1810"/>
              </a:spcBef>
              <a:defRPr sz="3400">
                <a:uFill>
                  <a:solidFill>
                    <a:srgbClr val="000000"/>
                  </a:solidFill>
                </a:uFill>
                <a:latin typeface="Abadi MT Condensed Light"/>
                <a:ea typeface="Abadi MT Condensed Light"/>
                <a:cs typeface="Abadi MT Condensed Light"/>
                <a:sym typeface="Abadi MT Condensed Light"/>
              </a:defRPr>
            </a:pPr>
            <a:endParaRPr sz="4738"/>
          </a:p>
        </p:txBody>
      </p:sp>
      <p:sp>
        <p:nvSpPr>
          <p:cNvPr id="253" name="Número de diapositiva"/>
          <p:cNvSpPr txBox="1">
            <a:spLocks noGrp="1"/>
          </p:cNvSpPr>
          <p:nvPr>
            <p:ph type="sldNum" sz="quarter" idx="2"/>
          </p:nvPr>
        </p:nvSpPr>
        <p:spPr>
          <a:xfrm>
            <a:off x="20333179" y="13073883"/>
            <a:ext cx="218008" cy="40267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254" name="Expert panels"/>
          <p:cNvSpPr txBox="1"/>
          <p:nvPr/>
        </p:nvSpPr>
        <p:spPr>
          <a:xfrm>
            <a:off x="5794357" y="4649750"/>
            <a:ext cx="3918678" cy="87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spAutoFit/>
          </a:bodyPr>
          <a:lstStyle>
            <a:lvl1pPr marR="57799" algn="just" defTabSz="1295400">
              <a:spcBef>
                <a:spcPts val="1300"/>
              </a:spcBef>
              <a:defRPr sz="3400">
                <a:uFill>
                  <a:solidFill>
                    <a:srgbClr val="000000"/>
                  </a:solidFill>
                </a:uFill>
                <a:latin typeface="Arial"/>
                <a:ea typeface="Arial"/>
                <a:cs typeface="Arial"/>
                <a:sym typeface="Arial"/>
              </a:defRPr>
            </a:lvl1pPr>
          </a:lstStyle>
          <a:p>
            <a:r>
              <a:rPr sz="4738"/>
              <a:t>Expert panels</a:t>
            </a:r>
          </a:p>
        </p:txBody>
      </p:sp>
      <p:sp>
        <p:nvSpPr>
          <p:cNvPr id="255" name="Consumer panels"/>
          <p:cNvSpPr txBox="1"/>
          <p:nvPr/>
        </p:nvSpPr>
        <p:spPr>
          <a:xfrm>
            <a:off x="12655185" y="5729313"/>
            <a:ext cx="4967042" cy="87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spAutoFit/>
          </a:bodyPr>
          <a:lstStyle>
            <a:lvl1pPr marR="57799" algn="just" defTabSz="1295400">
              <a:spcBef>
                <a:spcPts val="1300"/>
              </a:spcBef>
              <a:defRPr sz="3400">
                <a:uFill>
                  <a:solidFill>
                    <a:srgbClr val="000000"/>
                  </a:solidFill>
                </a:uFill>
                <a:latin typeface="Arial"/>
                <a:ea typeface="Arial"/>
                <a:cs typeface="Arial"/>
                <a:sym typeface="Arial"/>
              </a:defRPr>
            </a:lvl1pPr>
          </a:lstStyle>
          <a:p>
            <a:r>
              <a:rPr sz="4738"/>
              <a:t>Consumer panels</a:t>
            </a:r>
          </a:p>
        </p:txBody>
      </p:sp>
      <p:sp>
        <p:nvSpPr>
          <p:cNvPr id="256" name="Measurements"/>
          <p:cNvSpPr txBox="1"/>
          <p:nvPr/>
        </p:nvSpPr>
        <p:spPr>
          <a:xfrm>
            <a:off x="5827604" y="5463846"/>
            <a:ext cx="4223249" cy="87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spAutoFit/>
          </a:bodyPr>
          <a:lstStyle>
            <a:lvl1pPr marR="57799" algn="just" defTabSz="1295400">
              <a:spcBef>
                <a:spcPts val="1300"/>
              </a:spcBef>
              <a:defRPr sz="3400">
                <a:uFill>
                  <a:solidFill>
                    <a:srgbClr val="000000"/>
                  </a:solidFill>
                </a:uFill>
                <a:latin typeface="Arial"/>
                <a:ea typeface="Arial"/>
                <a:cs typeface="Arial"/>
                <a:sym typeface="Arial"/>
              </a:defRPr>
            </a:lvl1pPr>
          </a:lstStyle>
          <a:p>
            <a:r>
              <a:rPr sz="4738"/>
              <a:t>Measurements</a:t>
            </a:r>
          </a:p>
        </p:txBody>
      </p:sp>
      <p:sp>
        <p:nvSpPr>
          <p:cNvPr id="257" name="Product description"/>
          <p:cNvSpPr txBox="1"/>
          <p:nvPr/>
        </p:nvSpPr>
        <p:spPr>
          <a:xfrm>
            <a:off x="5256133" y="8631743"/>
            <a:ext cx="5404661" cy="87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spAutoFit/>
          </a:bodyPr>
          <a:lstStyle>
            <a:lvl1pPr marR="57799" algn="just" defTabSz="1295400">
              <a:spcBef>
                <a:spcPts val="1300"/>
              </a:spcBef>
              <a:defRPr sz="3400">
                <a:uFill>
                  <a:solidFill>
                    <a:srgbClr val="000000"/>
                  </a:solidFill>
                </a:uFill>
                <a:latin typeface="Arial"/>
                <a:ea typeface="Arial"/>
                <a:cs typeface="Arial"/>
                <a:sym typeface="Arial"/>
              </a:defRPr>
            </a:lvl1pPr>
          </a:lstStyle>
          <a:p>
            <a:r>
              <a:rPr sz="4738"/>
              <a:t>Product description</a:t>
            </a:r>
          </a:p>
        </p:txBody>
      </p:sp>
      <p:sp>
        <p:nvSpPr>
          <p:cNvPr id="258" name="Preference Judgments"/>
          <p:cNvSpPr txBox="1"/>
          <p:nvPr/>
        </p:nvSpPr>
        <p:spPr>
          <a:xfrm>
            <a:off x="12205516" y="8631743"/>
            <a:ext cx="6486689" cy="872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spAutoFit/>
          </a:bodyPr>
          <a:lstStyle>
            <a:lvl1pPr marR="57799" algn="just" defTabSz="1295400">
              <a:spcBef>
                <a:spcPts val="1300"/>
              </a:spcBef>
              <a:defRPr sz="3400">
                <a:uFill>
                  <a:solidFill>
                    <a:srgbClr val="000000"/>
                  </a:solidFill>
                </a:uFill>
                <a:latin typeface="Arial"/>
                <a:ea typeface="Arial"/>
                <a:cs typeface="Arial"/>
                <a:sym typeface="Arial"/>
              </a:defRPr>
            </a:lvl1pPr>
          </a:lstStyle>
          <a:p>
            <a:r>
              <a:rPr sz="4738"/>
              <a:t>Preference Judgments </a:t>
            </a:r>
          </a:p>
        </p:txBody>
      </p:sp>
      <p:sp>
        <p:nvSpPr>
          <p:cNvPr id="259" name="Consumer preferences of food products"/>
          <p:cNvSpPr txBox="1">
            <a:spLocks noGrp="1"/>
          </p:cNvSpPr>
          <p:nvPr>
            <p:ph type="title" idx="4294967295"/>
          </p:nvPr>
        </p:nvSpPr>
        <p:spPr>
          <a:xfrm>
            <a:off x="3989969" y="679177"/>
            <a:ext cx="16814665" cy="2053886"/>
          </a:xfrm>
          <a:prstGeom prst="rect">
            <a:avLst/>
          </a:prstGeom>
          <a:ln w="25400">
            <a:solidFill>
              <a:srgbClr val="008F00"/>
            </a:solidFill>
          </a:ln>
        </p:spPr>
        <p:txBody>
          <a:bodyPr lIns="96653" tIns="96653" rIns="96653" bIns="96653" anchor="ctr">
            <a:noAutofit/>
          </a:bodyPr>
          <a:lstStyle>
            <a:lvl1pPr marL="57799" marR="57799" defTabSz="1295400">
              <a:spcBef>
                <a:spcPts val="400"/>
              </a:spcBef>
              <a:defRPr sz="4700" b="1">
                <a:solidFill>
                  <a:srgbClr val="38571A"/>
                </a:solidFill>
                <a:uFill>
                  <a:solidFill>
                    <a:srgbClr val="38571A"/>
                  </a:solidFill>
                </a:uFill>
                <a:latin typeface="Arial"/>
                <a:ea typeface="Arial"/>
                <a:cs typeface="Arial"/>
                <a:sym typeface="Arial"/>
              </a:defRPr>
            </a:lvl1pPr>
          </a:lstStyle>
          <a:p>
            <a:r>
              <a:t>Consumer preferences of food products</a:t>
            </a:r>
          </a:p>
        </p:txBody>
      </p:sp>
      <p:sp>
        <p:nvSpPr>
          <p:cNvPr id="260" name="Features that entail consumer acceptance of beef meat from seven Spanish breeds"/>
          <p:cNvSpPr txBox="1"/>
          <p:nvPr/>
        </p:nvSpPr>
        <p:spPr>
          <a:xfrm>
            <a:off x="5089535" y="10759240"/>
            <a:ext cx="14615532" cy="14659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0791" tIns="70791" rIns="70791" bIns="70791" anchor="ctr">
            <a:spAutoFit/>
          </a:bodyPr>
          <a:lstStyle>
            <a:lvl1pPr algn="l" defTabSz="457200">
              <a:lnSpc>
                <a:spcPts val="5400"/>
              </a:lnSpc>
              <a:spcBef>
                <a:spcPts val="1200"/>
              </a:spcBef>
              <a:defRPr sz="3000">
                <a:latin typeface="Verdana"/>
                <a:ea typeface="Verdana"/>
                <a:cs typeface="Verdana"/>
                <a:sym typeface="Verdana"/>
              </a:defRPr>
            </a:lvl1pPr>
          </a:lstStyle>
          <a:p>
            <a:r>
              <a:rPr sz="4180" dirty="0"/>
              <a:t>Features that entail consumer acceptance of beef </a:t>
            </a:r>
            <a:br>
              <a:rPr lang="es-ES" sz="4180" dirty="0"/>
            </a:br>
            <a:r>
              <a:rPr sz="4180" dirty="0"/>
              <a:t>meat from seven Spanish breeds </a:t>
            </a:r>
          </a:p>
        </p:txBody>
      </p:sp>
      <p:sp>
        <p:nvSpPr>
          <p:cNvPr id="261" name="A consumer likes a product better than another"/>
          <p:cNvSpPr txBox="1"/>
          <p:nvPr/>
        </p:nvSpPr>
        <p:spPr>
          <a:xfrm rot="240000">
            <a:off x="11132463" y="3792855"/>
            <a:ext cx="9469280"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0791" tIns="70791" rIns="70791" bIns="70791" anchor="ctr">
            <a:spAutoFit/>
          </a:bodyPr>
          <a:lstStyle>
            <a:lvl1pPr>
              <a:defRPr b="1">
                <a:solidFill>
                  <a:schemeClr val="accent1"/>
                </a:solidFill>
                <a:latin typeface="Helvetica"/>
                <a:ea typeface="Helvetica"/>
                <a:cs typeface="Helvetica"/>
                <a:sym typeface="Helvetica"/>
              </a:defRPr>
            </a:lvl1pPr>
          </a:lstStyle>
          <a:p>
            <a:r>
              <a:rPr sz="3150"/>
              <a:t>A consumer likes a product better than another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 Sañudo, C.; Macie, E.S.; Olleta, J.L.; Villarroel, M.; Panea, B.; Albertí, P.. The effects of slaughter weight, breed type and ageing time on beef meat quality using two different texture devices. Meat Science, 66 (2004) 925–932"/>
          <p:cNvSpPr txBox="1">
            <a:spLocks noGrp="1"/>
          </p:cNvSpPr>
          <p:nvPr>
            <p:ph type="body" sz="half" idx="1"/>
          </p:nvPr>
        </p:nvSpPr>
        <p:spPr>
          <a:xfrm>
            <a:off x="4383143" y="10140381"/>
            <a:ext cx="15552004" cy="3517528"/>
          </a:xfrm>
          <a:prstGeom prst="rect">
            <a:avLst/>
          </a:prstGeom>
        </p:spPr>
        <p:txBody>
          <a:bodyPr/>
          <a:lstStyle/>
          <a:p>
            <a:pPr marL="1552849" lvl="1">
              <a:lnSpc>
                <a:spcPct val="80000"/>
              </a:lnSpc>
              <a:buClr>
                <a:srgbClr val="00A500"/>
              </a:buClr>
              <a:defRPr sz="1400"/>
            </a:pPr>
            <a:endParaRPr/>
          </a:p>
          <a:p>
            <a:pPr>
              <a:lnSpc>
                <a:spcPct val="80000"/>
              </a:lnSpc>
              <a:buClr>
                <a:srgbClr val="00A500"/>
              </a:buClr>
              <a:buFont typeface="Tahoma"/>
              <a:defRPr sz="1400"/>
            </a:pPr>
            <a:endParaRPr/>
          </a:p>
          <a:p>
            <a:pPr>
              <a:lnSpc>
                <a:spcPct val="80000"/>
              </a:lnSpc>
              <a:buClr>
                <a:srgbClr val="00A500"/>
              </a:buClr>
              <a:buFont typeface="Tahoma"/>
              <a:defRPr sz="1400"/>
            </a:pPr>
            <a:endParaRPr/>
          </a:p>
          <a:p>
            <a:pPr>
              <a:lnSpc>
                <a:spcPct val="80000"/>
              </a:lnSpc>
              <a:buClr>
                <a:srgbClr val="00A500"/>
              </a:buClr>
              <a:buFont typeface="Tahoma"/>
              <a:defRPr sz="1800"/>
            </a:pPr>
            <a:r>
              <a:t>(*) Sañudo, C.; Macie, E.S.; Olleta, J.L.; Villarroel, M.; Panea, B.; Albertí, P.. The effects of slaughter weight, breed type and ageing time on beef meat quality using two different texture devices. Meat Science, 66 (2004) 925–932</a:t>
            </a:r>
          </a:p>
        </p:txBody>
      </p:sp>
      <p:pic>
        <p:nvPicPr>
          <p:cNvPr id="264" name="cane de casina (2).jpg" descr="cane de casina (2).jpg"/>
          <p:cNvPicPr>
            <a:picLocks/>
          </p:cNvPicPr>
          <p:nvPr/>
        </p:nvPicPr>
        <p:blipFill>
          <a:blip r:embed="rId3"/>
          <a:srcRect l="24769" t="40157" r="35494" b="23622"/>
          <a:stretch>
            <a:fillRect/>
          </a:stretch>
        </p:blipFill>
        <p:spPr>
          <a:xfrm>
            <a:off x="12931163" y="3863575"/>
            <a:ext cx="7344569" cy="5021445"/>
          </a:xfrm>
          <a:prstGeom prst="rect">
            <a:avLst/>
          </a:prstGeom>
          <a:ln w="12700">
            <a:miter lim="400000"/>
          </a:ln>
        </p:spPr>
      </p:pic>
      <p:sp>
        <p:nvSpPr>
          <p:cNvPr id="265" name="101 animals…"/>
          <p:cNvSpPr txBox="1"/>
          <p:nvPr/>
        </p:nvSpPr>
        <p:spPr>
          <a:xfrm>
            <a:off x="3803836" y="3965040"/>
            <a:ext cx="8884276" cy="53497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0791" tIns="70791" rIns="70791" bIns="70791">
            <a:spAutoFit/>
          </a:bodyPr>
          <a:lstStyle/>
          <a:p>
            <a:pPr marL="534422" marR="80535" indent="-477793" algn="l" defTabSz="1804997">
              <a:lnSpc>
                <a:spcPct val="90000"/>
              </a:lnSpc>
              <a:spcBef>
                <a:spcPts val="1810"/>
              </a:spcBef>
              <a:buClr>
                <a:srgbClr val="00A500"/>
              </a:buClr>
              <a:buSzPct val="100000"/>
              <a:buFont typeface="Tahoma"/>
              <a:buChar char="o"/>
              <a:defRPr sz="3000">
                <a:uFill>
                  <a:solidFill>
                    <a:srgbClr val="000000"/>
                  </a:solidFill>
                </a:uFill>
                <a:latin typeface="Tahoma"/>
                <a:ea typeface="Tahoma"/>
                <a:cs typeface="Tahoma"/>
                <a:sym typeface="Tahoma"/>
              </a:defRPr>
            </a:pPr>
            <a:r>
              <a:rPr sz="4180"/>
              <a:t>101 animals </a:t>
            </a:r>
          </a:p>
          <a:p>
            <a:pPr marL="534422" marR="80535" indent="-477793" algn="l" defTabSz="1804997">
              <a:lnSpc>
                <a:spcPct val="90000"/>
              </a:lnSpc>
              <a:spcBef>
                <a:spcPts val="1810"/>
              </a:spcBef>
              <a:buClr>
                <a:srgbClr val="00A500"/>
              </a:buClr>
              <a:buSzPct val="100000"/>
              <a:buFont typeface="Tahoma"/>
              <a:buChar char="o"/>
              <a:defRPr sz="3000">
                <a:uFill>
                  <a:solidFill>
                    <a:srgbClr val="000000"/>
                  </a:solidFill>
                </a:uFill>
                <a:latin typeface="Tahoma"/>
                <a:ea typeface="Tahoma"/>
                <a:cs typeface="Tahoma"/>
                <a:sym typeface="Tahoma"/>
              </a:defRPr>
            </a:pPr>
            <a:r>
              <a:rPr sz="4180"/>
              <a:t>7 Spanish breeds</a:t>
            </a:r>
          </a:p>
          <a:p>
            <a:pPr marL="534422" marR="80535" indent="-477793" algn="l" defTabSz="1804997">
              <a:lnSpc>
                <a:spcPct val="90000"/>
              </a:lnSpc>
              <a:spcBef>
                <a:spcPts val="1810"/>
              </a:spcBef>
              <a:buClr>
                <a:srgbClr val="00A500"/>
              </a:buClr>
              <a:buSzPct val="100000"/>
              <a:buFont typeface="Tahoma"/>
              <a:buChar char="o"/>
              <a:defRPr sz="3000">
                <a:uFill>
                  <a:solidFill>
                    <a:srgbClr val="000000"/>
                  </a:solidFill>
                </a:uFill>
                <a:latin typeface="Tahoma"/>
                <a:ea typeface="Tahoma"/>
                <a:cs typeface="Tahoma"/>
                <a:sym typeface="Tahoma"/>
              </a:defRPr>
            </a:pPr>
            <a:r>
              <a:rPr sz="4180"/>
              <a:t>slaugther weight: </a:t>
            </a:r>
          </a:p>
          <a:p>
            <a:pPr marL="1091847" marR="80535" indent="-398161" algn="l" defTabSz="1804997">
              <a:lnSpc>
                <a:spcPct val="90000"/>
              </a:lnSpc>
              <a:spcBef>
                <a:spcPts val="1810"/>
              </a:spcBef>
              <a:buClr>
                <a:srgbClr val="00A500"/>
              </a:buClr>
              <a:buSzPct val="100000"/>
              <a:buChar char=""/>
              <a:defRPr sz="3000">
                <a:uFill>
                  <a:solidFill>
                    <a:srgbClr val="000000"/>
                  </a:solidFill>
                </a:uFill>
                <a:latin typeface="Tahoma"/>
                <a:ea typeface="Tahoma"/>
                <a:cs typeface="Tahoma"/>
                <a:sym typeface="Tahoma"/>
              </a:defRPr>
            </a:pPr>
            <a:r>
              <a:rPr sz="4180"/>
              <a:t>300–350 Kg. (light)</a:t>
            </a:r>
          </a:p>
          <a:p>
            <a:pPr marL="1091847" marR="80535" indent="-398161" algn="l" defTabSz="1804997">
              <a:lnSpc>
                <a:spcPct val="90000"/>
              </a:lnSpc>
              <a:spcBef>
                <a:spcPts val="1810"/>
              </a:spcBef>
              <a:buClr>
                <a:srgbClr val="00A500"/>
              </a:buClr>
              <a:buSzPct val="100000"/>
              <a:buChar char=""/>
              <a:defRPr sz="3000">
                <a:uFill>
                  <a:solidFill>
                    <a:srgbClr val="000000"/>
                  </a:solidFill>
                </a:uFill>
                <a:latin typeface="Tahoma"/>
                <a:ea typeface="Tahoma"/>
                <a:cs typeface="Tahoma"/>
                <a:sym typeface="Tahoma"/>
              </a:defRPr>
            </a:pPr>
            <a:r>
              <a:rPr sz="4180"/>
              <a:t>530–560 Kg. (heavy)</a:t>
            </a:r>
          </a:p>
          <a:p>
            <a:pPr marL="534422" marR="80535" indent="-477793" algn="l" defTabSz="1804997">
              <a:lnSpc>
                <a:spcPct val="90000"/>
              </a:lnSpc>
              <a:spcBef>
                <a:spcPts val="1810"/>
              </a:spcBef>
              <a:buClr>
                <a:srgbClr val="00A500"/>
              </a:buClr>
              <a:buSzPct val="100000"/>
              <a:buFont typeface="Tahoma"/>
              <a:buChar char="o"/>
              <a:defRPr sz="3000">
                <a:uFill>
                  <a:solidFill>
                    <a:srgbClr val="000000"/>
                  </a:solidFill>
                </a:uFill>
                <a:latin typeface="Tahoma"/>
                <a:ea typeface="Tahoma"/>
                <a:cs typeface="Tahoma"/>
                <a:sym typeface="Tahoma"/>
              </a:defRPr>
            </a:pPr>
            <a:r>
              <a:rPr sz="4180"/>
              <a:t>3 ageing periods: 1, 7, 21 days (*)</a:t>
            </a:r>
          </a:p>
        </p:txBody>
      </p:sp>
      <p:sp>
        <p:nvSpPr>
          <p:cNvPr id="266" name="Número de diapositiva"/>
          <p:cNvSpPr txBox="1">
            <a:spLocks noGrp="1"/>
          </p:cNvSpPr>
          <p:nvPr>
            <p:ph type="sldNum" sz="quarter" idx="2"/>
          </p:nvPr>
        </p:nvSpPr>
        <p:spPr>
          <a:xfrm>
            <a:off x="20333179" y="13073883"/>
            <a:ext cx="218008" cy="40267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
        <p:nvSpPr>
          <p:cNvPr id="267" name="Consumer preferences of food products"/>
          <p:cNvSpPr txBox="1">
            <a:spLocks noGrp="1"/>
          </p:cNvSpPr>
          <p:nvPr>
            <p:ph type="title" idx="4294967295"/>
          </p:nvPr>
        </p:nvSpPr>
        <p:spPr>
          <a:xfrm>
            <a:off x="3989969" y="679177"/>
            <a:ext cx="16814665" cy="2053886"/>
          </a:xfrm>
          <a:prstGeom prst="rect">
            <a:avLst/>
          </a:prstGeom>
          <a:ln w="25400">
            <a:solidFill>
              <a:srgbClr val="008F00"/>
            </a:solidFill>
          </a:ln>
        </p:spPr>
        <p:txBody>
          <a:bodyPr lIns="96653" tIns="96653" rIns="96653" bIns="96653" anchor="ctr">
            <a:noAutofit/>
          </a:bodyPr>
          <a:lstStyle>
            <a:lvl1pPr marL="57799" marR="57799" defTabSz="1295400">
              <a:spcBef>
                <a:spcPts val="400"/>
              </a:spcBef>
              <a:defRPr sz="4100" b="1">
                <a:solidFill>
                  <a:srgbClr val="38571A"/>
                </a:solidFill>
                <a:uFill>
                  <a:solidFill>
                    <a:srgbClr val="38571A"/>
                  </a:solidFill>
                </a:uFill>
                <a:latin typeface="Arial"/>
                <a:ea typeface="Arial"/>
                <a:cs typeface="Arial"/>
                <a:sym typeface="Arial"/>
              </a:defRPr>
            </a:lvl1pPr>
          </a:lstStyle>
          <a:p>
            <a:r>
              <a:t>Consumer preferences of food products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1" name="Tabla 1"/>
          <p:cNvGraphicFramePr/>
          <p:nvPr/>
        </p:nvGraphicFramePr>
        <p:xfrm>
          <a:off x="3662256" y="4225002"/>
          <a:ext cx="16124616" cy="6500815"/>
        </p:xfrm>
        <a:graphic>
          <a:graphicData uri="http://schemas.openxmlformats.org/drawingml/2006/table">
            <a:tbl>
              <a:tblPr>
                <a:tableStyleId>{4C3C2611-4C71-4FC5-86AE-919BDF0F9419}</a:tableStyleId>
              </a:tblPr>
              <a:tblGrid>
                <a:gridCol w="3926542">
                  <a:extLst>
                    <a:ext uri="{9D8B030D-6E8A-4147-A177-3AD203B41FA5}">
                      <a16:colId xmlns:a16="http://schemas.microsoft.com/office/drawing/2014/main" val="20000"/>
                    </a:ext>
                  </a:extLst>
                </a:gridCol>
                <a:gridCol w="2794742">
                  <a:extLst>
                    <a:ext uri="{9D8B030D-6E8A-4147-A177-3AD203B41FA5}">
                      <a16:colId xmlns:a16="http://schemas.microsoft.com/office/drawing/2014/main" val="20001"/>
                    </a:ext>
                  </a:extLst>
                </a:gridCol>
                <a:gridCol w="2553909">
                  <a:extLst>
                    <a:ext uri="{9D8B030D-6E8A-4147-A177-3AD203B41FA5}">
                      <a16:colId xmlns:a16="http://schemas.microsoft.com/office/drawing/2014/main" val="20002"/>
                    </a:ext>
                  </a:extLst>
                </a:gridCol>
                <a:gridCol w="2164632">
                  <a:extLst>
                    <a:ext uri="{9D8B030D-6E8A-4147-A177-3AD203B41FA5}">
                      <a16:colId xmlns:a16="http://schemas.microsoft.com/office/drawing/2014/main" val="20003"/>
                    </a:ext>
                  </a:extLst>
                </a:gridCol>
                <a:gridCol w="1906639">
                  <a:extLst>
                    <a:ext uri="{9D8B030D-6E8A-4147-A177-3AD203B41FA5}">
                      <a16:colId xmlns:a16="http://schemas.microsoft.com/office/drawing/2014/main" val="20004"/>
                    </a:ext>
                  </a:extLst>
                </a:gridCol>
                <a:gridCol w="2778152">
                  <a:extLst>
                    <a:ext uri="{9D8B030D-6E8A-4147-A177-3AD203B41FA5}">
                      <a16:colId xmlns:a16="http://schemas.microsoft.com/office/drawing/2014/main" val="20005"/>
                    </a:ext>
                  </a:extLst>
                </a:gridCol>
              </a:tblGrid>
              <a:tr h="701617">
                <a:tc>
                  <a:txBody>
                    <a:bodyPr/>
                    <a:lstStyle/>
                    <a:p>
                      <a:pPr marL="513280" marR="25599" indent="-487680" algn="l" defTabSz="1295400">
                        <a:spcBef>
                          <a:spcPts val="200"/>
                        </a:spcBef>
                        <a:defRPr sz="2200">
                          <a:uFill>
                            <a:solidFill>
                              <a:srgbClr val="000000"/>
                            </a:solidFill>
                          </a:uFill>
                          <a:latin typeface="Arial"/>
                          <a:ea typeface="Arial"/>
                          <a:cs typeface="Arial"/>
                          <a:sym typeface="Arial"/>
                        </a:defRPr>
                      </a:pPr>
                      <a:endParaRPr sz="3200"/>
                    </a:p>
                  </a:txBody>
                  <a:tcPr marL="0" marR="0" marT="0" marB="0" anchor="ctr" horzOverflow="overflow">
                    <a:lnL w="0">
                      <a:miter lim="400000"/>
                    </a:lnL>
                    <a:lnR w="0">
                      <a:miter lim="400000"/>
                    </a:lnR>
                    <a:lnT w="38100">
                      <a:solidFill>
                        <a:srgbClr val="434ED6"/>
                      </a:solidFill>
                    </a:lnT>
                    <a:lnB w="0">
                      <a:miter lim="400000"/>
                    </a:lnB>
                    <a:noFill/>
                  </a:tcPr>
                </a:tc>
                <a:tc gridSpan="2">
                  <a:txBody>
                    <a:bodyPr/>
                    <a:lstStyle/>
                    <a:p>
                      <a:pPr marL="513280" marR="25599" indent="-487680" defTabSz="1295400">
                        <a:spcBef>
                          <a:spcPts val="200"/>
                        </a:spcBef>
                      </a:pPr>
                      <a:r>
                        <a:rPr sz="3400" b="1">
                          <a:uFill>
                            <a:solidFill>
                              <a:srgbClr val="A7A7A7"/>
                            </a:solidFill>
                          </a:uFill>
                          <a:latin typeface="Arial"/>
                          <a:ea typeface="Arial"/>
                          <a:cs typeface="Arial"/>
                          <a:sym typeface="Arial"/>
                        </a:rPr>
                        <a:t> % fat</a:t>
                      </a:r>
                    </a:p>
                  </a:txBody>
                  <a:tcPr marL="0" marR="0" marT="0" marB="0" anchor="ctr" horzOverflow="overflow">
                    <a:lnL w="0">
                      <a:miter lim="400000"/>
                    </a:lnL>
                    <a:lnR w="0">
                      <a:miter lim="400000"/>
                    </a:lnR>
                    <a:lnT w="38100">
                      <a:solidFill>
                        <a:srgbClr val="434ED6"/>
                      </a:solidFill>
                    </a:lnT>
                    <a:lnB w="0">
                      <a:miter lim="400000"/>
                    </a:lnB>
                    <a:noFill/>
                  </a:tcPr>
                </a:tc>
                <a:tc hMerge="1">
                  <a:txBody>
                    <a:bodyPr/>
                    <a:lstStyle/>
                    <a:p>
                      <a:endParaRPr lang="es-ES"/>
                    </a:p>
                  </a:txBody>
                  <a:tcPr/>
                </a:tc>
                <a:tc>
                  <a:txBody>
                    <a:bodyPr/>
                    <a:lstStyle/>
                    <a:p>
                      <a:pPr marL="513280" marR="25599" indent="-487680" algn="l" defTabSz="1295400">
                        <a:spcBef>
                          <a:spcPts val="200"/>
                        </a:spcBef>
                        <a:defRPr sz="2500" b="1">
                          <a:uFill>
                            <a:solidFill>
                              <a:srgbClr val="000000"/>
                            </a:solidFill>
                          </a:uFill>
                          <a:latin typeface="Arial"/>
                          <a:ea typeface="Arial"/>
                          <a:cs typeface="Arial"/>
                          <a:sym typeface="Arial"/>
                        </a:defRPr>
                      </a:pPr>
                      <a:endParaRPr sz="3400"/>
                    </a:p>
                  </a:txBody>
                  <a:tcPr marL="0" marR="0" marT="0" marB="0" anchor="ctr" horzOverflow="overflow">
                    <a:lnL w="0">
                      <a:miter lim="400000"/>
                    </a:lnL>
                    <a:lnR w="0">
                      <a:miter lim="400000"/>
                    </a:lnR>
                    <a:lnT w="38100">
                      <a:solidFill>
                        <a:srgbClr val="434ED6"/>
                      </a:solidFill>
                    </a:lnT>
                    <a:lnB w="0">
                      <a:miter lim="400000"/>
                    </a:lnB>
                    <a:noFill/>
                  </a:tcPr>
                </a:tc>
                <a:tc>
                  <a:txBody>
                    <a:bodyPr/>
                    <a:lstStyle/>
                    <a:p>
                      <a:pPr marL="513280" marR="25599" indent="-487680" algn="l" defTabSz="1295400">
                        <a:spcBef>
                          <a:spcPts val="200"/>
                        </a:spcBef>
                        <a:defRPr sz="2500">
                          <a:uFill>
                            <a:solidFill>
                              <a:srgbClr val="000000"/>
                            </a:solidFill>
                          </a:uFill>
                          <a:latin typeface="Arial"/>
                          <a:ea typeface="Arial"/>
                          <a:cs typeface="Arial"/>
                          <a:sym typeface="Arial"/>
                        </a:defRPr>
                      </a:pPr>
                      <a:endParaRPr sz="3400"/>
                    </a:p>
                  </a:txBody>
                  <a:tcPr marL="0" marR="0" marT="0" marB="0" anchor="ctr" horzOverflow="overflow">
                    <a:lnL w="0">
                      <a:miter lim="400000"/>
                    </a:lnL>
                    <a:lnR w="0">
                      <a:miter lim="400000"/>
                    </a:lnR>
                    <a:lnT w="38100">
                      <a:solidFill>
                        <a:srgbClr val="434ED6"/>
                      </a:solidFill>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 fat</a:t>
                      </a:r>
                    </a:p>
                  </a:txBody>
                  <a:tcPr marL="0" marR="0" marT="0" marB="0" anchor="ctr" horzOverflow="overflow">
                    <a:lnL w="0">
                      <a:miter lim="400000"/>
                    </a:lnL>
                    <a:lnR w="0">
                      <a:miter lim="400000"/>
                    </a:lnR>
                    <a:lnT w="38100">
                      <a:solidFill>
                        <a:srgbClr val="434ED6"/>
                      </a:solidFill>
                    </a:lnT>
                    <a:lnB w="0">
                      <a:miter lim="400000"/>
                    </a:lnB>
                    <a:noFill/>
                  </a:tcPr>
                </a:tc>
                <a:extLst>
                  <a:ext uri="{0D108BD9-81ED-4DB2-BD59-A6C34878D82A}">
                    <a16:rowId xmlns:a16="http://schemas.microsoft.com/office/drawing/2014/main" val="10000"/>
                  </a:ext>
                </a:extLst>
              </a:tr>
              <a:tr h="1570617">
                <a:tc>
                  <a:txBody>
                    <a:bodyPr/>
                    <a:lstStyle/>
                    <a:p>
                      <a:pPr marL="513280" marR="25599" indent="-487680" defTabSz="1295400">
                        <a:spcBef>
                          <a:spcPts val="200"/>
                        </a:spcBef>
                      </a:pPr>
                      <a:r>
                        <a:rPr sz="3400" b="1">
                          <a:uFill>
                            <a:solidFill>
                              <a:srgbClr val="000000"/>
                            </a:solidFill>
                          </a:uFill>
                          <a:latin typeface="Arial"/>
                          <a:ea typeface="Arial"/>
                          <a:cs typeface="Arial"/>
                          <a:sym typeface="Arial"/>
                        </a:rPr>
                        <a:t>Breed</a:t>
                      </a:r>
                    </a:p>
                  </a:txBody>
                  <a:tcPr marL="0" marR="0" marT="0" marB="0" anchor="b" horzOverflow="overflow">
                    <a:lnL w="0">
                      <a:miter lim="400000"/>
                    </a:lnL>
                    <a:lnR w="0">
                      <a:miter lim="400000"/>
                    </a:lnR>
                    <a:lnT w="0">
                      <a:miter lim="400000"/>
                    </a:lnT>
                    <a:lnB w="1905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    inter-muscular</a:t>
                      </a:r>
                    </a:p>
                  </a:txBody>
                  <a:tcPr marL="0" marR="0" marT="0" marB="0" anchor="ctr" horzOverflow="overflow">
                    <a:lnL w="0">
                      <a:miter lim="400000"/>
                    </a:lnL>
                    <a:lnR w="0">
                      <a:miter lim="400000"/>
                    </a:lnR>
                    <a:lnT w="0">
                      <a:miter lim="400000"/>
                    </a:lnT>
                    <a:lnB w="1905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Sub-
cutaneous</a:t>
                      </a:r>
                    </a:p>
                  </a:txBody>
                  <a:tcPr marL="0" marR="0" marT="0" marB="0" anchor="ctr" horzOverflow="overflow">
                    <a:lnL w="0">
                      <a:miter lim="400000"/>
                    </a:lnL>
                    <a:lnR w="0">
                      <a:miter lim="400000"/>
                    </a:lnR>
                    <a:lnT w="0">
                      <a:miter lim="400000"/>
                    </a:lnT>
                    <a:lnB w="1905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
% Bone</a:t>
                      </a:r>
                    </a:p>
                  </a:txBody>
                  <a:tcPr marL="0" marR="0" marT="0" marB="0" anchor="ctr" horzOverflow="overflow">
                    <a:lnL w="0">
                      <a:miter lim="400000"/>
                    </a:lnL>
                    <a:lnR w="0">
                      <a:miter lim="400000"/>
                    </a:lnR>
                    <a:lnT w="0">
                      <a:miter lim="400000"/>
                    </a:lnT>
                    <a:lnB w="19050">
                      <a:solidFill>
                        <a:srgbClr val="434ED6"/>
                      </a:solidFill>
                    </a:lnB>
                    <a:noFill/>
                  </a:tcPr>
                </a:tc>
                <a:tc>
                  <a:txBody>
                    <a:bodyPr/>
                    <a:lstStyle/>
                    <a:p>
                      <a:pPr marL="513280" marR="25599" indent="-487680" defTabSz="1295400">
                        <a:spcBef>
                          <a:spcPts val="200"/>
                        </a:spcBef>
                      </a:pPr>
                      <a:r>
                        <a:rPr sz="3200" b="1">
                          <a:uFill>
                            <a:solidFill>
                              <a:srgbClr val="A7A7A7"/>
                            </a:solidFill>
                          </a:uFill>
                          <a:latin typeface="Arial"/>
                          <a:ea typeface="Arial"/>
                          <a:cs typeface="Arial"/>
                          <a:sym typeface="Arial"/>
                        </a:rPr>
                        <a:t>
%muscle</a:t>
                      </a:r>
                    </a:p>
                  </a:txBody>
                  <a:tcPr marL="0" marR="0" marT="0" marB="0" anchor="ctr" horzOverflow="overflow">
                    <a:lnL w="0">
                      <a:miter lim="400000"/>
                    </a:lnL>
                    <a:lnR w="0">
                      <a:miter lim="400000"/>
                    </a:lnR>
                    <a:lnT w="0">
                      <a:miter lim="400000"/>
                    </a:lnT>
                    <a:lnB w="1905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   Intra-muscular </a:t>
                      </a:r>
                    </a:p>
                  </a:txBody>
                  <a:tcPr marL="0" marR="0" marT="0" marB="0" anchor="ctr" horzOverflow="overflow">
                    <a:lnL w="0">
                      <a:miter lim="400000"/>
                    </a:lnL>
                    <a:lnR w="0">
                      <a:miter lim="400000"/>
                    </a:lnR>
                    <a:lnT w="0">
                      <a:miter lim="400000"/>
                    </a:lnT>
                    <a:lnB w="19050">
                      <a:solidFill>
                        <a:srgbClr val="434ED6"/>
                      </a:solidFill>
                    </a:lnB>
                    <a:noFill/>
                  </a:tcPr>
                </a:tc>
                <a:extLst>
                  <a:ext uri="{0D108BD9-81ED-4DB2-BD59-A6C34878D82A}">
                    <a16:rowId xmlns:a16="http://schemas.microsoft.com/office/drawing/2014/main" val="10001"/>
                  </a:ext>
                </a:extLst>
              </a:tr>
              <a:tr h="604083">
                <a:tc>
                  <a:txBody>
                    <a:bodyPr/>
                    <a:lstStyle/>
                    <a:p>
                      <a:pPr marL="513280" marR="25599" indent="-487680" algn="just" defTabSz="1295400">
                        <a:spcBef>
                          <a:spcPts val="200"/>
                        </a:spcBef>
                      </a:pPr>
                      <a:r>
                        <a:rPr sz="3400" b="1">
                          <a:uFill>
                            <a:solidFill>
                              <a:srgbClr val="000000"/>
                            </a:solidFill>
                          </a:uFill>
                          <a:latin typeface="Arial"/>
                          <a:ea typeface="Arial"/>
                          <a:cs typeface="Arial"/>
                          <a:sym typeface="Arial"/>
                        </a:rPr>
                        <a:t>Asturiana Valles</a:t>
                      </a:r>
                    </a:p>
                  </a:txBody>
                  <a:tcPr marL="0" marR="0" marT="0" marB="0" anchor="ctr" horzOverflow="overflow">
                    <a:lnL w="0">
                      <a:miter lim="400000"/>
                    </a:lnL>
                    <a:lnR w="0">
                      <a:miter lim="400000"/>
                    </a:lnR>
                    <a:lnT w="19050">
                      <a:solidFill>
                        <a:srgbClr val="434ED6"/>
                      </a:solidFill>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5.01</a:t>
                      </a:r>
                    </a:p>
                  </a:txBody>
                  <a:tcPr marL="0" marR="0" marT="0" marB="0" anchor="ctr" horzOverflow="overflow">
                    <a:lnL w="0">
                      <a:miter lim="400000"/>
                    </a:lnL>
                    <a:lnR w="0">
                      <a:miter lim="400000"/>
                    </a:lnR>
                    <a:lnT w="19050">
                      <a:solidFill>
                        <a:srgbClr val="434ED6"/>
                      </a:solidFill>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0.89</a:t>
                      </a:r>
                    </a:p>
                  </a:txBody>
                  <a:tcPr marL="0" marR="0" marT="0" marB="0" anchor="ctr" horzOverflow="overflow">
                    <a:lnL w="0">
                      <a:miter lim="400000"/>
                    </a:lnL>
                    <a:lnR w="0">
                      <a:miter lim="400000"/>
                    </a:lnR>
                    <a:lnT w="19050">
                      <a:solidFill>
                        <a:srgbClr val="434ED6"/>
                      </a:solidFill>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15.77</a:t>
                      </a:r>
                    </a:p>
                  </a:txBody>
                  <a:tcPr marL="0" marR="0" marT="0" marB="0" anchor="ctr" horzOverflow="overflow">
                    <a:lnL w="0">
                      <a:miter lim="400000"/>
                    </a:lnL>
                    <a:lnR w="0">
                      <a:miter lim="400000"/>
                    </a:lnR>
                    <a:lnT w="19050">
                      <a:solidFill>
                        <a:srgbClr val="434ED6"/>
                      </a:solidFill>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78.32</a:t>
                      </a:r>
                    </a:p>
                  </a:txBody>
                  <a:tcPr marL="0" marR="0" marT="0" marB="0" anchor="ctr" horzOverflow="overflow">
                    <a:lnL w="0">
                      <a:miter lim="400000"/>
                    </a:lnL>
                    <a:lnR w="0">
                      <a:miter lim="400000"/>
                    </a:lnR>
                    <a:lnT w="19050">
                      <a:solidFill>
                        <a:srgbClr val="434ED6"/>
                      </a:solidFill>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1.01</a:t>
                      </a:r>
                    </a:p>
                  </a:txBody>
                  <a:tcPr marL="0" marR="0" marT="0" marB="0" anchor="ctr" horzOverflow="overflow">
                    <a:lnL w="0">
                      <a:miter lim="400000"/>
                    </a:lnL>
                    <a:lnR w="0">
                      <a:miter lim="400000"/>
                    </a:lnR>
                    <a:lnT w="19050">
                      <a:solidFill>
                        <a:srgbClr val="434ED6"/>
                      </a:solidFill>
                    </a:lnT>
                    <a:lnB w="0">
                      <a:miter lim="400000"/>
                    </a:lnB>
                    <a:noFill/>
                  </a:tcPr>
                </a:tc>
                <a:extLst>
                  <a:ext uri="{0D108BD9-81ED-4DB2-BD59-A6C34878D82A}">
                    <a16:rowId xmlns:a16="http://schemas.microsoft.com/office/drawing/2014/main" val="10002"/>
                  </a:ext>
                </a:extLst>
              </a:tr>
              <a:tr h="604083">
                <a:tc>
                  <a:txBody>
                    <a:bodyPr/>
                    <a:lstStyle/>
                    <a:p>
                      <a:pPr marL="513280" marR="25599" indent="-487680" algn="just" defTabSz="1295400">
                        <a:spcBef>
                          <a:spcPts val="200"/>
                        </a:spcBef>
                      </a:pPr>
                      <a:r>
                        <a:rPr sz="3400" b="1">
                          <a:uFill>
                            <a:solidFill>
                              <a:srgbClr val="000000"/>
                            </a:solidFill>
                          </a:uFill>
                          <a:latin typeface="Arial"/>
                          <a:ea typeface="Arial"/>
                          <a:cs typeface="Arial"/>
                          <a:sym typeface="Arial"/>
                        </a:rPr>
                        <a:t>Avileña</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13.30</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3.55</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19.30</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63.84</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2.48</a:t>
                      </a:r>
                    </a:p>
                  </a:txBody>
                  <a:tcPr marL="0" marR="0" marT="0" marB="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03"/>
                  </a:ext>
                </a:extLst>
              </a:tr>
              <a:tr h="604083">
                <a:tc>
                  <a:txBody>
                    <a:bodyPr/>
                    <a:lstStyle/>
                    <a:p>
                      <a:pPr marL="513280" marR="25599" indent="-487680" algn="just" defTabSz="1295400">
                        <a:spcBef>
                          <a:spcPts val="200"/>
                        </a:spcBef>
                      </a:pPr>
                      <a:r>
                        <a:rPr sz="3400" b="1">
                          <a:uFill>
                            <a:solidFill>
                              <a:srgbClr val="000000"/>
                            </a:solidFill>
                          </a:uFill>
                          <a:latin typeface="Arial"/>
                          <a:ea typeface="Arial"/>
                          <a:cs typeface="Arial"/>
                          <a:sym typeface="Arial"/>
                        </a:rPr>
                        <a:t>Morucha</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13.71</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3.93</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18.68</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63.68</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2.59</a:t>
                      </a:r>
                    </a:p>
                  </a:txBody>
                  <a:tcPr marL="0" marR="0" marT="0" marB="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04"/>
                  </a:ext>
                </a:extLst>
              </a:tr>
              <a:tr h="604083">
                <a:tc>
                  <a:txBody>
                    <a:bodyPr/>
                    <a:lstStyle/>
                    <a:p>
                      <a:pPr marL="513280" marR="25599" indent="-487680" algn="just" defTabSz="1295400">
                        <a:spcBef>
                          <a:spcPts val="200"/>
                        </a:spcBef>
                      </a:pPr>
                      <a:r>
                        <a:rPr sz="3400" b="1">
                          <a:uFill>
                            <a:solidFill>
                              <a:srgbClr val="000000"/>
                            </a:solidFill>
                          </a:uFill>
                          <a:latin typeface="Arial"/>
                          <a:ea typeface="Arial"/>
                          <a:cs typeface="Arial"/>
                          <a:sym typeface="Arial"/>
                        </a:rPr>
                        <a:t>Parda Alpina</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10.27</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2.70</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20.53</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66.50</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1.96</a:t>
                      </a:r>
                    </a:p>
                  </a:txBody>
                  <a:tcPr marL="0" marR="0" marT="0" marB="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05"/>
                  </a:ext>
                </a:extLst>
              </a:tr>
              <a:tr h="604083">
                <a:tc>
                  <a:txBody>
                    <a:bodyPr/>
                    <a:lstStyle/>
                    <a:p>
                      <a:pPr marL="513280" marR="25599" indent="-487680" algn="just" defTabSz="1295400">
                        <a:spcBef>
                          <a:spcPts val="200"/>
                        </a:spcBef>
                      </a:pPr>
                      <a:r>
                        <a:rPr sz="3400" b="1">
                          <a:uFill>
                            <a:solidFill>
                              <a:srgbClr val="000000"/>
                            </a:solidFill>
                          </a:uFill>
                          <a:latin typeface="Arial"/>
                          <a:ea typeface="Arial"/>
                          <a:cs typeface="Arial"/>
                          <a:sym typeface="Arial"/>
                        </a:rPr>
                        <a:t>Pirenaica</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10.11</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3.09</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17.66</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69.14</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1.59</a:t>
                      </a:r>
                    </a:p>
                  </a:txBody>
                  <a:tcPr marL="0" marR="0" marT="0" marB="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06"/>
                  </a:ext>
                </a:extLst>
              </a:tr>
              <a:tr h="604083">
                <a:tc>
                  <a:txBody>
                    <a:bodyPr/>
                    <a:lstStyle/>
                    <a:p>
                      <a:pPr marL="513280" marR="25599" indent="-487680" algn="just" defTabSz="1295400">
                        <a:spcBef>
                          <a:spcPts val="200"/>
                        </a:spcBef>
                      </a:pPr>
                      <a:r>
                        <a:rPr sz="3400" b="1">
                          <a:uFill>
                            <a:solidFill>
                              <a:srgbClr val="000000"/>
                            </a:solidFill>
                          </a:uFill>
                          <a:latin typeface="Arial"/>
                          <a:ea typeface="Arial"/>
                          <a:cs typeface="Arial"/>
                          <a:sym typeface="Arial"/>
                        </a:rPr>
                        <a:t>Retinta</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13.76</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4.52</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20.40</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61.33</a:t>
                      </a:r>
                    </a:p>
                  </a:txBody>
                  <a:tcPr marL="0" marR="0" marT="0" marB="0" anchor="ctr" horzOverflow="overflow">
                    <a:lnL w="0">
                      <a:miter lim="400000"/>
                    </a:lnL>
                    <a:lnR w="0">
                      <a:miter lim="400000"/>
                    </a:lnR>
                    <a:lnT w="0">
                      <a:miter lim="400000"/>
                    </a:lnT>
                    <a:lnB w="0">
                      <a:miter lim="400000"/>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2.12</a:t>
                      </a:r>
                    </a:p>
                  </a:txBody>
                  <a:tcPr marL="0" marR="0" marT="0" marB="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07"/>
                  </a:ext>
                </a:extLst>
              </a:tr>
              <a:tr h="604083">
                <a:tc>
                  <a:txBody>
                    <a:bodyPr/>
                    <a:lstStyle/>
                    <a:p>
                      <a:pPr marL="513280" marR="25599" indent="-487680" algn="just" defTabSz="1295400">
                        <a:spcBef>
                          <a:spcPts val="200"/>
                        </a:spcBef>
                      </a:pPr>
                      <a:r>
                        <a:rPr sz="3400" b="1">
                          <a:uFill>
                            <a:solidFill>
                              <a:srgbClr val="000000"/>
                            </a:solidFill>
                          </a:uFill>
                          <a:latin typeface="Arial"/>
                          <a:ea typeface="Arial"/>
                          <a:cs typeface="Arial"/>
                          <a:sym typeface="Arial"/>
                        </a:rPr>
                        <a:t>Rubia Gallega</a:t>
                      </a:r>
                    </a:p>
                  </a:txBody>
                  <a:tcPr marL="0" marR="0" marT="0" marB="0" anchor="ctr" horzOverflow="overflow">
                    <a:lnL w="0">
                      <a:miter lim="400000"/>
                    </a:lnL>
                    <a:lnR w="0">
                      <a:miter lim="400000"/>
                    </a:lnR>
                    <a:lnT w="0">
                      <a:miter lim="400000"/>
                    </a:lnT>
                    <a:lnB w="3810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5.90</a:t>
                      </a:r>
                    </a:p>
                  </a:txBody>
                  <a:tcPr marL="0" marR="0" marT="0" marB="0" anchor="ctr" horzOverflow="overflow">
                    <a:lnL w="0">
                      <a:miter lim="400000"/>
                    </a:lnL>
                    <a:lnR w="0">
                      <a:miter lim="400000"/>
                    </a:lnR>
                    <a:lnT w="0">
                      <a:miter lim="400000"/>
                    </a:lnT>
                    <a:lnB w="3810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1.12</a:t>
                      </a:r>
                    </a:p>
                  </a:txBody>
                  <a:tcPr marL="0" marR="0" marT="0" marB="0" anchor="ctr" horzOverflow="overflow">
                    <a:lnL w="0">
                      <a:miter lim="400000"/>
                    </a:lnL>
                    <a:lnR w="0">
                      <a:miter lim="400000"/>
                    </a:lnR>
                    <a:lnT w="0">
                      <a:miter lim="400000"/>
                    </a:lnT>
                    <a:lnB w="3810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16.34</a:t>
                      </a:r>
                    </a:p>
                  </a:txBody>
                  <a:tcPr marL="0" marR="0" marT="0" marB="0" anchor="ctr" horzOverflow="overflow">
                    <a:lnL w="0">
                      <a:miter lim="400000"/>
                    </a:lnL>
                    <a:lnR w="0">
                      <a:miter lim="400000"/>
                    </a:lnR>
                    <a:lnT w="0">
                      <a:miter lim="400000"/>
                    </a:lnT>
                    <a:lnB w="3810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76.64</a:t>
                      </a:r>
                    </a:p>
                  </a:txBody>
                  <a:tcPr marL="0" marR="0" marT="0" marB="0" anchor="ctr" horzOverflow="overflow">
                    <a:lnL w="0">
                      <a:miter lim="400000"/>
                    </a:lnL>
                    <a:lnR w="0">
                      <a:miter lim="400000"/>
                    </a:lnR>
                    <a:lnT w="0">
                      <a:miter lim="400000"/>
                    </a:lnT>
                    <a:lnB w="38100">
                      <a:solidFill>
                        <a:srgbClr val="434ED6"/>
                      </a:solidFill>
                    </a:lnB>
                    <a:noFill/>
                  </a:tcPr>
                </a:tc>
                <a:tc>
                  <a:txBody>
                    <a:bodyPr/>
                    <a:lstStyle/>
                    <a:p>
                      <a:pPr marL="513280" marR="25599" indent="-487680" defTabSz="1295400">
                        <a:spcBef>
                          <a:spcPts val="200"/>
                        </a:spcBef>
                      </a:pPr>
                      <a:r>
                        <a:rPr sz="3400" b="1">
                          <a:uFill>
                            <a:solidFill>
                              <a:srgbClr val="A7A7A7"/>
                            </a:solidFill>
                          </a:uFill>
                          <a:latin typeface="Arial"/>
                          <a:ea typeface="Arial"/>
                          <a:cs typeface="Arial"/>
                          <a:sym typeface="Arial"/>
                        </a:rPr>
                        <a:t>1.27</a:t>
                      </a:r>
                    </a:p>
                  </a:txBody>
                  <a:tcPr marL="0" marR="0" marT="0" marB="0" anchor="ctr" horzOverflow="overflow">
                    <a:lnL w="0">
                      <a:miter lim="400000"/>
                    </a:lnL>
                    <a:lnR w="0">
                      <a:miter lim="400000"/>
                    </a:lnR>
                    <a:lnT w="0">
                      <a:miter lim="400000"/>
                    </a:lnT>
                    <a:lnB w="38100">
                      <a:solidFill>
                        <a:srgbClr val="434ED6"/>
                      </a:solidFill>
                    </a:lnB>
                    <a:noFill/>
                  </a:tcPr>
                </a:tc>
                <a:extLst>
                  <a:ext uri="{0D108BD9-81ED-4DB2-BD59-A6C34878D82A}">
                    <a16:rowId xmlns:a16="http://schemas.microsoft.com/office/drawing/2014/main" val="10008"/>
                  </a:ext>
                </a:extLst>
              </a:tr>
            </a:tbl>
          </a:graphicData>
        </a:graphic>
      </p:graphicFrame>
      <p:sp>
        <p:nvSpPr>
          <p:cNvPr id="272" name="Número de diapositiva"/>
          <p:cNvSpPr txBox="1">
            <a:spLocks noGrp="1"/>
          </p:cNvSpPr>
          <p:nvPr>
            <p:ph type="sldNum" sz="quarter" idx="2"/>
          </p:nvPr>
        </p:nvSpPr>
        <p:spPr>
          <a:xfrm>
            <a:off x="20333179" y="13073883"/>
            <a:ext cx="218008" cy="40267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sp>
        <p:nvSpPr>
          <p:cNvPr id="273" name="Consumer preferences of food products"/>
          <p:cNvSpPr txBox="1">
            <a:spLocks noGrp="1"/>
          </p:cNvSpPr>
          <p:nvPr>
            <p:ph type="title" idx="4294967295"/>
          </p:nvPr>
        </p:nvSpPr>
        <p:spPr>
          <a:xfrm>
            <a:off x="3989969" y="679177"/>
            <a:ext cx="16814665" cy="2053886"/>
          </a:xfrm>
          <a:prstGeom prst="rect">
            <a:avLst/>
          </a:prstGeom>
          <a:ln w="25400">
            <a:solidFill>
              <a:srgbClr val="008F00"/>
            </a:solidFill>
          </a:ln>
        </p:spPr>
        <p:txBody>
          <a:bodyPr lIns="96653" tIns="96653" rIns="96653" bIns="96653" anchor="ctr">
            <a:noAutofit/>
          </a:bodyPr>
          <a:lstStyle>
            <a:lvl1pPr marL="57799" marR="57799" defTabSz="1295400">
              <a:spcBef>
                <a:spcPts val="400"/>
              </a:spcBef>
              <a:defRPr sz="4100" b="1">
                <a:solidFill>
                  <a:srgbClr val="38571A"/>
                </a:solidFill>
                <a:uFill>
                  <a:solidFill>
                    <a:srgbClr val="38571A"/>
                  </a:solidFill>
                </a:uFill>
                <a:latin typeface="Arial"/>
                <a:ea typeface="Arial"/>
                <a:cs typeface="Arial"/>
                <a:sym typeface="Arial"/>
              </a:defRPr>
            </a:lvl1pPr>
          </a:lstStyle>
          <a:p>
            <a:r>
              <a:t>Consumer preferences of food products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Each piece of meat was described by:…"/>
          <p:cNvSpPr txBox="1">
            <a:spLocks noGrp="1"/>
          </p:cNvSpPr>
          <p:nvPr>
            <p:ph type="body" idx="1"/>
          </p:nvPr>
        </p:nvSpPr>
        <p:spPr>
          <a:xfrm>
            <a:off x="4379605" y="3053513"/>
            <a:ext cx="15404128" cy="9677417"/>
          </a:xfrm>
          <a:prstGeom prst="rect">
            <a:avLst/>
          </a:prstGeom>
        </p:spPr>
        <p:txBody>
          <a:bodyPr lIns="96653" tIns="96653" rIns="96653" bIns="96653" anchor="t">
            <a:noAutofit/>
          </a:bodyPr>
          <a:lstStyle/>
          <a:p>
            <a:pPr marL="0" indent="0" defTabSz="637059">
              <a:lnSpc>
                <a:spcPts val="6688"/>
              </a:lnSpc>
              <a:spcBef>
                <a:spcPts val="1673"/>
              </a:spcBef>
              <a:buSzTx/>
              <a:buNone/>
              <a:defRPr sz="2500">
                <a:latin typeface="Verdana"/>
                <a:ea typeface="Verdana"/>
                <a:cs typeface="Verdana"/>
                <a:sym typeface="Verdana"/>
              </a:defRPr>
            </a:pPr>
            <a:endParaRPr/>
          </a:p>
          <a:p>
            <a:pPr marL="0" indent="0" defTabSz="637059">
              <a:lnSpc>
                <a:spcPts val="6688"/>
              </a:lnSpc>
              <a:spcBef>
                <a:spcPts val="1673"/>
              </a:spcBef>
              <a:buSzTx/>
              <a:buNone/>
              <a:defRPr sz="2500">
                <a:latin typeface="Verdana"/>
                <a:ea typeface="Verdana"/>
                <a:cs typeface="Verdana"/>
                <a:sym typeface="Verdana"/>
              </a:defRPr>
            </a:pPr>
            <a:endParaRPr/>
          </a:p>
          <a:p>
            <a:pPr marL="0" indent="0" defTabSz="637059">
              <a:lnSpc>
                <a:spcPts val="6688"/>
              </a:lnSpc>
              <a:spcBef>
                <a:spcPts val="1673"/>
              </a:spcBef>
              <a:buSzTx/>
              <a:buNone/>
              <a:defRPr sz="2500">
                <a:latin typeface="Verdana"/>
                <a:ea typeface="Verdana"/>
                <a:cs typeface="Verdana"/>
                <a:sym typeface="Verdana"/>
              </a:defRPr>
            </a:pPr>
            <a:r>
              <a:t>Each </a:t>
            </a:r>
            <a:r>
              <a:rPr b="1">
                <a:solidFill>
                  <a:srgbClr val="0433FF"/>
                </a:solidFill>
              </a:rPr>
              <a:t>piece of meat</a:t>
            </a:r>
            <a:r>
              <a:t> was described by: </a:t>
            </a:r>
          </a:p>
          <a:p>
            <a:pPr marL="1668837" lvl="2" indent="-430112" defTabSz="637059">
              <a:spcBef>
                <a:spcPts val="0"/>
              </a:spcBef>
              <a:defRPr sz="2500">
                <a:latin typeface="Verdana"/>
                <a:ea typeface="Verdana"/>
                <a:cs typeface="Verdana"/>
                <a:sym typeface="Verdana"/>
              </a:defRPr>
            </a:pPr>
            <a:r>
              <a:t>the weight of the animal, </a:t>
            </a:r>
          </a:p>
          <a:p>
            <a:pPr marL="1668837" lvl="2" indent="-430112" defTabSz="637059">
              <a:spcBef>
                <a:spcPts val="0"/>
              </a:spcBef>
              <a:defRPr sz="2500">
                <a:latin typeface="Verdana"/>
                <a:ea typeface="Verdana"/>
                <a:cs typeface="Verdana"/>
                <a:sym typeface="Verdana"/>
              </a:defRPr>
            </a:pPr>
            <a:r>
              <a:t>ageing time, </a:t>
            </a:r>
          </a:p>
          <a:p>
            <a:pPr marL="1668837" lvl="2" indent="-430112" defTabSz="637059">
              <a:spcBef>
                <a:spcPts val="0"/>
              </a:spcBef>
              <a:defRPr sz="2500">
                <a:latin typeface="Verdana"/>
                <a:ea typeface="Verdana"/>
                <a:cs typeface="Verdana"/>
                <a:sym typeface="Verdana"/>
              </a:defRPr>
            </a:pPr>
            <a:r>
              <a:t>breed, </a:t>
            </a:r>
          </a:p>
          <a:p>
            <a:pPr marL="1668837" lvl="2" indent="-430112" defTabSz="637059">
              <a:spcBef>
                <a:spcPts val="0"/>
              </a:spcBef>
              <a:defRPr sz="2500">
                <a:latin typeface="Verdana"/>
                <a:ea typeface="Verdana"/>
                <a:cs typeface="Verdana"/>
                <a:sym typeface="Verdana"/>
              </a:defRPr>
            </a:pPr>
            <a:r>
              <a:t>6 physical features describing its texture and </a:t>
            </a:r>
          </a:p>
          <a:p>
            <a:pPr marL="1668837" lvl="2" indent="-430112" defTabSz="637059">
              <a:spcBef>
                <a:spcPts val="0"/>
              </a:spcBef>
              <a:defRPr sz="2500">
                <a:latin typeface="Verdana"/>
                <a:ea typeface="Verdana"/>
                <a:cs typeface="Verdana"/>
                <a:sym typeface="Verdana"/>
              </a:defRPr>
            </a:pPr>
            <a:r>
              <a:t>12 sensory characteristics rated by 11 different experts (132 ratings). </a:t>
            </a:r>
          </a:p>
          <a:p>
            <a:pPr marL="1668837" lvl="2" indent="-430112" defTabSz="637059">
              <a:spcBef>
                <a:spcPts val="0"/>
              </a:spcBef>
              <a:defRPr sz="2500">
                <a:latin typeface="Verdana"/>
                <a:ea typeface="Verdana"/>
                <a:cs typeface="Verdana"/>
                <a:sym typeface="Verdana"/>
              </a:defRPr>
            </a:pPr>
            <a:endParaRPr/>
          </a:p>
          <a:p>
            <a:pPr marL="1668837" lvl="2" indent="-430112" defTabSz="637059">
              <a:spcBef>
                <a:spcPts val="0"/>
              </a:spcBef>
              <a:defRPr sz="2500">
                <a:latin typeface="Verdana"/>
                <a:ea typeface="Verdana"/>
                <a:cs typeface="Verdana"/>
                <a:sym typeface="Verdana"/>
              </a:defRPr>
            </a:pPr>
            <a:endParaRPr/>
          </a:p>
          <a:p>
            <a:pPr marL="0" indent="0" defTabSz="637059">
              <a:lnSpc>
                <a:spcPts val="6688"/>
              </a:lnSpc>
              <a:spcBef>
                <a:spcPts val="1673"/>
              </a:spcBef>
              <a:buSzTx/>
              <a:buNone/>
              <a:defRPr sz="2500">
                <a:latin typeface="Verdana"/>
                <a:ea typeface="Verdana"/>
                <a:cs typeface="Verdana"/>
                <a:sym typeface="Verdana"/>
              </a:defRPr>
            </a:pPr>
            <a:r>
              <a:t>The dataset has 307 different items. </a:t>
            </a:r>
          </a:p>
          <a:p>
            <a:pPr marL="0" indent="0" defTabSz="637059">
              <a:lnSpc>
                <a:spcPts val="6688"/>
              </a:lnSpc>
              <a:spcBef>
                <a:spcPts val="1673"/>
              </a:spcBef>
              <a:buSzTx/>
              <a:buNone/>
              <a:defRPr sz="2500">
                <a:latin typeface="Verdana"/>
                <a:ea typeface="Verdana"/>
                <a:cs typeface="Verdana"/>
                <a:sym typeface="Verdana"/>
              </a:defRPr>
            </a:pPr>
            <a:endParaRPr/>
          </a:p>
          <a:p>
            <a:pPr marL="0" indent="0">
              <a:spcBef>
                <a:spcPts val="0"/>
              </a:spcBef>
              <a:buSzTx/>
              <a:buNone/>
              <a:defRPr sz="2500">
                <a:latin typeface="Verdana"/>
                <a:ea typeface="Verdana"/>
                <a:cs typeface="Verdana"/>
                <a:sym typeface="Verdana"/>
              </a:defRPr>
            </a:pPr>
            <a:r>
              <a:t> </a:t>
            </a:r>
          </a:p>
        </p:txBody>
      </p:sp>
      <p:sp>
        <p:nvSpPr>
          <p:cNvPr id="278" name="Número de diapositiva"/>
          <p:cNvSpPr txBox="1">
            <a:spLocks noGrp="1"/>
          </p:cNvSpPr>
          <p:nvPr>
            <p:ph type="sldNum" sz="quarter" idx="4294967295"/>
          </p:nvPr>
        </p:nvSpPr>
        <p:spPr>
          <a:xfrm>
            <a:off x="20303955" y="12358499"/>
            <a:ext cx="373105" cy="581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6653" tIns="96653" rIns="96653" bIns="96653" anchor="ctr">
            <a:spAutoFit/>
          </a:bodyPr>
          <a:lstStyle>
            <a:lvl1pPr defTabSz="637059">
              <a:defRPr>
                <a:uFill>
                  <a:solidFill>
                    <a:srgbClr val="000000"/>
                  </a:solidFill>
                </a:uFill>
                <a:latin typeface="Arial"/>
                <a:ea typeface="Arial"/>
                <a:cs typeface="Arial"/>
                <a:sym typeface="Arial"/>
              </a:defRPr>
            </a:lvl1pPr>
          </a:lstStyle>
          <a:p>
            <a:fld id="{86CB4B4D-7CA3-9044-876B-883B54F8677D}" type="slidenum">
              <a:t>8</a:t>
            </a:fld>
            <a:endParaRPr/>
          </a:p>
        </p:txBody>
      </p:sp>
      <p:sp>
        <p:nvSpPr>
          <p:cNvPr id="279" name="Consumer preferences of food products"/>
          <p:cNvSpPr txBox="1">
            <a:spLocks noGrp="1"/>
          </p:cNvSpPr>
          <p:nvPr>
            <p:ph type="title"/>
          </p:nvPr>
        </p:nvSpPr>
        <p:spPr>
          <a:xfrm>
            <a:off x="3989969" y="679177"/>
            <a:ext cx="16814665" cy="2053886"/>
          </a:xfrm>
          <a:prstGeom prst="rect">
            <a:avLst/>
          </a:prstGeom>
          <a:ln w="25400">
            <a:solidFill>
              <a:srgbClr val="008F00"/>
            </a:solidFill>
          </a:ln>
        </p:spPr>
        <p:txBody>
          <a:bodyPr lIns="96653" tIns="96653" rIns="96653" bIns="96653" anchor="ctr">
            <a:noAutofit/>
          </a:bodyPr>
          <a:lstStyle>
            <a:lvl1pPr marL="40639" marR="40639" defTabSz="914400">
              <a:spcBef>
                <a:spcPts val="300"/>
              </a:spcBef>
              <a:defRPr sz="4700" b="1">
                <a:uFill>
                  <a:solidFill>
                    <a:srgbClr val="000000"/>
                  </a:solidFill>
                </a:uFill>
                <a:latin typeface="Arial"/>
                <a:ea typeface="Arial"/>
                <a:cs typeface="Arial"/>
                <a:sym typeface="Arial"/>
              </a:defRPr>
            </a:lvl1pPr>
          </a:lstStyle>
          <a:p>
            <a:r>
              <a:t>Consumer preferences of food products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Discrete"/>
          <p:cNvSpPr txBox="1">
            <a:spLocks noGrp="1"/>
          </p:cNvSpPr>
          <p:nvPr>
            <p:ph type="title"/>
          </p:nvPr>
        </p:nvSpPr>
        <p:spPr>
          <a:prstGeom prst="rect">
            <a:avLst/>
          </a:prstGeom>
        </p:spPr>
        <p:txBody>
          <a:bodyPr>
            <a:normAutofit/>
          </a:bodyPr>
          <a:lstStyle/>
          <a:p>
            <a:r>
              <a:rPr dirty="0">
                <a:latin typeface="Helvetica Neue Medium" panose="02000503000000020004" pitchFamily="2" charset="0"/>
                <a:ea typeface="Helvetica Neue Medium" panose="02000503000000020004" pitchFamily="2" charset="0"/>
                <a:cs typeface="Helvetica Neue Medium" panose="02000503000000020004" pitchFamily="2" charset="0"/>
              </a:rPr>
              <a:t>Discrete</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Discrete, n-hot: Text Representation"/>
          <p:cNvSpPr txBox="1">
            <a:spLocks noGrp="1"/>
          </p:cNvSpPr>
          <p:nvPr>
            <p:ph type="title"/>
          </p:nvPr>
        </p:nvSpPr>
        <p:spPr>
          <a:prstGeom prst="rect">
            <a:avLst/>
          </a:prstGeom>
        </p:spPr>
        <p:txBody>
          <a:bodyPr>
            <a:normAutofit/>
          </a:bodyPr>
          <a:lstStyle/>
          <a:p>
            <a:pPr defTabSz="683773">
              <a:defRPr sz="6719"/>
            </a:pPr>
            <a:r>
              <a:rPr dirty="0">
                <a:latin typeface="Helvetica Neue Medium" panose="02000503000000020004" pitchFamily="2" charset="0"/>
                <a:ea typeface="Helvetica Neue Medium" panose="02000503000000020004" pitchFamily="2" charset="0"/>
                <a:cs typeface="Helvetica Neue Medium" panose="02000503000000020004" pitchFamily="2" charset="0"/>
              </a:rPr>
              <a:t>Discrete, n-hot:</a:t>
            </a:r>
            <a:br>
              <a:rPr dirty="0">
                <a:latin typeface="Helvetica Neue Medium" panose="02000503000000020004" pitchFamily="2" charset="0"/>
                <a:ea typeface="Helvetica Neue Medium" panose="02000503000000020004" pitchFamily="2" charset="0"/>
                <a:cs typeface="Helvetica Neue Medium" panose="02000503000000020004" pitchFamily="2" charset="0"/>
              </a:rPr>
            </a:br>
            <a:r>
              <a:rPr dirty="0">
                <a:latin typeface="Helvetica Neue Medium" panose="02000503000000020004" pitchFamily="2" charset="0"/>
                <a:ea typeface="Helvetica Neue Medium" panose="02000503000000020004" pitchFamily="2" charset="0"/>
                <a:cs typeface="Helvetica Neue Medium" panose="02000503000000020004" pitchFamily="2" charset="0"/>
              </a:rPr>
              <a:t>Text Representation</a:t>
            </a:r>
          </a:p>
        </p:txBody>
      </p:sp>
      <p:graphicFrame>
        <p:nvGraphicFramePr>
          <p:cNvPr id="284" name="Tabla 1"/>
          <p:cNvGraphicFramePr/>
          <p:nvPr/>
        </p:nvGraphicFramePr>
        <p:xfrm>
          <a:off x="8943090" y="5123088"/>
          <a:ext cx="10349181" cy="4193581"/>
        </p:xfrm>
        <a:graphic>
          <a:graphicData uri="http://schemas.openxmlformats.org/drawingml/2006/table">
            <a:tbl>
              <a:tblPr bandRow="1">
                <a:tableStyleId>{4C3C2611-4C71-4FC5-86AE-919BDF0F9419}</a:tableStyleId>
              </a:tblPr>
              <a:tblGrid>
                <a:gridCol w="929131">
                  <a:extLst>
                    <a:ext uri="{9D8B030D-6E8A-4147-A177-3AD203B41FA5}">
                      <a16:colId xmlns:a16="http://schemas.microsoft.com/office/drawing/2014/main" val="20000"/>
                    </a:ext>
                  </a:extLst>
                </a:gridCol>
                <a:gridCol w="929131">
                  <a:extLst>
                    <a:ext uri="{9D8B030D-6E8A-4147-A177-3AD203B41FA5}">
                      <a16:colId xmlns:a16="http://schemas.microsoft.com/office/drawing/2014/main" val="20001"/>
                    </a:ext>
                  </a:extLst>
                </a:gridCol>
                <a:gridCol w="1680303">
                  <a:extLst>
                    <a:ext uri="{9D8B030D-6E8A-4147-A177-3AD203B41FA5}">
                      <a16:colId xmlns:a16="http://schemas.microsoft.com/office/drawing/2014/main" val="20002"/>
                    </a:ext>
                  </a:extLst>
                </a:gridCol>
                <a:gridCol w="1503962">
                  <a:extLst>
                    <a:ext uri="{9D8B030D-6E8A-4147-A177-3AD203B41FA5}">
                      <a16:colId xmlns:a16="http://schemas.microsoft.com/office/drawing/2014/main" val="20003"/>
                    </a:ext>
                  </a:extLst>
                </a:gridCol>
                <a:gridCol w="1652879">
                  <a:extLst>
                    <a:ext uri="{9D8B030D-6E8A-4147-A177-3AD203B41FA5}">
                      <a16:colId xmlns:a16="http://schemas.microsoft.com/office/drawing/2014/main" val="20004"/>
                    </a:ext>
                  </a:extLst>
                </a:gridCol>
                <a:gridCol w="1373883">
                  <a:extLst>
                    <a:ext uri="{9D8B030D-6E8A-4147-A177-3AD203B41FA5}">
                      <a16:colId xmlns:a16="http://schemas.microsoft.com/office/drawing/2014/main" val="20005"/>
                    </a:ext>
                  </a:extLst>
                </a:gridCol>
                <a:gridCol w="1264012">
                  <a:extLst>
                    <a:ext uri="{9D8B030D-6E8A-4147-A177-3AD203B41FA5}">
                      <a16:colId xmlns:a16="http://schemas.microsoft.com/office/drawing/2014/main" val="20006"/>
                    </a:ext>
                  </a:extLst>
                </a:gridCol>
                <a:gridCol w="1015880">
                  <a:extLst>
                    <a:ext uri="{9D8B030D-6E8A-4147-A177-3AD203B41FA5}">
                      <a16:colId xmlns:a16="http://schemas.microsoft.com/office/drawing/2014/main" val="20007"/>
                    </a:ext>
                  </a:extLst>
                </a:gridCol>
              </a:tblGrid>
              <a:tr h="1183306">
                <a:tc>
                  <a:txBody>
                    <a:bodyPr/>
                    <a:lstStyle/>
                    <a:p>
                      <a:pPr defTabSz="914400"/>
                      <a:r>
                        <a:rPr sz="2900"/>
                        <a:t>1</a:t>
                      </a:r>
                    </a:p>
                  </a:txBody>
                  <a:tcPr marL="70791" marR="70791" marT="70791" marB="70791" anchor="ctr" horzOverflow="overflow">
                    <a:lnR w="12700">
                      <a:solidFill>
                        <a:srgbClr val="3797C6"/>
                      </a:solidFill>
                      <a:miter lim="400000"/>
                    </a:lnR>
                    <a:lnB w="12700">
                      <a:solidFill>
                        <a:srgbClr val="3797C6"/>
                      </a:solidFill>
                      <a:miter lim="400000"/>
                    </a:lnB>
                  </a:tcPr>
                </a:tc>
                <a:tc>
                  <a:txBody>
                    <a:bodyPr/>
                    <a:lstStyle/>
                    <a:p>
                      <a:pPr defTabSz="914400"/>
                      <a:r>
                        <a:rPr sz="2900"/>
                        <a:t>2</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3</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4</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5</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6</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7</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8</a:t>
                      </a:r>
                    </a:p>
                  </a:txBody>
                  <a:tcPr marL="70791" marR="70791" marT="70791" marB="70791" anchor="ctr" horzOverflow="overflow">
                    <a:lnL w="12700">
                      <a:solidFill>
                        <a:srgbClr val="3797C6"/>
                      </a:solidFill>
                      <a:miter lim="400000"/>
                    </a:lnL>
                    <a:lnB w="12700">
                      <a:solidFill>
                        <a:srgbClr val="3797C6"/>
                      </a:solidFill>
                      <a:miter lim="400000"/>
                    </a:lnB>
                  </a:tcPr>
                </a:tc>
                <a:extLst>
                  <a:ext uri="{0D108BD9-81ED-4DB2-BD59-A6C34878D82A}">
                    <a16:rowId xmlns:a16="http://schemas.microsoft.com/office/drawing/2014/main" val="10000"/>
                  </a:ext>
                </a:extLst>
              </a:tr>
              <a:tr h="1969169">
                <a:tc>
                  <a:txBody>
                    <a:bodyPr/>
                    <a:lstStyle/>
                    <a:p>
                      <a:pPr defTabSz="914400"/>
                      <a:r>
                        <a:rPr sz="2900"/>
                        <a:t>el</a:t>
                      </a:r>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un</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caballo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gato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blanco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negro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agua</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a:t>
                      </a:r>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1"/>
                  </a:ext>
                </a:extLst>
              </a:tr>
              <a:tr h="1041106">
                <a:tc>
                  <a:txBody>
                    <a:bodyPr/>
                    <a:lstStyle/>
                    <a:p>
                      <a:pPr defTabSz="914400"/>
                      <a:r>
                        <a:rPr sz="2900"/>
                        <a:t>0</a:t>
                      </a:r>
                    </a:p>
                  </a:txBody>
                  <a:tcPr marL="70791" marR="70791" marT="70791" marB="70791" anchor="ctr" horzOverflow="overflow">
                    <a:lnR w="12700">
                      <a:solidFill>
                        <a:srgbClr val="3797C6"/>
                      </a:solidFill>
                      <a:miter lim="400000"/>
                    </a:lnR>
                    <a:lnT w="12700">
                      <a:solidFill>
                        <a:srgbClr val="3797C6"/>
                      </a:solidFill>
                      <a:miter lim="400000"/>
                    </a:lnT>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a:t>
                      </a:r>
                    </a:p>
                  </a:txBody>
                  <a:tcPr marL="70791" marR="70791" marT="70791" marB="70791" anchor="ctr" horzOverflow="overflow">
                    <a:lnL w="12700">
                      <a:solidFill>
                        <a:srgbClr val="3797C6"/>
                      </a:solidFill>
                      <a:miter lim="400000"/>
                    </a:lnL>
                    <a:lnT w="12700">
                      <a:solidFill>
                        <a:srgbClr val="3797C6"/>
                      </a:solidFill>
                      <a:miter lim="400000"/>
                    </a:lnT>
                  </a:tcPr>
                </a:tc>
                <a:extLst>
                  <a:ext uri="{0D108BD9-81ED-4DB2-BD59-A6C34878D82A}">
                    <a16:rowId xmlns:a16="http://schemas.microsoft.com/office/drawing/2014/main" val="10002"/>
                  </a:ext>
                </a:extLst>
              </a:tr>
            </a:tbl>
          </a:graphicData>
        </a:graphic>
      </p:graphicFrame>
      <p:sp>
        <p:nvSpPr>
          <p:cNvPr id="285" name="Dictionary/Corpus"/>
          <p:cNvSpPr txBox="1"/>
          <p:nvPr/>
        </p:nvSpPr>
        <p:spPr>
          <a:xfrm>
            <a:off x="12177523" y="3932896"/>
            <a:ext cx="3397061"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r>
              <a:rPr sz="3150"/>
              <a:t>Dictionary/Corpus</a:t>
            </a:r>
          </a:p>
        </p:txBody>
      </p:sp>
      <p:sp>
        <p:nvSpPr>
          <p:cNvPr id="286" name="“un gato negro”"/>
          <p:cNvSpPr txBox="1"/>
          <p:nvPr/>
        </p:nvSpPr>
        <p:spPr>
          <a:xfrm>
            <a:off x="4417126" y="8380676"/>
            <a:ext cx="3150198"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r>
              <a:rPr sz="3150"/>
              <a:t>“</a:t>
            </a:r>
            <a:r>
              <a:rPr sz="3150" b="1">
                <a:latin typeface="Helvetica"/>
                <a:ea typeface="Helvetica"/>
                <a:cs typeface="Helvetica"/>
                <a:sym typeface="Helvetica"/>
              </a:rPr>
              <a:t>un gato negro</a:t>
            </a:r>
            <a:r>
              <a:rPr sz="3150"/>
              <a:t>”</a:t>
            </a:r>
          </a:p>
        </p:txBody>
      </p:sp>
      <p:sp>
        <p:nvSpPr>
          <p:cNvPr id="287" name="Número de diapositiva"/>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fld id="{86CB4B4D-7CA3-9044-876B-883B54F8677D}" type="slidenum">
              <a:t>10</a:t>
            </a:fld>
            <a:endParaRPr/>
          </a:p>
        </p:txBody>
      </p:sp>
      <p:grpSp>
        <p:nvGrpSpPr>
          <p:cNvPr id="290" name="Bag of Words (BoW) Vector Space Model (VSM)"/>
          <p:cNvGrpSpPr/>
          <p:nvPr/>
        </p:nvGrpSpPr>
        <p:grpSpPr>
          <a:xfrm rot="360000">
            <a:off x="8177713" y="10359959"/>
            <a:ext cx="8798037" cy="2477689"/>
            <a:chOff x="0" y="0"/>
            <a:chExt cx="6313513" cy="1778000"/>
          </a:xfrm>
        </p:grpSpPr>
        <p:sp>
          <p:nvSpPr>
            <p:cNvPr id="289" name="Bag of Words (BoW) Vector Space Model (VSM)"/>
            <p:cNvSpPr txBox="1"/>
            <p:nvPr/>
          </p:nvSpPr>
          <p:spPr>
            <a:xfrm>
              <a:off x="1277599" y="350144"/>
              <a:ext cx="3758317" cy="798307"/>
            </a:xfrm>
            <a:prstGeom prst="rect">
              <a:avLst/>
            </a:prstGeom>
            <a:noFill/>
            <a:ln>
              <a:noFill/>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numCol="1" anchor="ctr">
              <a:spAutoFit/>
            </a:bodyPr>
            <a:lstStyle/>
            <a:p>
              <a:pPr>
                <a:defRPr b="1">
                  <a:solidFill>
                    <a:schemeClr val="accent4"/>
                  </a:solidFill>
                  <a:latin typeface="Helvetica"/>
                  <a:ea typeface="Helvetica"/>
                  <a:cs typeface="Helvetica"/>
                  <a:sym typeface="Helvetica"/>
                </a:defRPr>
              </a:pPr>
              <a:r>
                <a:rPr sz="3150"/>
                <a:t>Bag of Words (BoW)</a:t>
              </a:r>
              <a:br>
                <a:rPr sz="3150"/>
              </a:br>
              <a:r>
                <a:rPr sz="3150"/>
                <a:t>Vector Space Model (VSM)</a:t>
              </a:r>
            </a:p>
          </p:txBody>
        </p:sp>
        <p:pic>
          <p:nvPicPr>
            <p:cNvPr id="288" name="Bag of Words (BoW) Vector Space Model (VSM) Bag of Words (BoW) Vector Space Model (VSM)" descr="Bag of Words (BoW) Vector Space Model (VSM) Bag of Words (BoW) Vector Space Model (VSM)"/>
            <p:cNvPicPr>
              <a:picLocks/>
            </p:cNvPicPr>
            <p:nvPr/>
          </p:nvPicPr>
          <p:blipFill>
            <a:blip r:embed="rId2"/>
            <a:stretch>
              <a:fillRect/>
            </a:stretch>
          </p:blipFill>
          <p:spPr>
            <a:xfrm>
              <a:off x="0" y="0"/>
              <a:ext cx="6313513" cy="1778000"/>
            </a:xfrm>
            <a:prstGeom prst="rect">
              <a:avLst/>
            </a:prstGeom>
            <a:effectLst/>
          </p:spPr>
        </p:pic>
      </p:gr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Document classification"/>
          <p:cNvSpPr txBox="1">
            <a:spLocks noGrp="1"/>
          </p:cNvSpPr>
          <p:nvPr>
            <p:ph type="title"/>
          </p:nvPr>
        </p:nvSpPr>
        <p:spPr>
          <a:prstGeom prst="rect">
            <a:avLst/>
          </a:prstGeom>
        </p:spPr>
        <p:txBody>
          <a:bodyPr>
            <a:noAutofit/>
          </a:bodyPr>
          <a:lstStyle/>
          <a:p>
            <a:r>
              <a:rPr sz="10034" dirty="0">
                <a:latin typeface="Helvetica Neue Medium" panose="02000503000000020004" pitchFamily="2" charset="0"/>
                <a:ea typeface="Helvetica Neue Medium" panose="02000503000000020004" pitchFamily="2" charset="0"/>
                <a:cs typeface="Helvetica Neue Medium" panose="02000503000000020004" pitchFamily="2" charset="0"/>
              </a:rPr>
              <a:t>Document classification</a:t>
            </a:r>
          </a:p>
        </p:txBody>
      </p:sp>
      <p:sp>
        <p:nvSpPr>
          <p:cNvPr id="293" name="Is this a SPAM email?…"/>
          <p:cNvSpPr txBox="1">
            <a:spLocks noGrp="1"/>
          </p:cNvSpPr>
          <p:nvPr>
            <p:ph type="body" sz="quarter" idx="1"/>
          </p:nvPr>
        </p:nvSpPr>
        <p:spPr>
          <a:xfrm>
            <a:off x="11839638" y="4100889"/>
            <a:ext cx="7727794" cy="4519524"/>
          </a:xfrm>
          <a:prstGeom prst="rect">
            <a:avLst/>
          </a:prstGeom>
        </p:spPr>
        <p:txBody>
          <a:bodyPr/>
          <a:lstStyle/>
          <a:p>
            <a:pPr marL="0" indent="0" algn="ctr">
              <a:buSzTx/>
              <a:buNone/>
            </a:pPr>
            <a:r>
              <a:t>Is this a SPAM email?</a:t>
            </a:r>
          </a:p>
          <a:p>
            <a:pPr marL="0" indent="0" algn="ctr">
              <a:buSzTx/>
              <a:buNone/>
            </a:pPr>
            <a:r>
              <a:t>Is this a document about economy?</a:t>
            </a:r>
          </a:p>
        </p:txBody>
      </p:sp>
      <p:grpSp>
        <p:nvGrpSpPr>
          <p:cNvPr id="303" name="Agrupar"/>
          <p:cNvGrpSpPr/>
          <p:nvPr/>
        </p:nvGrpSpPr>
        <p:grpSpPr>
          <a:xfrm>
            <a:off x="4678929" y="3834701"/>
            <a:ext cx="6777222" cy="5264270"/>
            <a:chOff x="-596899" y="-482600"/>
            <a:chExt cx="4863367" cy="3777665"/>
          </a:xfrm>
        </p:grpSpPr>
        <p:sp>
          <p:nvSpPr>
            <p:cNvPr id="294" name="Documento de texto"/>
            <p:cNvSpPr/>
            <p:nvPr/>
          </p:nvSpPr>
          <p:spPr>
            <a:xfrm>
              <a:off x="327744"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295" name="Documento de texto"/>
            <p:cNvSpPr/>
            <p:nvPr/>
          </p:nvSpPr>
          <p:spPr>
            <a:xfrm>
              <a:off x="1036054"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296" name="Documento de texto"/>
            <p:cNvSpPr/>
            <p:nvPr/>
          </p:nvSpPr>
          <p:spPr>
            <a:xfrm>
              <a:off x="1808128"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297" name="Documento de texto"/>
            <p:cNvSpPr/>
            <p:nvPr/>
          </p:nvSpPr>
          <p:spPr>
            <a:xfrm>
              <a:off x="1745808" y="230089"/>
              <a:ext cx="642046"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298" name="Documento de texto"/>
            <p:cNvSpPr/>
            <p:nvPr/>
          </p:nvSpPr>
          <p:spPr>
            <a:xfrm>
              <a:off x="1036054"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299" name="Documento de texto"/>
            <p:cNvSpPr/>
            <p:nvPr/>
          </p:nvSpPr>
          <p:spPr>
            <a:xfrm>
              <a:off x="2498709"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00" name="Documento de texto"/>
            <p:cNvSpPr/>
            <p:nvPr/>
          </p:nvSpPr>
          <p:spPr>
            <a:xfrm>
              <a:off x="261478" y="1296813"/>
              <a:ext cx="642046"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01" name="Documento de texto"/>
            <p:cNvSpPr/>
            <p:nvPr/>
          </p:nvSpPr>
          <p:spPr>
            <a:xfrm>
              <a:off x="2454118"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pic>
          <p:nvPicPr>
            <p:cNvPr id="302" name="Rectángulo Rectángulo" descr="Rectángulo Rectángulo"/>
            <p:cNvPicPr>
              <a:picLocks/>
            </p:cNvPicPr>
            <p:nvPr/>
          </p:nvPicPr>
          <p:blipFill>
            <a:blip r:embed="rId3"/>
            <a:stretch>
              <a:fillRect/>
            </a:stretch>
          </p:blipFill>
          <p:spPr>
            <a:xfrm>
              <a:off x="-596901" y="-482600"/>
              <a:ext cx="4863369" cy="3777666"/>
            </a:xfrm>
            <a:prstGeom prst="rect">
              <a:avLst/>
            </a:prstGeom>
            <a:effectLst>
              <a:outerShdw blurRad="38100" dist="25400" dir="5400000" rotWithShape="0">
                <a:srgbClr val="000000">
                  <a:alpha val="50000"/>
                </a:srgbClr>
              </a:outerShdw>
            </a:effectLst>
          </p:spPr>
        </p:pic>
      </p:grpSp>
      <p:sp>
        <p:nvSpPr>
          <p:cNvPr id="304" name="If p is in D then return YES…"/>
          <p:cNvSpPr txBox="1"/>
          <p:nvPr/>
        </p:nvSpPr>
        <p:spPr>
          <a:xfrm>
            <a:off x="9365920" y="10887141"/>
            <a:ext cx="6920461" cy="11124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pPr>
              <a:defRPr b="1">
                <a:latin typeface="Courier"/>
                <a:ea typeface="Courier"/>
                <a:cs typeface="Courier"/>
                <a:sym typeface="Courier"/>
              </a:defRPr>
            </a:pPr>
            <a:r>
              <a:rPr sz="3150"/>
              <a:t>If </a:t>
            </a:r>
            <a:r>
              <a:rPr sz="3150">
                <a:solidFill>
                  <a:schemeClr val="accent5"/>
                </a:solidFill>
              </a:rPr>
              <a:t>p</a:t>
            </a:r>
            <a:r>
              <a:rPr sz="3150"/>
              <a:t> is in D then return YES</a:t>
            </a:r>
          </a:p>
          <a:p>
            <a:pPr>
              <a:defRPr b="1">
                <a:latin typeface="Courier"/>
                <a:ea typeface="Courier"/>
                <a:cs typeface="Courier"/>
                <a:sym typeface="Courier"/>
              </a:defRPr>
            </a:pPr>
            <a:r>
              <a:rPr sz="3150"/>
              <a:t>else return NO</a:t>
            </a:r>
          </a:p>
        </p:txBody>
      </p:sp>
      <p:sp>
        <p:nvSpPr>
          <p:cNvPr id="305" name="Handmade procedure: keywords"/>
          <p:cNvSpPr txBox="1"/>
          <p:nvPr/>
        </p:nvSpPr>
        <p:spPr>
          <a:xfrm>
            <a:off x="5896453" y="9526025"/>
            <a:ext cx="5880112"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a:solidFill>
                  <a:schemeClr val="accent1"/>
                </a:solidFill>
                <a:latin typeface="Chalkboard"/>
                <a:ea typeface="Chalkboard"/>
                <a:cs typeface="Chalkboard"/>
                <a:sym typeface="Chalkboard"/>
              </a:defRPr>
            </a:lvl1pPr>
          </a:lstStyle>
          <a:p>
            <a:r>
              <a:rPr sz="3150"/>
              <a:t>Handmade procedure: keywords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Document classification"/>
          <p:cNvSpPr txBox="1">
            <a:spLocks noGrp="1"/>
          </p:cNvSpPr>
          <p:nvPr>
            <p:ph type="title"/>
          </p:nvPr>
        </p:nvSpPr>
        <p:spPr>
          <a:prstGeom prst="rect">
            <a:avLst/>
          </a:prstGeom>
        </p:spPr>
        <p:txBody>
          <a:bodyPr>
            <a:noAutofit/>
          </a:bodyPr>
          <a:lstStyle/>
          <a:p>
            <a:r>
              <a:rPr sz="10034" dirty="0">
                <a:latin typeface="Helvetica Neue Medium" panose="02000503000000020004" pitchFamily="2" charset="0"/>
                <a:ea typeface="Helvetica Neue Medium" panose="02000503000000020004" pitchFamily="2" charset="0"/>
                <a:cs typeface="Helvetica Neue Medium" panose="02000503000000020004" pitchFamily="2" charset="0"/>
              </a:rPr>
              <a:t>Document classification</a:t>
            </a:r>
          </a:p>
        </p:txBody>
      </p:sp>
      <p:grpSp>
        <p:nvGrpSpPr>
          <p:cNvPr id="317" name="Agrupar"/>
          <p:cNvGrpSpPr/>
          <p:nvPr/>
        </p:nvGrpSpPr>
        <p:grpSpPr>
          <a:xfrm>
            <a:off x="4678929" y="3834701"/>
            <a:ext cx="6777222" cy="5264270"/>
            <a:chOff x="-596899" y="-482600"/>
            <a:chExt cx="4863367" cy="3777665"/>
          </a:xfrm>
        </p:grpSpPr>
        <p:sp>
          <p:nvSpPr>
            <p:cNvPr id="308" name="Documento de texto"/>
            <p:cNvSpPr/>
            <p:nvPr/>
          </p:nvSpPr>
          <p:spPr>
            <a:xfrm>
              <a:off x="327744"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09" name="Documento de texto"/>
            <p:cNvSpPr/>
            <p:nvPr/>
          </p:nvSpPr>
          <p:spPr>
            <a:xfrm>
              <a:off x="1036054"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10" name="Documento de texto"/>
            <p:cNvSpPr/>
            <p:nvPr/>
          </p:nvSpPr>
          <p:spPr>
            <a:xfrm>
              <a:off x="1808128"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11" name="Documento de texto"/>
            <p:cNvSpPr/>
            <p:nvPr/>
          </p:nvSpPr>
          <p:spPr>
            <a:xfrm>
              <a:off x="1745808" y="230089"/>
              <a:ext cx="642046"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12" name="Documento de texto"/>
            <p:cNvSpPr/>
            <p:nvPr/>
          </p:nvSpPr>
          <p:spPr>
            <a:xfrm>
              <a:off x="1036054"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13" name="Documento de texto"/>
            <p:cNvSpPr/>
            <p:nvPr/>
          </p:nvSpPr>
          <p:spPr>
            <a:xfrm>
              <a:off x="2498709"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14" name="Documento de texto"/>
            <p:cNvSpPr/>
            <p:nvPr/>
          </p:nvSpPr>
          <p:spPr>
            <a:xfrm>
              <a:off x="261478" y="1296813"/>
              <a:ext cx="642046"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15" name="Documento de texto"/>
            <p:cNvSpPr/>
            <p:nvPr/>
          </p:nvSpPr>
          <p:spPr>
            <a:xfrm>
              <a:off x="2454118"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pic>
          <p:nvPicPr>
            <p:cNvPr id="316" name="Rectángulo Rectángulo" descr="Rectángulo Rectángulo"/>
            <p:cNvPicPr>
              <a:picLocks/>
            </p:cNvPicPr>
            <p:nvPr/>
          </p:nvPicPr>
          <p:blipFill>
            <a:blip r:embed="rId3"/>
            <a:stretch>
              <a:fillRect/>
            </a:stretch>
          </p:blipFill>
          <p:spPr>
            <a:xfrm>
              <a:off x="-596901" y="-482600"/>
              <a:ext cx="4863369" cy="3777666"/>
            </a:xfrm>
            <a:prstGeom prst="rect">
              <a:avLst/>
            </a:prstGeom>
            <a:effectLst>
              <a:outerShdw blurRad="38100" dist="25400" dir="5400000" rotWithShape="0">
                <a:srgbClr val="000000">
                  <a:alpha val="50000"/>
                </a:srgbClr>
              </a:outerShdw>
            </a:effectLst>
          </p:spPr>
        </p:pic>
      </p:grpSp>
      <p:sp>
        <p:nvSpPr>
          <p:cNvPr id="318" name="Learned procedure"/>
          <p:cNvSpPr txBox="1"/>
          <p:nvPr/>
        </p:nvSpPr>
        <p:spPr>
          <a:xfrm>
            <a:off x="15123682" y="11956218"/>
            <a:ext cx="3547743"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a:solidFill>
                  <a:schemeClr val="accent1"/>
                </a:solidFill>
                <a:latin typeface="Chalkboard"/>
                <a:ea typeface="Chalkboard"/>
                <a:cs typeface="Chalkboard"/>
                <a:sym typeface="Chalkboard"/>
              </a:defRPr>
            </a:lvl1pPr>
          </a:lstStyle>
          <a:p>
            <a:r>
              <a:rPr sz="3150"/>
              <a:t>Learned procedure</a:t>
            </a:r>
          </a:p>
        </p:txBody>
      </p:sp>
      <p:sp>
        <p:nvSpPr>
          <p:cNvPr id="319" name="Y"/>
          <p:cNvSpPr txBox="1"/>
          <p:nvPr/>
        </p:nvSpPr>
        <p:spPr>
          <a:xfrm>
            <a:off x="6381060" y="5329931"/>
            <a:ext cx="405857" cy="657721"/>
          </a:xfrm>
          <a:prstGeom prst="rect">
            <a:avLst/>
          </a:prstGeom>
          <a:blipFill>
            <a:blip r:embed="rId4"/>
          </a:blipFill>
          <a:ln w="12700">
            <a:miter lim="400000"/>
          </a:ln>
          <a:effectLst>
            <a:outerShdw blurRad="25400" dist="25400" dir="2388334" rotWithShape="0">
              <a:srgbClr val="000000">
                <a:alpha val="7931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solidFill>
                  <a:srgbClr val="FFFFFF"/>
                </a:solidFill>
              </a:defRPr>
            </a:lvl1pPr>
          </a:lstStyle>
          <a:p>
            <a:r>
              <a:rPr sz="3345"/>
              <a:t>Y</a:t>
            </a:r>
          </a:p>
        </p:txBody>
      </p:sp>
      <p:sp>
        <p:nvSpPr>
          <p:cNvPr id="320" name="Y"/>
          <p:cNvSpPr txBox="1"/>
          <p:nvPr/>
        </p:nvSpPr>
        <p:spPr>
          <a:xfrm>
            <a:off x="8466955" y="6823964"/>
            <a:ext cx="405857" cy="657721"/>
          </a:xfrm>
          <a:prstGeom prst="rect">
            <a:avLst/>
          </a:prstGeom>
          <a:blipFill>
            <a:blip r:embed="rId4"/>
          </a:blipFill>
          <a:ln w="12700">
            <a:miter lim="400000"/>
          </a:ln>
          <a:effectLst>
            <a:outerShdw blurRad="25400" dist="25400" dir="2388334" rotWithShape="0">
              <a:srgbClr val="000000">
                <a:alpha val="7931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solidFill>
                  <a:srgbClr val="FFFFFF"/>
                </a:solidFill>
              </a:defRPr>
            </a:lvl1pPr>
          </a:lstStyle>
          <a:p>
            <a:r>
              <a:rPr sz="3345"/>
              <a:t>Y</a:t>
            </a:r>
          </a:p>
        </p:txBody>
      </p:sp>
      <p:sp>
        <p:nvSpPr>
          <p:cNvPr id="321" name="Y"/>
          <p:cNvSpPr txBox="1"/>
          <p:nvPr/>
        </p:nvSpPr>
        <p:spPr>
          <a:xfrm>
            <a:off x="9345059" y="5329931"/>
            <a:ext cx="405857" cy="657721"/>
          </a:xfrm>
          <a:prstGeom prst="rect">
            <a:avLst/>
          </a:prstGeom>
          <a:blipFill>
            <a:blip r:embed="rId4"/>
          </a:blipFill>
          <a:ln w="12700">
            <a:miter lim="400000"/>
          </a:ln>
          <a:effectLst>
            <a:outerShdw blurRad="25400" dist="25400" dir="2388334" rotWithShape="0">
              <a:srgbClr val="000000">
                <a:alpha val="7931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solidFill>
                  <a:srgbClr val="FFFFFF"/>
                </a:solidFill>
              </a:defRPr>
            </a:lvl1pPr>
          </a:lstStyle>
          <a:p>
            <a:r>
              <a:rPr sz="3345"/>
              <a:t>Y</a:t>
            </a:r>
          </a:p>
        </p:txBody>
      </p:sp>
      <p:sp>
        <p:nvSpPr>
          <p:cNvPr id="322" name="Y"/>
          <p:cNvSpPr txBox="1"/>
          <p:nvPr/>
        </p:nvSpPr>
        <p:spPr>
          <a:xfrm>
            <a:off x="7531588" y="6823964"/>
            <a:ext cx="405857" cy="657721"/>
          </a:xfrm>
          <a:prstGeom prst="rect">
            <a:avLst/>
          </a:prstGeom>
          <a:blipFill>
            <a:blip r:embed="rId4"/>
          </a:blipFill>
          <a:ln w="12700">
            <a:miter lim="400000"/>
          </a:ln>
          <a:effectLst>
            <a:outerShdw blurRad="25400" dist="25400" dir="2388334" rotWithShape="0">
              <a:srgbClr val="000000">
                <a:alpha val="7931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solidFill>
                  <a:srgbClr val="FFFFFF"/>
                </a:solidFill>
              </a:defRPr>
            </a:lvl1pPr>
          </a:lstStyle>
          <a:p>
            <a:r>
              <a:rPr sz="3345"/>
              <a:t>Y</a:t>
            </a:r>
          </a:p>
        </p:txBody>
      </p:sp>
      <p:sp>
        <p:nvSpPr>
          <p:cNvPr id="323" name="N"/>
          <p:cNvSpPr txBox="1"/>
          <p:nvPr/>
        </p:nvSpPr>
        <p:spPr>
          <a:xfrm>
            <a:off x="7374717" y="5329931"/>
            <a:ext cx="452344" cy="657721"/>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lvl1pPr>
          </a:lstStyle>
          <a:p>
            <a:r>
              <a:rPr sz="3345"/>
              <a:t>N</a:t>
            </a:r>
          </a:p>
        </p:txBody>
      </p:sp>
      <p:sp>
        <p:nvSpPr>
          <p:cNvPr id="324" name="N"/>
          <p:cNvSpPr txBox="1"/>
          <p:nvPr/>
        </p:nvSpPr>
        <p:spPr>
          <a:xfrm>
            <a:off x="8415191" y="5329931"/>
            <a:ext cx="452344" cy="657721"/>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lvl1pPr>
          </a:lstStyle>
          <a:p>
            <a:r>
              <a:rPr sz="3345"/>
              <a:t>N</a:t>
            </a:r>
          </a:p>
        </p:txBody>
      </p:sp>
      <p:sp>
        <p:nvSpPr>
          <p:cNvPr id="325" name="N"/>
          <p:cNvSpPr txBox="1"/>
          <p:nvPr/>
        </p:nvSpPr>
        <p:spPr>
          <a:xfrm>
            <a:off x="9402653" y="6823964"/>
            <a:ext cx="452344" cy="657721"/>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lvl1pPr>
          </a:lstStyle>
          <a:p>
            <a:r>
              <a:rPr sz="3345"/>
              <a:t>N</a:t>
            </a:r>
          </a:p>
        </p:txBody>
      </p:sp>
      <p:sp>
        <p:nvSpPr>
          <p:cNvPr id="326" name="N"/>
          <p:cNvSpPr txBox="1"/>
          <p:nvPr/>
        </p:nvSpPr>
        <p:spPr>
          <a:xfrm>
            <a:off x="6357817" y="6823964"/>
            <a:ext cx="452344" cy="657721"/>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lvl1pPr>
          </a:lstStyle>
          <a:p>
            <a:r>
              <a:rPr sz="3345"/>
              <a:t>N</a:t>
            </a:r>
          </a:p>
        </p:txBody>
      </p:sp>
      <p:graphicFrame>
        <p:nvGraphicFramePr>
          <p:cNvPr id="327" name="Tabla 1"/>
          <p:cNvGraphicFramePr/>
          <p:nvPr/>
        </p:nvGraphicFramePr>
        <p:xfrm>
          <a:off x="15064842" y="4121818"/>
          <a:ext cx="4102020" cy="2302708"/>
        </p:xfrm>
        <a:graphic>
          <a:graphicData uri="http://schemas.openxmlformats.org/drawingml/2006/table">
            <a:tbl>
              <a:tblPr>
                <a:tableStyleId>{4C3C2611-4C71-4FC5-86AE-919BDF0F9419}</a:tableStyleId>
              </a:tblPr>
              <a:tblGrid>
                <a:gridCol w="1858077">
                  <a:extLst>
                    <a:ext uri="{9D8B030D-6E8A-4147-A177-3AD203B41FA5}">
                      <a16:colId xmlns:a16="http://schemas.microsoft.com/office/drawing/2014/main" val="20000"/>
                    </a:ext>
                  </a:extLst>
                </a:gridCol>
                <a:gridCol w="2243943">
                  <a:extLst>
                    <a:ext uri="{9D8B030D-6E8A-4147-A177-3AD203B41FA5}">
                      <a16:colId xmlns:a16="http://schemas.microsoft.com/office/drawing/2014/main" val="20001"/>
                    </a:ext>
                  </a:extLst>
                </a:gridCol>
              </a:tblGrid>
              <a:tr h="624848">
                <a:tc>
                  <a:txBody>
                    <a:bodyPr/>
                    <a:lstStyle/>
                    <a:p>
                      <a:pPr marL="57799" marR="57799" defTabSz="1295400">
                        <a:spcBef>
                          <a:spcPts val="200"/>
                        </a:spcBef>
                        <a:tabLst>
                          <a:tab pos="1295400" algn="l"/>
                        </a:tabLst>
                      </a:pPr>
                      <a:r>
                        <a:rPr sz="3200" b="1">
                          <a:solidFill>
                            <a:schemeClr val="accent4"/>
                          </a:solidFill>
                          <a:uFill>
                            <a:solidFill>
                              <a:srgbClr val="A7A7A7"/>
                            </a:solidFill>
                          </a:uFill>
                          <a:latin typeface="Arial"/>
                          <a:ea typeface="Arial"/>
                          <a:cs typeface="Arial"/>
                          <a:sym typeface="Arial"/>
                        </a:rPr>
                        <a:t>Inputs</a:t>
                      </a:r>
                    </a:p>
                  </a:txBody>
                  <a:tcPr marL="70791" marR="70791" marT="70791" marB="70791" horzOverflow="overflow">
                    <a:lnL w="28575">
                      <a:solidFill>
                        <a:srgbClr val="000000"/>
                      </a:solidFill>
                      <a:miter lim="400000"/>
                    </a:lnL>
                    <a:lnR w="12700">
                      <a:solidFill>
                        <a:srgbClr val="000000"/>
                      </a:solidFill>
                      <a:miter lim="400000"/>
                    </a:lnR>
                    <a:lnT w="28575">
                      <a:solidFill>
                        <a:srgbClr val="000000"/>
                      </a:solidFill>
                      <a:miter lim="400000"/>
                    </a:lnT>
                    <a:lnB w="12700">
                      <a:solidFill>
                        <a:srgbClr val="000000"/>
                      </a:solidFill>
                      <a:miter lim="400000"/>
                    </a:lnB>
                    <a:solidFill>
                      <a:schemeClr val="accent3"/>
                    </a:solidFill>
                  </a:tcPr>
                </a:tc>
                <a:tc>
                  <a:txBody>
                    <a:bodyPr/>
                    <a:lstStyle/>
                    <a:p>
                      <a:pPr marL="57799" marR="57799" defTabSz="1295400">
                        <a:spcBef>
                          <a:spcPts val="200"/>
                        </a:spcBef>
                        <a:tabLst>
                          <a:tab pos="1295400" algn="l"/>
                        </a:tabLst>
                      </a:pPr>
                      <a:r>
                        <a:rPr sz="3200" b="1">
                          <a:solidFill>
                            <a:schemeClr val="accent4"/>
                          </a:solidFill>
                          <a:uFill>
                            <a:solidFill>
                              <a:srgbClr val="A7A7A7"/>
                            </a:solidFill>
                          </a:uFill>
                          <a:latin typeface="Arial"/>
                          <a:ea typeface="Arial"/>
                          <a:cs typeface="Arial"/>
                          <a:sym typeface="Arial"/>
                        </a:rPr>
                        <a:t>Class</a:t>
                      </a:r>
                    </a:p>
                  </a:txBody>
                  <a:tcPr marL="70791" marR="70791" marT="70791" marB="70791" horzOverflow="overflow">
                    <a:lnL w="12700">
                      <a:solidFill>
                        <a:srgbClr val="000000"/>
                      </a:solidFill>
                      <a:miter lim="400000"/>
                    </a:lnL>
                    <a:lnR w="28575">
                      <a:solidFill>
                        <a:srgbClr val="000000"/>
                      </a:solidFill>
                      <a:miter lim="400000"/>
                    </a:lnR>
                    <a:lnT w="28575">
                      <a:solidFill>
                        <a:srgbClr val="000000"/>
                      </a:solidFill>
                      <a:miter lim="400000"/>
                    </a:lnT>
                    <a:lnB w="12700">
                      <a:solidFill>
                        <a:srgbClr val="000000"/>
                      </a:solidFill>
                      <a:miter lim="400000"/>
                    </a:lnB>
                    <a:solidFill>
                      <a:schemeClr val="accent3"/>
                    </a:solidFill>
                  </a:tcPr>
                </a:tc>
                <a:extLst>
                  <a:ext uri="{0D108BD9-81ED-4DB2-BD59-A6C34878D82A}">
                    <a16:rowId xmlns:a16="http://schemas.microsoft.com/office/drawing/2014/main" val="10000"/>
                  </a:ext>
                </a:extLst>
              </a:tr>
              <a:tr h="579664">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D-1</a:t>
                      </a:r>
                    </a:p>
                  </a:txBody>
                  <a:tcPr marL="70791" marR="70791" marT="70791" marB="70791" horzOverflow="overflow">
                    <a:lnL w="28575">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A6AAA9"/>
                    </a:solidFill>
                  </a:tcPr>
                </a:tc>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YES</a:t>
                      </a:r>
                    </a:p>
                  </a:txBody>
                  <a:tcPr marL="70791" marR="70791" marT="70791" marB="70791" horzOverflow="overflow">
                    <a:lnL w="12700">
                      <a:solidFill>
                        <a:srgbClr val="000000"/>
                      </a:solidFill>
                      <a:miter lim="400000"/>
                    </a:lnL>
                    <a:lnR w="28575">
                      <a:solidFill>
                        <a:srgbClr val="000000"/>
                      </a:solidFill>
                      <a:miter lim="400000"/>
                    </a:lnR>
                    <a:lnT w="12700">
                      <a:solidFill>
                        <a:srgbClr val="000000"/>
                      </a:solidFill>
                      <a:miter lim="400000"/>
                    </a:lnT>
                    <a:lnB w="12700">
                      <a:solidFill>
                        <a:srgbClr val="000000"/>
                      </a:solidFill>
                      <a:miter lim="400000"/>
                    </a:lnB>
                    <a:solidFill>
                      <a:srgbClr val="A6AAA9"/>
                    </a:solidFill>
                  </a:tcPr>
                </a:tc>
                <a:extLst>
                  <a:ext uri="{0D108BD9-81ED-4DB2-BD59-A6C34878D82A}">
                    <a16:rowId xmlns:a16="http://schemas.microsoft.com/office/drawing/2014/main" val="10001"/>
                  </a:ext>
                </a:extLst>
              </a:tr>
              <a:tr h="545091">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D-2</a:t>
                      </a:r>
                    </a:p>
                  </a:txBody>
                  <a:tcPr marL="70791" marR="70791" marT="70791" marB="70791" horzOverflow="overflow">
                    <a:lnL w="28575">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A6AAA9"/>
                    </a:solidFill>
                  </a:tcPr>
                </a:tc>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No</a:t>
                      </a:r>
                    </a:p>
                  </a:txBody>
                  <a:tcPr marL="70791" marR="70791" marT="70791" marB="70791" horzOverflow="overflow">
                    <a:lnL w="12700">
                      <a:solidFill>
                        <a:srgbClr val="000000"/>
                      </a:solidFill>
                      <a:miter lim="400000"/>
                    </a:lnL>
                    <a:lnR w="28575">
                      <a:solidFill>
                        <a:srgbClr val="000000"/>
                      </a:solidFill>
                      <a:miter lim="400000"/>
                    </a:lnR>
                    <a:lnT w="12700">
                      <a:solidFill>
                        <a:srgbClr val="000000"/>
                      </a:solidFill>
                      <a:miter lim="400000"/>
                    </a:lnT>
                    <a:lnB w="12700">
                      <a:solidFill>
                        <a:srgbClr val="000000"/>
                      </a:solidFill>
                      <a:miter lim="400000"/>
                    </a:lnB>
                    <a:solidFill>
                      <a:srgbClr val="A6AAA9"/>
                    </a:solidFill>
                  </a:tcPr>
                </a:tc>
                <a:extLst>
                  <a:ext uri="{0D108BD9-81ED-4DB2-BD59-A6C34878D82A}">
                    <a16:rowId xmlns:a16="http://schemas.microsoft.com/office/drawing/2014/main" val="10002"/>
                  </a:ext>
                </a:extLst>
              </a:tr>
              <a:tr h="548691">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a:t>
                      </a:r>
                    </a:p>
                  </a:txBody>
                  <a:tcPr marL="70791" marR="70791" marT="70791" marB="70791" horzOverflow="overflow">
                    <a:lnL w="28575">
                      <a:solidFill>
                        <a:srgbClr val="000000"/>
                      </a:solidFill>
                      <a:miter lim="400000"/>
                    </a:lnL>
                    <a:lnR w="12700">
                      <a:solidFill>
                        <a:srgbClr val="000000"/>
                      </a:solidFill>
                      <a:miter lim="400000"/>
                    </a:lnR>
                    <a:lnT w="12700">
                      <a:solidFill>
                        <a:srgbClr val="000000"/>
                      </a:solidFill>
                      <a:miter lim="400000"/>
                    </a:lnT>
                    <a:lnB w="28575">
                      <a:solidFill>
                        <a:srgbClr val="000000"/>
                      </a:solidFill>
                      <a:miter lim="400000"/>
                    </a:lnB>
                    <a:solidFill>
                      <a:srgbClr val="A6AAA9"/>
                    </a:solidFill>
                  </a:tcPr>
                </a:tc>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a:t>
                      </a:r>
                    </a:p>
                  </a:txBody>
                  <a:tcPr marL="70791" marR="70791" marT="70791" marB="70791" horzOverflow="overflow">
                    <a:lnL w="12700">
                      <a:solidFill>
                        <a:srgbClr val="000000"/>
                      </a:solidFill>
                      <a:miter lim="400000"/>
                    </a:lnL>
                    <a:lnR w="28575">
                      <a:solidFill>
                        <a:srgbClr val="000000"/>
                      </a:solidFill>
                      <a:miter lim="400000"/>
                    </a:lnR>
                    <a:lnT w="12700">
                      <a:solidFill>
                        <a:srgbClr val="000000"/>
                      </a:solidFill>
                      <a:miter lim="400000"/>
                    </a:lnT>
                    <a:lnB w="28575">
                      <a:solidFill>
                        <a:srgbClr val="000000"/>
                      </a:solidFill>
                      <a:miter lim="400000"/>
                    </a:lnB>
                    <a:solidFill>
                      <a:srgbClr val="A6AAA9"/>
                    </a:solidFill>
                  </a:tcPr>
                </a:tc>
                <a:extLst>
                  <a:ext uri="{0D108BD9-81ED-4DB2-BD59-A6C34878D82A}">
                    <a16:rowId xmlns:a16="http://schemas.microsoft.com/office/drawing/2014/main" val="10003"/>
                  </a:ext>
                </a:extLst>
              </a:tr>
            </a:tbl>
          </a:graphicData>
        </a:graphic>
      </p:graphicFrame>
      <p:sp>
        <p:nvSpPr>
          <p:cNvPr id="328" name="Machine Learning…"/>
          <p:cNvSpPr txBox="1"/>
          <p:nvPr/>
        </p:nvSpPr>
        <p:spPr>
          <a:xfrm>
            <a:off x="14825597" y="8192473"/>
            <a:ext cx="5169982" cy="1343293"/>
          </a:xfrm>
          <a:prstGeom prst="rect">
            <a:avLst/>
          </a:prstGeom>
          <a:ln w="63500">
            <a:solidFill>
              <a:srgbClr val="0061FE"/>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pPr defTabSz="637059">
              <a:defRPr sz="2800">
                <a:latin typeface="Arial Black"/>
                <a:ea typeface="Arial Black"/>
                <a:cs typeface="Arial Black"/>
                <a:sym typeface="Arial Black"/>
              </a:defRPr>
            </a:pPr>
            <a:r>
              <a:rPr sz="3900"/>
              <a:t>Machine Learning </a:t>
            </a:r>
          </a:p>
          <a:p>
            <a:pPr defTabSz="637059">
              <a:defRPr sz="2800">
                <a:latin typeface="Arial Black"/>
                <a:ea typeface="Arial Black"/>
                <a:cs typeface="Arial Black"/>
                <a:sym typeface="Arial Black"/>
              </a:defRPr>
            </a:pPr>
            <a:r>
              <a:rPr sz="3900"/>
              <a:t>algorithm</a:t>
            </a:r>
          </a:p>
        </p:txBody>
      </p:sp>
      <p:pic>
        <p:nvPicPr>
          <p:cNvPr id="329" name="Línea Línea" descr="Línea Línea"/>
          <p:cNvPicPr>
            <a:picLocks/>
          </p:cNvPicPr>
          <p:nvPr/>
        </p:nvPicPr>
        <p:blipFill>
          <a:blip r:embed="rId5"/>
          <a:stretch>
            <a:fillRect/>
          </a:stretch>
        </p:blipFill>
        <p:spPr>
          <a:xfrm rot="5400000">
            <a:off x="16074222" y="6815179"/>
            <a:ext cx="1646659" cy="638101"/>
          </a:xfrm>
          <a:prstGeom prst="rect">
            <a:avLst/>
          </a:prstGeom>
        </p:spPr>
      </p:pic>
      <p:pic>
        <p:nvPicPr>
          <p:cNvPr id="331" name="Línea Línea" descr="Línea Línea"/>
          <p:cNvPicPr>
            <a:picLocks/>
          </p:cNvPicPr>
          <p:nvPr/>
        </p:nvPicPr>
        <p:blipFill>
          <a:blip r:embed="rId6"/>
          <a:stretch>
            <a:fillRect/>
          </a:stretch>
        </p:blipFill>
        <p:spPr>
          <a:xfrm rot="5400000">
            <a:off x="15938594" y="10487935"/>
            <a:ext cx="1917915" cy="638101"/>
          </a:xfrm>
          <a:prstGeom prst="rect">
            <a:avLst/>
          </a:prstGeom>
        </p:spPr>
      </p:pic>
      <p:sp>
        <p:nvSpPr>
          <p:cNvPr id="333" name="D-i = BoW vector"/>
          <p:cNvSpPr txBox="1"/>
          <p:nvPr/>
        </p:nvSpPr>
        <p:spPr>
          <a:xfrm>
            <a:off x="6116137" y="10749013"/>
            <a:ext cx="3236760"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r>
              <a:rPr sz="3150"/>
              <a:t>D-i = BoW vector</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Dealing with 2 Documents"/>
          <p:cNvSpPr txBox="1">
            <a:spLocks noGrp="1"/>
          </p:cNvSpPr>
          <p:nvPr>
            <p:ph type="title"/>
          </p:nvPr>
        </p:nvSpPr>
        <p:spPr>
          <a:prstGeom prst="rect">
            <a:avLst/>
          </a:prstGeom>
        </p:spPr>
        <p:txBody>
          <a:bodyPr>
            <a:noAutofit/>
          </a:bodyPr>
          <a:lstStyle>
            <a:lvl1pPr defTabSz="537463">
              <a:defRPr sz="7360"/>
            </a:lvl1pPr>
          </a:lstStyle>
          <a:p>
            <a:r>
              <a:rPr sz="9196" dirty="0">
                <a:latin typeface="Helvetica Neue Medium" panose="02000503000000020004" pitchFamily="2" charset="0"/>
                <a:ea typeface="Helvetica Neue Medium" panose="02000503000000020004" pitchFamily="2" charset="0"/>
                <a:cs typeface="Helvetica Neue Medium" panose="02000503000000020004" pitchFamily="2" charset="0"/>
              </a:rPr>
              <a:t>Dealing with 2 Documents </a:t>
            </a:r>
          </a:p>
        </p:txBody>
      </p:sp>
      <p:sp>
        <p:nvSpPr>
          <p:cNvPr id="336" name="Is this   document relevant for this     query?"/>
          <p:cNvSpPr txBox="1">
            <a:spLocks noGrp="1"/>
          </p:cNvSpPr>
          <p:nvPr>
            <p:ph type="body" sz="quarter" idx="1"/>
          </p:nvPr>
        </p:nvSpPr>
        <p:spPr>
          <a:xfrm>
            <a:off x="10951624" y="5815284"/>
            <a:ext cx="9641483" cy="3008618"/>
          </a:xfrm>
          <a:prstGeom prst="rect">
            <a:avLst/>
          </a:prstGeom>
        </p:spPr>
        <p:txBody>
          <a:bodyPr>
            <a:normAutofit/>
          </a:bodyPr>
          <a:lstStyle/>
          <a:p>
            <a:pPr marL="0" indent="0" algn="ctr">
              <a:buSzTx/>
              <a:buNone/>
              <a:defRPr sz="2900"/>
            </a:pPr>
            <a:endParaRPr lang="es-ES" dirty="0"/>
          </a:p>
          <a:p>
            <a:pPr marL="0" indent="0" algn="ctr">
              <a:buSzTx/>
              <a:buNone/>
              <a:defRPr sz="2900"/>
            </a:pPr>
            <a:r>
              <a:rPr dirty="0"/>
              <a:t>Is </a:t>
            </a:r>
            <a:r>
              <a:rPr lang="es-ES" dirty="0" err="1"/>
              <a:t>the</a:t>
            </a:r>
            <a:r>
              <a:rPr dirty="0">
                <a:solidFill>
                  <a:schemeClr val="accent1"/>
                </a:solidFill>
              </a:rPr>
              <a:t> </a:t>
            </a:r>
            <a:r>
              <a:rPr dirty="0"/>
              <a:t>document</a:t>
            </a:r>
            <a:r>
              <a:rPr dirty="0">
                <a:solidFill>
                  <a:schemeClr val="accent1"/>
                </a:solidFill>
              </a:rPr>
              <a:t> </a:t>
            </a:r>
            <a:r>
              <a:rPr dirty="0"/>
              <a:t>relevant for </a:t>
            </a:r>
            <a:r>
              <a:rPr lang="es-ES" dirty="0" err="1"/>
              <a:t>the</a:t>
            </a:r>
            <a:r>
              <a:rPr dirty="0"/>
              <a:t> query?</a:t>
            </a:r>
          </a:p>
        </p:txBody>
      </p:sp>
      <p:sp>
        <p:nvSpPr>
          <p:cNvPr id="337" name="Documento de texto"/>
          <p:cNvSpPr/>
          <p:nvPr/>
        </p:nvSpPr>
        <p:spPr>
          <a:xfrm>
            <a:off x="12505267" y="4517835"/>
            <a:ext cx="478790" cy="620028"/>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solidFill>
            <a:schemeClr val="accent1"/>
          </a:solidFill>
          <a:ln w="12700">
            <a:miter lim="400000"/>
          </a:ln>
          <a:effectLst>
            <a:outerShdw blurRad="38100" dist="25400" dir="5400000" rotWithShape="0">
              <a:srgbClr val="000000">
                <a:alpha val="50000"/>
              </a:srgbClr>
            </a:outerShdw>
          </a:effectLst>
        </p:spPr>
        <p:txBody>
          <a:bodyPr lIns="70791" tIns="70791" rIns="70791" bIns="70791" anchor="ctr"/>
          <a:lstStyle/>
          <a:p>
            <a:pPr>
              <a:defRPr sz="2400">
                <a:solidFill>
                  <a:schemeClr val="accent2"/>
                </a:solidFill>
              </a:defRPr>
            </a:pPr>
            <a:endParaRPr sz="3345"/>
          </a:p>
        </p:txBody>
      </p:sp>
      <p:grpSp>
        <p:nvGrpSpPr>
          <p:cNvPr id="347" name="Agrupar"/>
          <p:cNvGrpSpPr/>
          <p:nvPr/>
        </p:nvGrpSpPr>
        <p:grpSpPr>
          <a:xfrm>
            <a:off x="3993207" y="3864147"/>
            <a:ext cx="6777222" cy="5264270"/>
            <a:chOff x="-596899" y="-482600"/>
            <a:chExt cx="4863367" cy="3777665"/>
          </a:xfrm>
        </p:grpSpPr>
        <p:sp>
          <p:nvSpPr>
            <p:cNvPr id="338" name="Documento de texto"/>
            <p:cNvSpPr/>
            <p:nvPr/>
          </p:nvSpPr>
          <p:spPr>
            <a:xfrm>
              <a:off x="327744"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39" name="Documento de texto"/>
            <p:cNvSpPr/>
            <p:nvPr/>
          </p:nvSpPr>
          <p:spPr>
            <a:xfrm>
              <a:off x="1036054"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40" name="Documento de texto"/>
            <p:cNvSpPr/>
            <p:nvPr/>
          </p:nvSpPr>
          <p:spPr>
            <a:xfrm>
              <a:off x="1808128"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41" name="Documento de texto"/>
            <p:cNvSpPr/>
            <p:nvPr/>
          </p:nvSpPr>
          <p:spPr>
            <a:xfrm>
              <a:off x="1745808" y="230089"/>
              <a:ext cx="642046"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42" name="Documento de texto"/>
            <p:cNvSpPr/>
            <p:nvPr/>
          </p:nvSpPr>
          <p:spPr>
            <a:xfrm>
              <a:off x="1036054"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43" name="Documento de texto"/>
            <p:cNvSpPr/>
            <p:nvPr/>
          </p:nvSpPr>
          <p:spPr>
            <a:xfrm>
              <a:off x="2498709" y="1296813"/>
              <a:ext cx="642045"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44" name="Documento de texto"/>
            <p:cNvSpPr/>
            <p:nvPr/>
          </p:nvSpPr>
          <p:spPr>
            <a:xfrm>
              <a:off x="261478" y="1296813"/>
              <a:ext cx="642046" cy="83143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sp>
          <p:nvSpPr>
            <p:cNvPr id="345" name="Documento de texto"/>
            <p:cNvSpPr/>
            <p:nvPr/>
          </p:nvSpPr>
          <p:spPr>
            <a:xfrm>
              <a:off x="2454118" y="230089"/>
              <a:ext cx="642045" cy="831440"/>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7"/>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blipFill rotWithShape="1">
              <a:blip r:embed="rId2"/>
              <a:srcRect/>
              <a:tile tx="0" ty="0" sx="100000" sy="100000" flip="none" algn="tl"/>
            </a:blipFill>
            <a:ln w="12700" cap="flat">
              <a:noFill/>
              <a:miter lim="400000"/>
            </a:ln>
            <a:effectLst>
              <a:outerShdw blurRad="38100" dist="25400" dir="5400000" rotWithShape="0">
                <a:srgbClr val="000000">
                  <a:alpha val="50000"/>
                </a:srgbClr>
              </a:outerShdw>
            </a:effectLst>
          </p:spPr>
          <p:txBody>
            <a:bodyPr wrap="square" lIns="70791" tIns="70791" rIns="70791" bIns="70791" numCol="1" anchor="ctr">
              <a:noAutofit/>
            </a:bodyPr>
            <a:lstStyle/>
            <a:p>
              <a:pPr>
                <a:defRPr sz="2400">
                  <a:solidFill>
                    <a:srgbClr val="FFFFFF"/>
                  </a:solidFill>
                </a:defRPr>
              </a:pPr>
              <a:endParaRPr sz="3345"/>
            </a:p>
          </p:txBody>
        </p:sp>
        <p:pic>
          <p:nvPicPr>
            <p:cNvPr id="346" name="Rectángulo Rectángulo" descr="Rectángulo Rectángulo"/>
            <p:cNvPicPr>
              <a:picLocks/>
            </p:cNvPicPr>
            <p:nvPr/>
          </p:nvPicPr>
          <p:blipFill>
            <a:blip r:embed="rId3"/>
            <a:stretch>
              <a:fillRect/>
            </a:stretch>
          </p:blipFill>
          <p:spPr>
            <a:xfrm>
              <a:off x="-596901" y="-482600"/>
              <a:ext cx="4863369" cy="3777666"/>
            </a:xfrm>
            <a:prstGeom prst="rect">
              <a:avLst/>
            </a:prstGeom>
            <a:effectLst>
              <a:outerShdw blurRad="38100" dist="25400" dir="5400000" rotWithShape="0">
                <a:srgbClr val="000000">
                  <a:alpha val="50000"/>
                </a:srgbClr>
              </a:outerShdw>
            </a:effectLst>
          </p:spPr>
        </p:pic>
      </p:grpSp>
      <p:sp>
        <p:nvSpPr>
          <p:cNvPr id="348" name="Handmade procedure: all words have the same importance…"/>
          <p:cNvSpPr txBox="1"/>
          <p:nvPr/>
        </p:nvSpPr>
        <p:spPr>
          <a:xfrm>
            <a:off x="6667383" y="9734269"/>
            <a:ext cx="10828582" cy="20819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pPr>
              <a:defRPr>
                <a:solidFill>
                  <a:schemeClr val="accent1"/>
                </a:solidFill>
                <a:latin typeface="Chalkboard"/>
                <a:ea typeface="Chalkboard"/>
                <a:cs typeface="Chalkboard"/>
                <a:sym typeface="Chalkboard"/>
              </a:defRPr>
            </a:pPr>
            <a:r>
              <a:rPr sz="3150" dirty="0"/>
              <a:t>Handmade procedure: all words have the same importance</a:t>
            </a:r>
          </a:p>
          <a:p>
            <a:pPr>
              <a:defRPr>
                <a:solidFill>
                  <a:schemeClr val="accent1"/>
                </a:solidFill>
                <a:latin typeface="Chalkboard"/>
                <a:ea typeface="Chalkboard"/>
                <a:cs typeface="Chalkboard"/>
                <a:sym typeface="Chalkboard"/>
              </a:defRPr>
            </a:pPr>
            <a:endParaRPr sz="3150" dirty="0"/>
          </a:p>
          <a:p>
            <a:pPr>
              <a:defRPr>
                <a:solidFill>
                  <a:schemeClr val="accent1"/>
                </a:solidFill>
                <a:latin typeface="Chalkboard"/>
                <a:ea typeface="Chalkboard"/>
                <a:cs typeface="Chalkboard"/>
                <a:sym typeface="Chalkboard"/>
              </a:defRPr>
            </a:pPr>
            <a:r>
              <a:rPr sz="3150" dirty="0"/>
              <a:t>Compute </a:t>
            </a:r>
            <a:r>
              <a:rPr sz="3150" b="1" dirty="0">
                <a:solidFill>
                  <a:srgbClr val="FF0000"/>
                </a:solidFill>
              </a:rPr>
              <a:t>cos</a:t>
            </a:r>
            <a:r>
              <a:rPr sz="3150" dirty="0"/>
              <a:t> and return the documents with the </a:t>
            </a:r>
            <a:br>
              <a:rPr lang="es-ES" sz="3150" dirty="0"/>
            </a:br>
            <a:r>
              <a:rPr sz="3150" dirty="0"/>
              <a:t>highest value (see next)</a:t>
            </a:r>
          </a:p>
        </p:txBody>
      </p:sp>
      <p:sp>
        <p:nvSpPr>
          <p:cNvPr id="349" name="Documento de texto"/>
          <p:cNvSpPr/>
          <p:nvPr/>
        </p:nvSpPr>
        <p:spPr>
          <a:xfrm>
            <a:off x="12664654" y="5774658"/>
            <a:ext cx="486739" cy="630319"/>
          </a:xfrm>
          <a:custGeom>
            <a:avLst/>
            <a:gdLst/>
            <a:ahLst/>
            <a:cxnLst>
              <a:cxn ang="0">
                <a:pos x="wd2" y="hd2"/>
              </a:cxn>
              <a:cxn ang="5400000">
                <a:pos x="wd2" y="hd2"/>
              </a:cxn>
              <a:cxn ang="10800000">
                <a:pos x="wd2" y="hd2"/>
              </a:cxn>
              <a:cxn ang="16200000">
                <a:pos x="wd2" y="hd2"/>
              </a:cxn>
            </a:cxnLst>
            <a:rect l="0" t="0" r="r" b="b"/>
            <a:pathLst>
              <a:path w="21600" h="21600" extrusionOk="0">
                <a:moveTo>
                  <a:pt x="213" y="0"/>
                </a:moveTo>
                <a:cubicBezTo>
                  <a:pt x="96" y="0"/>
                  <a:pt x="0" y="72"/>
                  <a:pt x="0" y="162"/>
                </a:cubicBezTo>
                <a:lnTo>
                  <a:pt x="0" y="21438"/>
                </a:lnTo>
                <a:cubicBezTo>
                  <a:pt x="0" y="21528"/>
                  <a:pt x="96" y="21600"/>
                  <a:pt x="213" y="21600"/>
                </a:cubicBezTo>
                <a:lnTo>
                  <a:pt x="21387" y="21600"/>
                </a:lnTo>
                <a:cubicBezTo>
                  <a:pt x="21504" y="21600"/>
                  <a:pt x="21600" y="21528"/>
                  <a:pt x="21600" y="21438"/>
                </a:cubicBezTo>
                <a:lnTo>
                  <a:pt x="21600" y="5895"/>
                </a:lnTo>
                <a:cubicBezTo>
                  <a:pt x="21600" y="5863"/>
                  <a:pt x="21567" y="5837"/>
                  <a:pt x="21525" y="5837"/>
                </a:cubicBezTo>
                <a:lnTo>
                  <a:pt x="14257" y="5837"/>
                </a:lnTo>
                <a:cubicBezTo>
                  <a:pt x="14140" y="5837"/>
                  <a:pt x="14044" y="5765"/>
                  <a:pt x="14044" y="5674"/>
                </a:cubicBezTo>
                <a:lnTo>
                  <a:pt x="14044" y="58"/>
                </a:lnTo>
                <a:cubicBezTo>
                  <a:pt x="14044" y="26"/>
                  <a:pt x="14011" y="0"/>
                  <a:pt x="13969" y="0"/>
                </a:cubicBezTo>
                <a:lnTo>
                  <a:pt x="213" y="0"/>
                </a:lnTo>
                <a:close/>
                <a:moveTo>
                  <a:pt x="15018" y="86"/>
                </a:moveTo>
                <a:cubicBezTo>
                  <a:pt x="14992" y="94"/>
                  <a:pt x="14972" y="114"/>
                  <a:pt x="14972" y="140"/>
                </a:cubicBezTo>
                <a:lnTo>
                  <a:pt x="14972" y="4958"/>
                </a:lnTo>
                <a:cubicBezTo>
                  <a:pt x="14972" y="5048"/>
                  <a:pt x="15068" y="5120"/>
                  <a:pt x="15185" y="5120"/>
                </a:cubicBezTo>
                <a:lnTo>
                  <a:pt x="21419" y="5120"/>
                </a:lnTo>
                <a:cubicBezTo>
                  <a:pt x="21486" y="5120"/>
                  <a:pt x="21519" y="5058"/>
                  <a:pt x="21472" y="5021"/>
                </a:cubicBezTo>
                <a:lnTo>
                  <a:pt x="15100" y="99"/>
                </a:lnTo>
                <a:cubicBezTo>
                  <a:pt x="15077" y="81"/>
                  <a:pt x="15044" y="78"/>
                  <a:pt x="15018" y="86"/>
                </a:cubicBezTo>
                <a:close/>
                <a:moveTo>
                  <a:pt x="3916" y="7813"/>
                </a:moveTo>
                <a:lnTo>
                  <a:pt x="17684" y="7813"/>
                </a:lnTo>
                <a:cubicBezTo>
                  <a:pt x="17718" y="7813"/>
                  <a:pt x="17747" y="7836"/>
                  <a:pt x="17747" y="7862"/>
                </a:cubicBezTo>
                <a:lnTo>
                  <a:pt x="17747" y="8842"/>
                </a:lnTo>
                <a:cubicBezTo>
                  <a:pt x="17747" y="8868"/>
                  <a:pt x="17718" y="8890"/>
                  <a:pt x="17684" y="8890"/>
                </a:cubicBezTo>
                <a:lnTo>
                  <a:pt x="3916" y="8890"/>
                </a:lnTo>
                <a:cubicBezTo>
                  <a:pt x="3882" y="8890"/>
                  <a:pt x="3853" y="8868"/>
                  <a:pt x="3853" y="8842"/>
                </a:cubicBezTo>
                <a:lnTo>
                  <a:pt x="3853" y="7862"/>
                </a:lnTo>
                <a:cubicBezTo>
                  <a:pt x="3853" y="7836"/>
                  <a:pt x="3882" y="7813"/>
                  <a:pt x="3916" y="7813"/>
                </a:cubicBezTo>
                <a:close/>
                <a:moveTo>
                  <a:pt x="3916" y="10498"/>
                </a:moveTo>
                <a:lnTo>
                  <a:pt x="17684" y="10498"/>
                </a:lnTo>
                <a:cubicBezTo>
                  <a:pt x="17718" y="10498"/>
                  <a:pt x="17747" y="10520"/>
                  <a:pt x="17747" y="10546"/>
                </a:cubicBezTo>
                <a:lnTo>
                  <a:pt x="17747" y="11526"/>
                </a:lnTo>
                <a:cubicBezTo>
                  <a:pt x="17747" y="11552"/>
                  <a:pt x="17718" y="11573"/>
                  <a:pt x="17684" y="11573"/>
                </a:cubicBezTo>
                <a:lnTo>
                  <a:pt x="3916" y="11573"/>
                </a:lnTo>
                <a:cubicBezTo>
                  <a:pt x="3882" y="11573"/>
                  <a:pt x="3853" y="11552"/>
                  <a:pt x="3853" y="11526"/>
                </a:cubicBezTo>
                <a:lnTo>
                  <a:pt x="3853" y="10546"/>
                </a:lnTo>
                <a:cubicBezTo>
                  <a:pt x="3853" y="10520"/>
                  <a:pt x="3882" y="10498"/>
                  <a:pt x="3916" y="10498"/>
                </a:cubicBezTo>
                <a:close/>
                <a:moveTo>
                  <a:pt x="3916" y="13182"/>
                </a:moveTo>
                <a:lnTo>
                  <a:pt x="17684" y="13182"/>
                </a:lnTo>
                <a:cubicBezTo>
                  <a:pt x="17718" y="13182"/>
                  <a:pt x="17747" y="13204"/>
                  <a:pt x="17747" y="13230"/>
                </a:cubicBezTo>
                <a:lnTo>
                  <a:pt x="17747" y="14210"/>
                </a:lnTo>
                <a:cubicBezTo>
                  <a:pt x="17747" y="14237"/>
                  <a:pt x="17718" y="14257"/>
                  <a:pt x="17684" y="14257"/>
                </a:cubicBezTo>
                <a:lnTo>
                  <a:pt x="3916" y="14257"/>
                </a:lnTo>
                <a:cubicBezTo>
                  <a:pt x="3882" y="14257"/>
                  <a:pt x="3853" y="14237"/>
                  <a:pt x="3853" y="14210"/>
                </a:cubicBezTo>
                <a:lnTo>
                  <a:pt x="3853" y="13230"/>
                </a:lnTo>
                <a:cubicBezTo>
                  <a:pt x="3853" y="13204"/>
                  <a:pt x="3882" y="13182"/>
                  <a:pt x="3916" y="13182"/>
                </a:cubicBezTo>
                <a:close/>
                <a:moveTo>
                  <a:pt x="3916" y="15866"/>
                </a:moveTo>
                <a:lnTo>
                  <a:pt x="17684" y="15866"/>
                </a:lnTo>
                <a:cubicBezTo>
                  <a:pt x="17718" y="15866"/>
                  <a:pt x="17747" y="15888"/>
                  <a:pt x="17747" y="15914"/>
                </a:cubicBezTo>
                <a:lnTo>
                  <a:pt x="17747" y="16894"/>
                </a:lnTo>
                <a:cubicBezTo>
                  <a:pt x="17747" y="16921"/>
                  <a:pt x="17718" y="16941"/>
                  <a:pt x="17684" y="16941"/>
                </a:cubicBezTo>
                <a:lnTo>
                  <a:pt x="3916" y="16941"/>
                </a:lnTo>
                <a:cubicBezTo>
                  <a:pt x="3882" y="16941"/>
                  <a:pt x="3853" y="16921"/>
                  <a:pt x="3853" y="16894"/>
                </a:cubicBezTo>
                <a:lnTo>
                  <a:pt x="3853" y="15914"/>
                </a:lnTo>
                <a:cubicBezTo>
                  <a:pt x="3853" y="15888"/>
                  <a:pt x="3882" y="15866"/>
                  <a:pt x="3916" y="15866"/>
                </a:cubicBezTo>
                <a:close/>
              </a:path>
            </a:pathLst>
          </a:custGeom>
          <a:solidFill>
            <a:schemeClr val="accent3"/>
          </a:solidFill>
          <a:ln w="12700">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FFFF"/>
                </a:solidFill>
              </a:defRPr>
            </a:pPr>
            <a:endParaRPr sz="3345"/>
          </a:p>
        </p:txBody>
      </p:sp>
      <p:sp>
        <p:nvSpPr>
          <p:cNvPr id="2" name="CuadroTexto 1">
            <a:extLst>
              <a:ext uri="{FF2B5EF4-FFF2-40B4-BE49-F238E27FC236}">
                <a16:creationId xmlns:a16="http://schemas.microsoft.com/office/drawing/2014/main" id="{41832BA0-45BC-A44C-6D42-6B63B2E235F0}"/>
              </a:ext>
            </a:extLst>
          </p:cNvPr>
          <p:cNvSpPr txBox="1"/>
          <p:nvPr/>
        </p:nvSpPr>
        <p:spPr>
          <a:xfrm>
            <a:off x="13151395" y="4445512"/>
            <a:ext cx="3258708" cy="7646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0791" tIns="70791" rIns="70791" bIns="70791" numCol="1" spcCol="38100" rtlCol="0" anchor="ctr">
            <a:spAutoFit/>
          </a:bodyPr>
          <a:lstStyle/>
          <a:p>
            <a:pPr defTabSz="814019"/>
            <a:r>
              <a:rPr lang="es-ES" sz="4040" dirty="0" err="1">
                <a:latin typeface="Helvetica"/>
              </a:rPr>
              <a:t>document</a:t>
            </a:r>
            <a:endParaRPr lang="es-ES" sz="4040" dirty="0">
              <a:latin typeface="Helvetica"/>
            </a:endParaRPr>
          </a:p>
        </p:txBody>
      </p:sp>
      <p:sp>
        <p:nvSpPr>
          <p:cNvPr id="3" name="CuadroTexto 2">
            <a:extLst>
              <a:ext uri="{FF2B5EF4-FFF2-40B4-BE49-F238E27FC236}">
                <a16:creationId xmlns:a16="http://schemas.microsoft.com/office/drawing/2014/main" id="{2F60DD18-9478-4B9F-73A3-6FBB74F4E29C}"/>
              </a:ext>
            </a:extLst>
          </p:cNvPr>
          <p:cNvSpPr txBox="1"/>
          <p:nvPr/>
        </p:nvSpPr>
        <p:spPr>
          <a:xfrm>
            <a:off x="13151395" y="5731518"/>
            <a:ext cx="3258708" cy="7646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0791" tIns="70791" rIns="70791" bIns="70791" numCol="1" spcCol="38100" rtlCol="0" anchor="ctr">
            <a:spAutoFit/>
          </a:bodyPr>
          <a:lstStyle/>
          <a:p>
            <a:pPr defTabSz="814019"/>
            <a:r>
              <a:rPr lang="es-ES" sz="4040" dirty="0" err="1">
                <a:latin typeface="Helvetica"/>
              </a:rPr>
              <a:t>query</a:t>
            </a:r>
            <a:endParaRPr lang="es-ES" sz="4040" dirty="0">
              <a:latin typeface="Helvetica"/>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1" name="Tabla 1"/>
          <p:cNvGraphicFramePr/>
          <p:nvPr/>
        </p:nvGraphicFramePr>
        <p:xfrm>
          <a:off x="4628936" y="4092271"/>
          <a:ext cx="13112024" cy="4975824"/>
        </p:xfrm>
        <a:graphic>
          <a:graphicData uri="http://schemas.openxmlformats.org/drawingml/2006/table">
            <a:tbl>
              <a:tblPr bandRow="1">
                <a:tableStyleId>{4C3C2611-4C71-4FC5-86AE-919BDF0F9419}</a:tableStyleId>
              </a:tblPr>
              <a:tblGrid>
                <a:gridCol w="3700629">
                  <a:extLst>
                    <a:ext uri="{9D8B030D-6E8A-4147-A177-3AD203B41FA5}">
                      <a16:colId xmlns:a16="http://schemas.microsoft.com/office/drawing/2014/main" val="20000"/>
                    </a:ext>
                  </a:extLst>
                </a:gridCol>
                <a:gridCol w="638069">
                  <a:extLst>
                    <a:ext uri="{9D8B030D-6E8A-4147-A177-3AD203B41FA5}">
                      <a16:colId xmlns:a16="http://schemas.microsoft.com/office/drawing/2014/main" val="20001"/>
                    </a:ext>
                  </a:extLst>
                </a:gridCol>
                <a:gridCol w="731792">
                  <a:extLst>
                    <a:ext uri="{9D8B030D-6E8A-4147-A177-3AD203B41FA5}">
                      <a16:colId xmlns:a16="http://schemas.microsoft.com/office/drawing/2014/main" val="20002"/>
                    </a:ext>
                  </a:extLst>
                </a:gridCol>
                <a:gridCol w="1678538">
                  <a:extLst>
                    <a:ext uri="{9D8B030D-6E8A-4147-A177-3AD203B41FA5}">
                      <a16:colId xmlns:a16="http://schemas.microsoft.com/office/drawing/2014/main" val="20003"/>
                    </a:ext>
                  </a:extLst>
                </a:gridCol>
                <a:gridCol w="1099707">
                  <a:extLst>
                    <a:ext uri="{9D8B030D-6E8A-4147-A177-3AD203B41FA5}">
                      <a16:colId xmlns:a16="http://schemas.microsoft.com/office/drawing/2014/main" val="20004"/>
                    </a:ext>
                  </a:extLst>
                </a:gridCol>
                <a:gridCol w="1571436">
                  <a:extLst>
                    <a:ext uri="{9D8B030D-6E8A-4147-A177-3AD203B41FA5}">
                      <a16:colId xmlns:a16="http://schemas.microsoft.com/office/drawing/2014/main" val="20005"/>
                    </a:ext>
                  </a:extLst>
                </a:gridCol>
                <a:gridCol w="1434349">
                  <a:extLst>
                    <a:ext uri="{9D8B030D-6E8A-4147-A177-3AD203B41FA5}">
                      <a16:colId xmlns:a16="http://schemas.microsoft.com/office/drawing/2014/main" val="20006"/>
                    </a:ext>
                  </a:extLst>
                </a:gridCol>
                <a:gridCol w="1390190">
                  <a:extLst>
                    <a:ext uri="{9D8B030D-6E8A-4147-A177-3AD203B41FA5}">
                      <a16:colId xmlns:a16="http://schemas.microsoft.com/office/drawing/2014/main" val="20007"/>
                    </a:ext>
                  </a:extLst>
                </a:gridCol>
                <a:gridCol w="867314">
                  <a:extLst>
                    <a:ext uri="{9D8B030D-6E8A-4147-A177-3AD203B41FA5}">
                      <a16:colId xmlns:a16="http://schemas.microsoft.com/office/drawing/2014/main" val="20008"/>
                    </a:ext>
                  </a:extLst>
                </a:gridCol>
              </a:tblGrid>
              <a:tr h="773695">
                <a:tc>
                  <a:txBody>
                    <a:bodyPr/>
                    <a:lstStyle/>
                    <a:p>
                      <a:pPr defTabSz="914400">
                        <a:defRPr sz="2100"/>
                      </a:pPr>
                      <a:endParaRPr sz="2900"/>
                    </a:p>
                  </a:txBody>
                  <a:tcPr marL="70791" marR="70791" marT="70791" marB="70791" anchor="ctr" horzOverflow="overflow">
                    <a:lnR w="12700">
                      <a:solidFill>
                        <a:srgbClr val="3797C6"/>
                      </a:solidFill>
                      <a:miter lim="400000"/>
                    </a:lnR>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2</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3</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4</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5</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6</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7</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8</a:t>
                      </a:r>
                    </a:p>
                  </a:txBody>
                  <a:tcPr marL="70791" marR="70791" marT="70791" marB="70791" anchor="ctr" horzOverflow="overflow">
                    <a:lnL w="12700">
                      <a:solidFill>
                        <a:srgbClr val="3797C6"/>
                      </a:solidFill>
                      <a:miter lim="400000"/>
                    </a:lnL>
                    <a:lnB w="12700">
                      <a:solidFill>
                        <a:srgbClr val="3797C6"/>
                      </a:solidFill>
                      <a:miter lim="400000"/>
                    </a:lnB>
                  </a:tcPr>
                </a:tc>
                <a:extLst>
                  <a:ext uri="{0D108BD9-81ED-4DB2-BD59-A6C34878D82A}">
                    <a16:rowId xmlns:a16="http://schemas.microsoft.com/office/drawing/2014/main" val="10000"/>
                  </a:ext>
                </a:extLst>
              </a:tr>
              <a:tr h="1287525">
                <a:tc>
                  <a:txBody>
                    <a:bodyPr/>
                    <a:lstStyle/>
                    <a:p>
                      <a:pPr defTabSz="914400">
                        <a:defRPr sz="2100"/>
                      </a:pPr>
                      <a:endParaRPr sz="2900"/>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el</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un</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caballo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gato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blanco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negro</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agua</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a:t>
                      </a:r>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1"/>
                  </a:ext>
                </a:extLst>
              </a:tr>
              <a:tr h="680720">
                <a:tc>
                  <a:txBody>
                    <a:bodyPr/>
                    <a:lstStyle/>
                    <a:p>
                      <a:pPr algn="l">
                        <a:defRPr sz="2200"/>
                      </a:pPr>
                      <a:r>
                        <a:rPr sz="3200"/>
                        <a:t>“</a:t>
                      </a:r>
                      <a:r>
                        <a:rPr sz="3200" b="1">
                          <a:latin typeface="Helvetica"/>
                          <a:ea typeface="Helvetica"/>
                          <a:cs typeface="Helvetica"/>
                          <a:sym typeface="Helvetica"/>
                        </a:rPr>
                        <a:t>un gato negro</a:t>
                      </a:r>
                      <a:r>
                        <a:rPr sz="3200"/>
                        <a:t>”</a:t>
                      </a:r>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a:t>
                      </a:r>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2"/>
                  </a:ext>
                </a:extLst>
              </a:tr>
              <a:tr h="1108115">
                <a:tc>
                  <a:txBody>
                    <a:bodyPr/>
                    <a:lstStyle/>
                    <a:p>
                      <a:pPr algn="l">
                        <a:defRPr sz="2200"/>
                      </a:pPr>
                      <a:r>
                        <a:rPr sz="3200"/>
                        <a:t>“</a:t>
                      </a:r>
                      <a:r>
                        <a:rPr sz="3200" b="1">
                          <a:latin typeface="Helvetica"/>
                          <a:ea typeface="Helvetica"/>
                          <a:cs typeface="Helvetica"/>
                          <a:sym typeface="Helvetica"/>
                        </a:rPr>
                        <a:t>el caballo blanco</a:t>
                      </a:r>
                      <a:r>
                        <a:rPr sz="3200"/>
                        <a:t>”</a:t>
                      </a:r>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3"/>
                  </a:ext>
                </a:extLst>
              </a:tr>
              <a:tr h="680720">
                <a:tc>
                  <a:txBody>
                    <a:bodyPr/>
                    <a:lstStyle/>
                    <a:p>
                      <a:pPr algn="l">
                        <a:defRPr sz="2200"/>
                      </a:pPr>
                      <a:r>
                        <a:rPr sz="3200"/>
                        <a:t>“</a:t>
                      </a:r>
                      <a:r>
                        <a:rPr sz="3200" b="1">
                          <a:latin typeface="Helvetica"/>
                          <a:ea typeface="Helvetica"/>
                          <a:cs typeface="Helvetica"/>
                          <a:sym typeface="Helvetica"/>
                        </a:rPr>
                        <a:t>un caballo negro</a:t>
                      </a:r>
                      <a:r>
                        <a:rPr sz="3200"/>
                        <a:t>”</a:t>
                      </a:r>
                    </a:p>
                  </a:txBody>
                  <a:tcPr marL="70791" marR="70791" marT="70791" marB="70791" anchor="ctr" horzOverflow="overflow">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defRPr sz="2100"/>
                      </a:pPr>
                      <a:endParaRPr sz="2900"/>
                    </a:p>
                  </a:txBody>
                  <a:tcPr marL="70791" marR="70791" marT="70791" marB="70791" anchor="ctr" horzOverflow="overflow">
                    <a:lnL w="12700">
                      <a:solidFill>
                        <a:srgbClr val="3797C6"/>
                      </a:solidFill>
                      <a:miter lim="400000"/>
                    </a:lnL>
                    <a:lnT w="12700">
                      <a:solidFill>
                        <a:srgbClr val="3797C6"/>
                      </a:solidFill>
                      <a:miter lim="400000"/>
                    </a:lnT>
                  </a:tcPr>
                </a:tc>
                <a:extLst>
                  <a:ext uri="{0D108BD9-81ED-4DB2-BD59-A6C34878D82A}">
                    <a16:rowId xmlns:a16="http://schemas.microsoft.com/office/drawing/2014/main" val="10004"/>
                  </a:ext>
                </a:extLst>
              </a:tr>
            </a:tbl>
          </a:graphicData>
        </a:graphic>
      </p:graphicFrame>
      <p:grpSp>
        <p:nvGrpSpPr>
          <p:cNvPr id="354" name="Bag of words"/>
          <p:cNvGrpSpPr/>
          <p:nvPr/>
        </p:nvGrpSpPr>
        <p:grpSpPr>
          <a:xfrm rot="960000">
            <a:off x="16102532" y="635813"/>
            <a:ext cx="4831595" cy="1716684"/>
            <a:chOff x="0" y="0"/>
            <a:chExt cx="3467175" cy="1231900"/>
          </a:xfrm>
        </p:grpSpPr>
        <p:sp>
          <p:nvSpPr>
            <p:cNvPr id="353" name="Bag of words"/>
            <p:cNvSpPr txBox="1"/>
            <p:nvPr/>
          </p:nvSpPr>
          <p:spPr>
            <a:xfrm>
              <a:off x="764333" y="251026"/>
              <a:ext cx="1938506" cy="450450"/>
            </a:xfrm>
            <a:prstGeom prst="rect">
              <a:avLst/>
            </a:prstGeom>
            <a:noFill/>
            <a:ln>
              <a:noFill/>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numCol="1" anchor="ctr">
              <a:spAutoFit/>
            </a:bodyPr>
            <a:lstStyle>
              <a:lvl1pPr>
                <a:defRPr b="1">
                  <a:solidFill>
                    <a:schemeClr val="accent4"/>
                  </a:solidFill>
                  <a:latin typeface="Helvetica"/>
                  <a:ea typeface="Helvetica"/>
                  <a:cs typeface="Helvetica"/>
                  <a:sym typeface="Helvetica"/>
                </a:defRPr>
              </a:lvl1pPr>
            </a:lstStyle>
            <a:p>
              <a:r>
                <a:rPr sz="3150"/>
                <a:t>Bag of words</a:t>
              </a:r>
            </a:p>
          </p:txBody>
        </p:sp>
        <p:pic>
          <p:nvPicPr>
            <p:cNvPr id="352" name="Bag of words Bag of words" descr="Bag of words Bag of words"/>
            <p:cNvPicPr>
              <a:picLocks/>
            </p:cNvPicPr>
            <p:nvPr/>
          </p:nvPicPr>
          <p:blipFill>
            <a:blip r:embed="rId2"/>
            <a:stretch>
              <a:fillRect/>
            </a:stretch>
          </p:blipFill>
          <p:spPr>
            <a:xfrm>
              <a:off x="0" y="0"/>
              <a:ext cx="3467175" cy="1231900"/>
            </a:xfrm>
            <a:prstGeom prst="rect">
              <a:avLst/>
            </a:prstGeom>
            <a:effectLst/>
          </p:spPr>
        </p:pic>
      </p:grpSp>
      <p:pic>
        <p:nvPicPr>
          <p:cNvPr id="355" name="pasted-image.pdf" descr="pasted-image.pdf"/>
          <p:cNvPicPr>
            <a:picLocks noChangeAspect="1"/>
          </p:cNvPicPr>
          <p:nvPr/>
        </p:nvPicPr>
        <p:blipFill>
          <a:blip r:embed="rId3"/>
          <a:stretch>
            <a:fillRect/>
          </a:stretch>
        </p:blipFill>
        <p:spPr>
          <a:xfrm>
            <a:off x="5242015" y="8990463"/>
            <a:ext cx="13679308" cy="4025783"/>
          </a:xfrm>
          <a:prstGeom prst="rect">
            <a:avLst/>
          </a:prstGeom>
          <a:ln w="12700">
            <a:miter lim="400000"/>
          </a:ln>
        </p:spPr>
      </p:pic>
      <p:sp>
        <p:nvSpPr>
          <p:cNvPr id="356" name="Discrete, n-hot: Text Representation"/>
          <p:cNvSpPr txBox="1">
            <a:spLocks noGrp="1"/>
          </p:cNvSpPr>
          <p:nvPr>
            <p:ph type="title"/>
          </p:nvPr>
        </p:nvSpPr>
        <p:spPr>
          <a:prstGeom prst="rect">
            <a:avLst/>
          </a:prstGeom>
        </p:spPr>
        <p:txBody>
          <a:bodyPr>
            <a:normAutofit/>
          </a:bodyPr>
          <a:lstStyle/>
          <a:p>
            <a:pPr defTabSz="683773">
              <a:defRPr sz="6719"/>
            </a:pPr>
            <a:r>
              <a:rPr dirty="0">
                <a:latin typeface="Helvetica Neue Medium" panose="02000503000000020004" pitchFamily="2" charset="0"/>
                <a:ea typeface="Helvetica Neue Medium" panose="02000503000000020004" pitchFamily="2" charset="0"/>
                <a:cs typeface="Helvetica Neue Medium" panose="02000503000000020004" pitchFamily="2" charset="0"/>
              </a:rPr>
              <a:t>Discrete, n-hot:</a:t>
            </a:r>
            <a:br>
              <a:rPr dirty="0">
                <a:latin typeface="Helvetica Neue Medium" panose="02000503000000020004" pitchFamily="2" charset="0"/>
                <a:ea typeface="Helvetica Neue Medium" panose="02000503000000020004" pitchFamily="2" charset="0"/>
                <a:cs typeface="Helvetica Neue Medium" panose="02000503000000020004" pitchFamily="2" charset="0"/>
              </a:rPr>
            </a:br>
            <a:r>
              <a:rPr dirty="0">
                <a:latin typeface="Helvetica Neue Medium" panose="02000503000000020004" pitchFamily="2" charset="0"/>
                <a:ea typeface="Helvetica Neue Medium" panose="02000503000000020004" pitchFamily="2" charset="0"/>
                <a:cs typeface="Helvetica Neue Medium" panose="02000503000000020004" pitchFamily="2" charset="0"/>
              </a:rPr>
              <a:t>Text Representation</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All words have the same importance? Compute cos ……"/>
          <p:cNvSpPr txBox="1"/>
          <p:nvPr/>
        </p:nvSpPr>
        <p:spPr>
          <a:xfrm>
            <a:off x="4035817" y="5325257"/>
            <a:ext cx="7195712" cy="551571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0791" tIns="70791" rIns="70791" bIns="70791" anchor="ctr">
            <a:spAutoFit/>
          </a:bodyPr>
          <a:lstStyle/>
          <a:p>
            <a:pPr algn="l">
              <a:spcBef>
                <a:spcPts val="5853"/>
              </a:spcBef>
              <a:defRPr sz="3000">
                <a:latin typeface="Helvetica"/>
                <a:ea typeface="Helvetica"/>
                <a:cs typeface="Helvetica"/>
                <a:sym typeface="Helvetica"/>
              </a:defRPr>
            </a:pPr>
            <a:r>
              <a:rPr sz="4180"/>
              <a:t>All words have the same importance? Compute cos …</a:t>
            </a:r>
          </a:p>
          <a:p>
            <a:pPr algn="l">
              <a:spcBef>
                <a:spcPts val="5853"/>
              </a:spcBef>
              <a:defRPr sz="3000">
                <a:latin typeface="Helvetica"/>
                <a:ea typeface="Helvetica"/>
                <a:cs typeface="Helvetica"/>
                <a:sym typeface="Helvetica"/>
              </a:defRPr>
            </a:pPr>
            <a:endParaRPr sz="4180"/>
          </a:p>
          <a:p>
            <a:pPr algn="l">
              <a:spcBef>
                <a:spcPts val="5853"/>
              </a:spcBef>
              <a:defRPr sz="3000">
                <a:latin typeface="Helvetica"/>
                <a:ea typeface="Helvetica"/>
                <a:cs typeface="Helvetica"/>
                <a:sym typeface="Helvetica"/>
              </a:defRPr>
            </a:pPr>
            <a:r>
              <a:rPr sz="4180"/>
              <a:t>Some words are more relevant than others, but I do not know which ones</a:t>
            </a:r>
          </a:p>
        </p:txBody>
      </p:sp>
      <p:sp>
        <p:nvSpPr>
          <p:cNvPr id="360" name="Learned procedure"/>
          <p:cNvSpPr txBox="1"/>
          <p:nvPr/>
        </p:nvSpPr>
        <p:spPr>
          <a:xfrm>
            <a:off x="15123682" y="11956218"/>
            <a:ext cx="3547743"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a:solidFill>
                  <a:schemeClr val="accent1"/>
                </a:solidFill>
                <a:latin typeface="Chalkboard"/>
                <a:ea typeface="Chalkboard"/>
                <a:cs typeface="Chalkboard"/>
                <a:sym typeface="Chalkboard"/>
              </a:defRPr>
            </a:lvl1pPr>
          </a:lstStyle>
          <a:p>
            <a:r>
              <a:rPr sz="3150"/>
              <a:t>Learned procedure</a:t>
            </a:r>
          </a:p>
        </p:txBody>
      </p:sp>
      <p:graphicFrame>
        <p:nvGraphicFramePr>
          <p:cNvPr id="361" name="Tabla 1"/>
          <p:cNvGraphicFramePr/>
          <p:nvPr/>
        </p:nvGraphicFramePr>
        <p:xfrm>
          <a:off x="15064839" y="4121816"/>
          <a:ext cx="4199059" cy="2813022"/>
        </p:xfrm>
        <a:graphic>
          <a:graphicData uri="http://schemas.openxmlformats.org/drawingml/2006/table">
            <a:tbl>
              <a:tblPr>
                <a:tableStyleId>{4C3C2611-4C71-4FC5-86AE-919BDF0F9419}</a:tableStyleId>
              </a:tblPr>
              <a:tblGrid>
                <a:gridCol w="2085610">
                  <a:extLst>
                    <a:ext uri="{9D8B030D-6E8A-4147-A177-3AD203B41FA5}">
                      <a16:colId xmlns:a16="http://schemas.microsoft.com/office/drawing/2014/main" val="20000"/>
                    </a:ext>
                  </a:extLst>
                </a:gridCol>
                <a:gridCol w="2113449">
                  <a:extLst>
                    <a:ext uri="{9D8B030D-6E8A-4147-A177-3AD203B41FA5}">
                      <a16:colId xmlns:a16="http://schemas.microsoft.com/office/drawing/2014/main" val="20001"/>
                    </a:ext>
                  </a:extLst>
                </a:gridCol>
              </a:tblGrid>
              <a:tr h="624848">
                <a:tc>
                  <a:txBody>
                    <a:bodyPr/>
                    <a:lstStyle/>
                    <a:p>
                      <a:pPr marL="57799" marR="57799" defTabSz="1295400">
                        <a:spcBef>
                          <a:spcPts val="200"/>
                        </a:spcBef>
                        <a:tabLst>
                          <a:tab pos="1295400" algn="l"/>
                        </a:tabLst>
                      </a:pPr>
                      <a:r>
                        <a:rPr sz="3200" b="1">
                          <a:solidFill>
                            <a:schemeClr val="accent4"/>
                          </a:solidFill>
                          <a:uFill>
                            <a:solidFill>
                              <a:srgbClr val="A7A7A7"/>
                            </a:solidFill>
                          </a:uFill>
                          <a:latin typeface="Arial"/>
                          <a:ea typeface="Arial"/>
                          <a:cs typeface="Arial"/>
                          <a:sym typeface="Arial"/>
                        </a:rPr>
                        <a:t>Inputs</a:t>
                      </a:r>
                    </a:p>
                  </a:txBody>
                  <a:tcPr marL="70791" marR="70791" marT="70791" marB="70791" horzOverflow="overflow">
                    <a:lnL w="28575">
                      <a:solidFill>
                        <a:srgbClr val="000000"/>
                      </a:solidFill>
                      <a:miter lim="400000"/>
                    </a:lnL>
                    <a:lnR w="12700">
                      <a:solidFill>
                        <a:srgbClr val="000000"/>
                      </a:solidFill>
                      <a:miter lim="400000"/>
                    </a:lnR>
                    <a:lnT w="28575">
                      <a:solidFill>
                        <a:srgbClr val="000000"/>
                      </a:solidFill>
                      <a:miter lim="400000"/>
                    </a:lnT>
                    <a:lnB w="12700">
                      <a:solidFill>
                        <a:srgbClr val="000000"/>
                      </a:solidFill>
                      <a:miter lim="400000"/>
                    </a:lnB>
                    <a:solidFill>
                      <a:schemeClr val="accent3"/>
                    </a:solidFill>
                  </a:tcPr>
                </a:tc>
                <a:tc>
                  <a:txBody>
                    <a:bodyPr/>
                    <a:lstStyle/>
                    <a:p>
                      <a:pPr marL="57799" marR="57799" defTabSz="1295400">
                        <a:spcBef>
                          <a:spcPts val="200"/>
                        </a:spcBef>
                        <a:tabLst>
                          <a:tab pos="1295400" algn="l"/>
                        </a:tabLst>
                      </a:pPr>
                      <a:r>
                        <a:rPr sz="3200" b="1">
                          <a:solidFill>
                            <a:schemeClr val="accent4"/>
                          </a:solidFill>
                          <a:uFill>
                            <a:solidFill>
                              <a:srgbClr val="A7A7A7"/>
                            </a:solidFill>
                          </a:uFill>
                          <a:latin typeface="Arial"/>
                          <a:ea typeface="Arial"/>
                          <a:cs typeface="Arial"/>
                          <a:sym typeface="Arial"/>
                        </a:rPr>
                        <a:t>Class</a:t>
                      </a:r>
                    </a:p>
                  </a:txBody>
                  <a:tcPr marL="70791" marR="70791" marT="70791" marB="70791" horzOverflow="overflow">
                    <a:lnL w="12700">
                      <a:solidFill>
                        <a:srgbClr val="000000"/>
                      </a:solidFill>
                      <a:miter lim="400000"/>
                    </a:lnL>
                    <a:lnR w="28575">
                      <a:solidFill>
                        <a:srgbClr val="000000"/>
                      </a:solidFill>
                      <a:miter lim="400000"/>
                    </a:lnR>
                    <a:lnT w="28575">
                      <a:solidFill>
                        <a:srgbClr val="000000"/>
                      </a:solidFill>
                      <a:miter lim="400000"/>
                    </a:lnT>
                    <a:lnB w="12700">
                      <a:solidFill>
                        <a:srgbClr val="000000"/>
                      </a:solidFill>
                      <a:miter lim="400000"/>
                    </a:lnB>
                    <a:solidFill>
                      <a:schemeClr val="accent3"/>
                    </a:solidFill>
                  </a:tcPr>
                </a:tc>
                <a:extLst>
                  <a:ext uri="{0D108BD9-81ED-4DB2-BD59-A6C34878D82A}">
                    <a16:rowId xmlns:a16="http://schemas.microsoft.com/office/drawing/2014/main" val="10000"/>
                  </a:ext>
                </a:extLst>
              </a:tr>
              <a:tr h="548487">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D-1, Q-1</a:t>
                      </a:r>
                    </a:p>
                  </a:txBody>
                  <a:tcPr marL="70791" marR="70791" marT="70791" marB="70791" horzOverflow="overflow">
                    <a:lnL w="28575">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A6AAA9"/>
                    </a:solidFill>
                  </a:tcPr>
                </a:tc>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YES</a:t>
                      </a:r>
                    </a:p>
                  </a:txBody>
                  <a:tcPr marL="70791" marR="70791" marT="70791" marB="70791" horzOverflow="overflow">
                    <a:lnL w="12700">
                      <a:solidFill>
                        <a:srgbClr val="000000"/>
                      </a:solidFill>
                      <a:miter lim="400000"/>
                    </a:lnL>
                    <a:lnR w="28575">
                      <a:solidFill>
                        <a:srgbClr val="000000"/>
                      </a:solidFill>
                      <a:miter lim="400000"/>
                    </a:lnR>
                    <a:lnT w="12700">
                      <a:solidFill>
                        <a:srgbClr val="000000"/>
                      </a:solidFill>
                      <a:miter lim="400000"/>
                    </a:lnT>
                    <a:lnB w="12700">
                      <a:solidFill>
                        <a:srgbClr val="000000"/>
                      </a:solidFill>
                      <a:miter lim="400000"/>
                    </a:lnB>
                    <a:solidFill>
                      <a:srgbClr val="A6AAA9"/>
                    </a:solidFill>
                  </a:tcPr>
                </a:tc>
                <a:extLst>
                  <a:ext uri="{0D108BD9-81ED-4DB2-BD59-A6C34878D82A}">
                    <a16:rowId xmlns:a16="http://schemas.microsoft.com/office/drawing/2014/main" val="10001"/>
                  </a:ext>
                </a:extLst>
              </a:tr>
              <a:tr h="545091">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D-1, Q-2</a:t>
                      </a:r>
                    </a:p>
                  </a:txBody>
                  <a:tcPr marL="70791" marR="70791" marT="70791" marB="70791" horzOverflow="overflow">
                    <a:lnL w="28575">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A6AAA9"/>
                    </a:solidFill>
                  </a:tcPr>
                </a:tc>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No</a:t>
                      </a:r>
                    </a:p>
                  </a:txBody>
                  <a:tcPr marL="70791" marR="70791" marT="70791" marB="70791" horzOverflow="overflow">
                    <a:lnL w="12700">
                      <a:solidFill>
                        <a:srgbClr val="000000"/>
                      </a:solidFill>
                      <a:miter lim="400000"/>
                    </a:lnL>
                    <a:lnR w="28575">
                      <a:solidFill>
                        <a:srgbClr val="000000"/>
                      </a:solidFill>
                      <a:miter lim="400000"/>
                    </a:lnR>
                    <a:lnT w="12700">
                      <a:solidFill>
                        <a:srgbClr val="000000"/>
                      </a:solidFill>
                      <a:miter lim="400000"/>
                    </a:lnT>
                    <a:lnB w="12700">
                      <a:solidFill>
                        <a:srgbClr val="000000"/>
                      </a:solidFill>
                      <a:miter lim="400000"/>
                    </a:lnB>
                    <a:solidFill>
                      <a:srgbClr val="A6AAA9"/>
                    </a:solidFill>
                  </a:tcPr>
                </a:tc>
                <a:extLst>
                  <a:ext uri="{0D108BD9-81ED-4DB2-BD59-A6C34878D82A}">
                    <a16:rowId xmlns:a16="http://schemas.microsoft.com/office/drawing/2014/main" val="10002"/>
                  </a:ext>
                </a:extLst>
              </a:tr>
              <a:tr h="545091">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D-2, Q-43</a:t>
                      </a:r>
                    </a:p>
                  </a:txBody>
                  <a:tcPr marL="70791" marR="70791" marT="70791" marB="70791" horzOverflow="overflow">
                    <a:lnL w="28575">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A6AAA9"/>
                    </a:solidFill>
                  </a:tcPr>
                </a:tc>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YES</a:t>
                      </a:r>
                    </a:p>
                  </a:txBody>
                  <a:tcPr marL="70791" marR="70791" marT="70791" marB="70791" horzOverflow="overflow">
                    <a:lnL w="12700">
                      <a:solidFill>
                        <a:srgbClr val="000000"/>
                      </a:solidFill>
                      <a:miter lim="400000"/>
                    </a:lnL>
                    <a:lnR w="28575">
                      <a:solidFill>
                        <a:srgbClr val="000000"/>
                      </a:solidFill>
                      <a:miter lim="400000"/>
                    </a:lnR>
                    <a:lnT w="12700">
                      <a:solidFill>
                        <a:srgbClr val="000000"/>
                      </a:solidFill>
                      <a:miter lim="400000"/>
                    </a:lnT>
                    <a:lnB w="12700">
                      <a:solidFill>
                        <a:srgbClr val="000000"/>
                      </a:solidFill>
                      <a:miter lim="400000"/>
                    </a:lnB>
                    <a:solidFill>
                      <a:srgbClr val="A6AAA9"/>
                    </a:solidFill>
                  </a:tcPr>
                </a:tc>
                <a:extLst>
                  <a:ext uri="{0D108BD9-81ED-4DB2-BD59-A6C34878D82A}">
                    <a16:rowId xmlns:a16="http://schemas.microsoft.com/office/drawing/2014/main" val="10003"/>
                  </a:ext>
                </a:extLst>
              </a:tr>
              <a:tr h="545091">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a:t>
                      </a:r>
                    </a:p>
                  </a:txBody>
                  <a:tcPr marL="70791" marR="70791" marT="70791" marB="70791" horzOverflow="overflow">
                    <a:lnL w="28575">
                      <a:solidFill>
                        <a:srgbClr val="000000"/>
                      </a:solidFill>
                      <a:miter lim="400000"/>
                    </a:lnL>
                    <a:lnR w="12700">
                      <a:solidFill>
                        <a:srgbClr val="000000"/>
                      </a:solidFill>
                      <a:miter lim="400000"/>
                    </a:lnR>
                    <a:lnT w="12700">
                      <a:solidFill>
                        <a:srgbClr val="000000"/>
                      </a:solidFill>
                      <a:miter lim="400000"/>
                    </a:lnT>
                    <a:lnB w="28575">
                      <a:solidFill>
                        <a:srgbClr val="000000"/>
                      </a:solidFill>
                      <a:miter lim="400000"/>
                    </a:lnB>
                    <a:solidFill>
                      <a:srgbClr val="A6AAA9"/>
                    </a:solidFill>
                  </a:tcPr>
                </a:tc>
                <a:tc>
                  <a:txBody>
                    <a:bodyPr/>
                    <a:lstStyle/>
                    <a:p>
                      <a:pPr marL="57799" marR="57799" defTabSz="1295400">
                        <a:spcBef>
                          <a:spcPts val="200"/>
                        </a:spcBef>
                        <a:tabLst>
                          <a:tab pos="1295400" algn="l"/>
                        </a:tabLst>
                      </a:pPr>
                      <a:r>
                        <a:rPr sz="2600" b="1">
                          <a:solidFill>
                            <a:srgbClr val="0061FE"/>
                          </a:solidFill>
                          <a:uFill>
                            <a:solidFill>
                              <a:srgbClr val="A7A7A7"/>
                            </a:solidFill>
                          </a:uFill>
                          <a:latin typeface="Arial"/>
                          <a:ea typeface="Arial"/>
                          <a:cs typeface="Arial"/>
                          <a:sym typeface="Arial"/>
                        </a:rPr>
                        <a:t>…</a:t>
                      </a:r>
                    </a:p>
                  </a:txBody>
                  <a:tcPr marL="70791" marR="70791" marT="70791" marB="70791" horzOverflow="overflow">
                    <a:lnL w="12700">
                      <a:solidFill>
                        <a:srgbClr val="000000"/>
                      </a:solidFill>
                      <a:miter lim="400000"/>
                    </a:lnL>
                    <a:lnR w="28575">
                      <a:solidFill>
                        <a:srgbClr val="000000"/>
                      </a:solidFill>
                      <a:miter lim="400000"/>
                    </a:lnR>
                    <a:lnT w="12700">
                      <a:solidFill>
                        <a:srgbClr val="000000"/>
                      </a:solidFill>
                      <a:miter lim="400000"/>
                    </a:lnT>
                    <a:lnB w="28575">
                      <a:solidFill>
                        <a:srgbClr val="000000"/>
                      </a:solidFill>
                      <a:miter lim="400000"/>
                    </a:lnB>
                    <a:solidFill>
                      <a:srgbClr val="A6AAA9"/>
                    </a:solidFill>
                  </a:tcPr>
                </a:tc>
                <a:extLst>
                  <a:ext uri="{0D108BD9-81ED-4DB2-BD59-A6C34878D82A}">
                    <a16:rowId xmlns:a16="http://schemas.microsoft.com/office/drawing/2014/main" val="10004"/>
                  </a:ext>
                </a:extLst>
              </a:tr>
            </a:tbl>
          </a:graphicData>
        </a:graphic>
      </p:graphicFrame>
      <p:sp>
        <p:nvSpPr>
          <p:cNvPr id="362" name="Machine Learning…"/>
          <p:cNvSpPr txBox="1"/>
          <p:nvPr/>
        </p:nvSpPr>
        <p:spPr>
          <a:xfrm>
            <a:off x="14825597" y="8192473"/>
            <a:ext cx="5169982" cy="1343293"/>
          </a:xfrm>
          <a:prstGeom prst="rect">
            <a:avLst/>
          </a:prstGeom>
          <a:ln w="63500">
            <a:solidFill>
              <a:srgbClr val="0061FE"/>
            </a:solid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pPr defTabSz="637059">
              <a:defRPr sz="2800">
                <a:latin typeface="Arial Black"/>
                <a:ea typeface="Arial Black"/>
                <a:cs typeface="Arial Black"/>
                <a:sym typeface="Arial Black"/>
              </a:defRPr>
            </a:pPr>
            <a:r>
              <a:rPr sz="3900"/>
              <a:t>Machine Learning </a:t>
            </a:r>
          </a:p>
          <a:p>
            <a:pPr defTabSz="637059">
              <a:defRPr sz="2800">
                <a:latin typeface="Arial Black"/>
                <a:ea typeface="Arial Black"/>
                <a:cs typeface="Arial Black"/>
                <a:sym typeface="Arial Black"/>
              </a:defRPr>
            </a:pPr>
            <a:r>
              <a:rPr sz="3900"/>
              <a:t>algorithm</a:t>
            </a:r>
          </a:p>
        </p:txBody>
      </p:sp>
      <p:pic>
        <p:nvPicPr>
          <p:cNvPr id="363" name="Línea Línea" descr="Línea Línea"/>
          <p:cNvPicPr>
            <a:picLocks/>
          </p:cNvPicPr>
          <p:nvPr/>
        </p:nvPicPr>
        <p:blipFill>
          <a:blip r:embed="rId2"/>
          <a:stretch>
            <a:fillRect/>
          </a:stretch>
        </p:blipFill>
        <p:spPr>
          <a:xfrm rot="5400000">
            <a:off x="16074222" y="6815179"/>
            <a:ext cx="1646659" cy="638101"/>
          </a:xfrm>
          <a:prstGeom prst="rect">
            <a:avLst/>
          </a:prstGeom>
        </p:spPr>
      </p:pic>
      <p:pic>
        <p:nvPicPr>
          <p:cNvPr id="365" name="Línea Línea" descr="Línea Línea"/>
          <p:cNvPicPr>
            <a:picLocks/>
          </p:cNvPicPr>
          <p:nvPr/>
        </p:nvPicPr>
        <p:blipFill>
          <a:blip r:embed="rId3"/>
          <a:stretch>
            <a:fillRect/>
          </a:stretch>
        </p:blipFill>
        <p:spPr>
          <a:xfrm rot="5400000">
            <a:off x="15938594" y="10487935"/>
            <a:ext cx="1917915" cy="638101"/>
          </a:xfrm>
          <a:prstGeom prst="rect">
            <a:avLst/>
          </a:prstGeom>
        </p:spPr>
      </p:pic>
      <p:sp>
        <p:nvSpPr>
          <p:cNvPr id="367" name="D-i, Q-j arfe BoW vectors"/>
          <p:cNvSpPr txBox="1"/>
          <p:nvPr/>
        </p:nvSpPr>
        <p:spPr>
          <a:xfrm rot="20640000">
            <a:off x="11976896" y="3727001"/>
            <a:ext cx="4905487" cy="657721"/>
          </a:xfrm>
          <a:prstGeom prst="rect">
            <a:avLst/>
          </a:prstGeom>
          <a:gradFill>
            <a:gsLst>
              <a:gs pos="0">
                <a:srgbClr val="FBFBFB"/>
              </a:gs>
              <a:gs pos="100000">
                <a:srgbClr val="BEBEBE"/>
              </a:gs>
            </a:gsLst>
            <a:lin ang="5400000"/>
          </a:gradFill>
          <a:ln w="12700">
            <a:miter lim="400000"/>
          </a:ln>
          <a:effectLst>
            <a:outerShdw blurRad="381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lvl1pPr>
              <a:defRPr sz="2400"/>
            </a:lvl1pPr>
          </a:lstStyle>
          <a:p>
            <a:r>
              <a:rPr sz="3345" dirty="0"/>
              <a:t>D-</a:t>
            </a:r>
            <a:r>
              <a:rPr sz="3345" dirty="0" err="1"/>
              <a:t>i</a:t>
            </a:r>
            <a:r>
              <a:rPr sz="3345" dirty="0"/>
              <a:t>, Q-j are </a:t>
            </a:r>
            <a:r>
              <a:rPr sz="3345" dirty="0" err="1"/>
              <a:t>BoW</a:t>
            </a:r>
            <a:r>
              <a:rPr sz="3345" dirty="0"/>
              <a:t> vectors </a:t>
            </a:r>
          </a:p>
        </p:txBody>
      </p:sp>
      <p:sp>
        <p:nvSpPr>
          <p:cNvPr id="4" name="Dealing with 2 Documents">
            <a:extLst>
              <a:ext uri="{FF2B5EF4-FFF2-40B4-BE49-F238E27FC236}">
                <a16:creationId xmlns:a16="http://schemas.microsoft.com/office/drawing/2014/main" id="{988C9BBC-CEC2-3080-D4F1-985D652B554F}"/>
              </a:ext>
            </a:extLst>
          </p:cNvPr>
          <p:cNvSpPr txBox="1">
            <a:spLocks noGrp="1"/>
          </p:cNvSpPr>
          <p:nvPr>
            <p:ph type="title"/>
          </p:nvPr>
        </p:nvSpPr>
        <p:spPr>
          <a:xfrm>
            <a:off x="4347750" y="685452"/>
            <a:ext cx="15467839" cy="3008618"/>
          </a:xfrm>
          <a:prstGeom prst="rect">
            <a:avLst/>
          </a:prstGeom>
        </p:spPr>
        <p:txBody>
          <a:bodyPr>
            <a:noAutofit/>
          </a:bodyPr>
          <a:lstStyle>
            <a:lvl1pPr defTabSz="537463">
              <a:defRPr sz="7360"/>
            </a:lvl1pPr>
          </a:lstStyle>
          <a:p>
            <a:r>
              <a:rPr sz="9196" dirty="0">
                <a:latin typeface="Helvetica Neue Medium" panose="02000503000000020004" pitchFamily="2" charset="0"/>
                <a:ea typeface="Helvetica Neue Medium" panose="02000503000000020004" pitchFamily="2" charset="0"/>
                <a:cs typeface="Helvetica Neue Medium" panose="02000503000000020004" pitchFamily="2" charset="0"/>
              </a:rPr>
              <a:t>Dealing with 2 Documents </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Recommender Systems"/>
          <p:cNvSpPr txBox="1">
            <a:spLocks noGrp="1"/>
          </p:cNvSpPr>
          <p:nvPr>
            <p:ph type="title"/>
          </p:nvPr>
        </p:nvSpPr>
        <p:spPr>
          <a:prstGeom prst="rect">
            <a:avLst/>
          </a:prstGeom>
        </p:spPr>
        <p:txBody>
          <a:bodyPr/>
          <a:lstStyle>
            <a:lvl1pPr>
              <a:defRPr b="1">
                <a:solidFill>
                  <a:srgbClr val="D19D01"/>
                </a:solidFill>
                <a:latin typeface="Helvetica"/>
                <a:ea typeface="Helvetica"/>
                <a:cs typeface="Helvetica"/>
                <a:sym typeface="Helvetica"/>
              </a:defRPr>
            </a:lvl1pPr>
          </a:lstStyle>
          <a:p>
            <a:r>
              <a:rPr dirty="0">
                <a:solidFill>
                  <a:schemeClr val="tx1"/>
                </a:solidFill>
              </a:rPr>
              <a:t>Recommender Systems </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Users,…"/>
          <p:cNvSpPr txBox="1">
            <a:spLocks noGrp="1"/>
          </p:cNvSpPr>
          <p:nvPr>
            <p:ph type="body" sz="half" idx="1"/>
          </p:nvPr>
        </p:nvSpPr>
        <p:spPr>
          <a:xfrm>
            <a:off x="10470344" y="3409271"/>
            <a:ext cx="10110058" cy="8970013"/>
          </a:xfrm>
          <a:prstGeom prst="rect">
            <a:avLst/>
          </a:prstGeom>
        </p:spPr>
        <p:txBody>
          <a:bodyPr>
            <a:normAutofit/>
          </a:bodyPr>
          <a:lstStyle/>
          <a:p>
            <a:pPr marL="0" lvl="8" indent="2548231" defTabSz="906039">
              <a:spcBef>
                <a:spcPts val="1393"/>
              </a:spcBef>
              <a:buSzTx/>
              <a:buNone/>
              <a:defRPr sz="4400">
                <a:latin typeface="Mistral"/>
                <a:ea typeface="Mistral"/>
                <a:cs typeface="Mistral"/>
                <a:sym typeface="Mistral"/>
              </a:defRPr>
            </a:pPr>
            <a:r>
              <a:rPr>
                <a:latin typeface="Calibri"/>
                <a:ea typeface="Calibri"/>
                <a:cs typeface="Calibri"/>
                <a:sym typeface="Calibri"/>
              </a:rPr>
              <a:t>Users, </a:t>
            </a:r>
            <a:r>
              <a:rPr>
                <a:latin typeface="Noteworthy Bold"/>
                <a:ea typeface="Noteworthy Bold"/>
                <a:cs typeface="Noteworthy Bold"/>
                <a:sym typeface="Noteworthy Bold"/>
              </a:rPr>
              <a:t>     </a:t>
            </a:r>
          </a:p>
          <a:p>
            <a:pPr marL="0" lvl="8" indent="2548231" defTabSz="906039">
              <a:spcBef>
                <a:spcPts val="1393"/>
              </a:spcBef>
              <a:buSzTx/>
              <a:buNone/>
              <a:defRPr sz="4400">
                <a:latin typeface="Mistral"/>
                <a:ea typeface="Mistral"/>
                <a:cs typeface="Mistral"/>
                <a:sym typeface="Mistral"/>
              </a:defRPr>
            </a:pPr>
            <a:r>
              <a:rPr>
                <a:latin typeface="Calibri"/>
                <a:ea typeface="Calibri"/>
                <a:cs typeface="Calibri"/>
                <a:sym typeface="Calibri"/>
              </a:rPr>
              <a:t>Movies </a:t>
            </a:r>
          </a:p>
          <a:p>
            <a:pPr marL="0" indent="0">
              <a:buSzTx/>
              <a:buNone/>
              <a:defRPr sz="3800"/>
            </a:pPr>
            <a:endParaRPr>
              <a:latin typeface="Calibri"/>
              <a:ea typeface="Calibri"/>
              <a:cs typeface="Calibri"/>
              <a:sym typeface="Calibri"/>
            </a:endParaRPr>
          </a:p>
          <a:p>
            <a:pPr marL="0" indent="0">
              <a:buSzTx/>
              <a:buNone/>
              <a:defRPr sz="3800"/>
            </a:pPr>
            <a:r>
              <a:t>The goal is to fill this matrix </a:t>
            </a:r>
            <a:r>
              <a:rPr b="1" i="1"/>
              <a:t>according</a:t>
            </a:r>
            <a:r>
              <a:t> to the assessments of users about movies</a:t>
            </a:r>
          </a:p>
        </p:txBody>
      </p:sp>
      <p:sp>
        <p:nvSpPr>
          <p:cNvPr id="372" name="Número de diapositiva"/>
          <p:cNvSpPr txBox="1">
            <a:spLocks noGrp="1"/>
          </p:cNvSpPr>
          <p:nvPr>
            <p:ph type="sldNum" sz="quarter" idx="2"/>
          </p:nvPr>
        </p:nvSpPr>
        <p:spPr>
          <a:xfrm>
            <a:off x="22535317" y="12788269"/>
            <a:ext cx="419857" cy="47448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graphicFrame>
        <p:nvGraphicFramePr>
          <p:cNvPr id="373" name="Tabla 1"/>
          <p:cNvGraphicFramePr/>
          <p:nvPr/>
        </p:nvGraphicFramePr>
        <p:xfrm>
          <a:off x="5070188" y="3898360"/>
          <a:ext cx="4655819" cy="4857455"/>
        </p:xfrm>
        <a:graphic>
          <a:graphicData uri="http://schemas.openxmlformats.org/drawingml/2006/table">
            <a:tbl>
              <a:tblPr>
                <a:tableStyleId>{4C3C2611-4C71-4FC5-86AE-919BDF0F9419}</a:tableStyleId>
              </a:tblPr>
              <a:tblGrid>
                <a:gridCol w="926227">
                  <a:extLst>
                    <a:ext uri="{9D8B030D-6E8A-4147-A177-3AD203B41FA5}">
                      <a16:colId xmlns:a16="http://schemas.microsoft.com/office/drawing/2014/main" val="20000"/>
                    </a:ext>
                  </a:extLst>
                </a:gridCol>
                <a:gridCol w="930553">
                  <a:extLst>
                    <a:ext uri="{9D8B030D-6E8A-4147-A177-3AD203B41FA5}">
                      <a16:colId xmlns:a16="http://schemas.microsoft.com/office/drawing/2014/main" val="20001"/>
                    </a:ext>
                  </a:extLst>
                </a:gridCol>
                <a:gridCol w="930553">
                  <a:extLst>
                    <a:ext uri="{9D8B030D-6E8A-4147-A177-3AD203B41FA5}">
                      <a16:colId xmlns:a16="http://schemas.microsoft.com/office/drawing/2014/main" val="20002"/>
                    </a:ext>
                  </a:extLst>
                </a:gridCol>
                <a:gridCol w="930553">
                  <a:extLst>
                    <a:ext uri="{9D8B030D-6E8A-4147-A177-3AD203B41FA5}">
                      <a16:colId xmlns:a16="http://schemas.microsoft.com/office/drawing/2014/main" val="20003"/>
                    </a:ext>
                  </a:extLst>
                </a:gridCol>
                <a:gridCol w="937933">
                  <a:extLst>
                    <a:ext uri="{9D8B030D-6E8A-4147-A177-3AD203B41FA5}">
                      <a16:colId xmlns:a16="http://schemas.microsoft.com/office/drawing/2014/main" val="20004"/>
                    </a:ext>
                  </a:extLst>
                </a:gridCol>
              </a:tblGrid>
              <a:tr h="971491">
                <a:tc>
                  <a:txBody>
                    <a:bodyPr/>
                    <a:lstStyle/>
                    <a:p>
                      <a:pPr algn="l" defTabSz="650240">
                        <a:defRPr sz="2400">
                          <a:latin typeface="Calibri"/>
                          <a:ea typeface="Calibri"/>
                          <a:cs typeface="Calibri"/>
                          <a:sym typeface="Calibri"/>
                        </a:defRPr>
                      </a:pPr>
                      <a:endParaRPr sz="3400"/>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m1</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m2</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m3</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0"/>
                  </a:ext>
                </a:extLst>
              </a:tr>
              <a:tr h="971491">
                <a:tc>
                  <a:txBody>
                    <a:bodyPr/>
                    <a:lstStyle/>
                    <a:p>
                      <a:pPr algn="l" defTabSz="650240"/>
                      <a:r>
                        <a:rPr sz="3400">
                          <a:latin typeface="Calibri"/>
                          <a:ea typeface="Calibri"/>
                          <a:cs typeface="Calibri"/>
                          <a:sym typeface="Calibri"/>
                        </a:rPr>
                        <a:t>u1</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1"/>
                  </a:ext>
                </a:extLst>
              </a:tr>
              <a:tr h="971491">
                <a:tc>
                  <a:txBody>
                    <a:bodyPr/>
                    <a:lstStyle/>
                    <a:p>
                      <a:pPr algn="l" defTabSz="650240"/>
                      <a:r>
                        <a:rPr sz="3400">
                          <a:latin typeface="Calibri"/>
                          <a:ea typeface="Calibri"/>
                          <a:cs typeface="Calibri"/>
                          <a:sym typeface="Calibri"/>
                        </a:rPr>
                        <a:t>u2</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2"/>
                  </a:ext>
                </a:extLst>
              </a:tr>
              <a:tr h="971491">
                <a:tc>
                  <a:txBody>
                    <a:bodyPr/>
                    <a:lstStyle/>
                    <a:p>
                      <a:pPr algn="l" defTabSz="650240"/>
                      <a:r>
                        <a:rPr sz="3400">
                          <a:latin typeface="Calibri"/>
                          <a:ea typeface="Calibri"/>
                          <a:cs typeface="Calibri"/>
                          <a:sym typeface="Calibri"/>
                        </a:rPr>
                        <a:t>u3</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3"/>
                  </a:ext>
                </a:extLst>
              </a:tr>
              <a:tr h="971491">
                <a:tc>
                  <a:txBody>
                    <a:bodyPr/>
                    <a:lstStyle/>
                    <a:p>
                      <a:pPr algn="l" defTabSz="650240"/>
                      <a:r>
                        <a:rPr sz="3400">
                          <a:latin typeface="Calibri"/>
                          <a:ea typeface="Calibri"/>
                          <a:cs typeface="Calibri"/>
                          <a:sym typeface="Calibri"/>
                        </a:rPr>
                        <a:t>u4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4"/>
                  </a:ext>
                </a:extLst>
              </a:tr>
            </a:tbl>
          </a:graphicData>
        </a:graphic>
      </p:graphicFrame>
      <p:sp>
        <p:nvSpPr>
          <p:cNvPr id="374" name="Recommender Systems"/>
          <p:cNvSpPr txBox="1">
            <a:spLocks noGrp="1"/>
          </p:cNvSpPr>
          <p:nvPr>
            <p:ph type="title"/>
          </p:nvPr>
        </p:nvSpPr>
        <p:spPr>
          <a:xfrm>
            <a:off x="4347750" y="685452"/>
            <a:ext cx="15467839" cy="3008618"/>
          </a:xfrm>
          <a:prstGeom prst="rect">
            <a:avLst/>
          </a:prstGeom>
        </p:spPr>
        <p:txBody>
          <a:bodyPr lIns="70791" tIns="70791" rIns="70791" bIns="70791" anchor="ctr">
            <a:normAutofit/>
          </a:bodyPr>
          <a:lstStyle>
            <a:lvl1pPr defTabSz="584200">
              <a:defRPr sz="5100" b="1">
                <a:solidFill>
                  <a:schemeClr val="accent4"/>
                </a:solidFill>
                <a:latin typeface="Helvetica"/>
                <a:ea typeface="Helvetica"/>
                <a:cs typeface="Helvetica"/>
                <a:sym typeface="Helvetica"/>
              </a:defRPr>
            </a:lvl1pPr>
          </a:lstStyle>
          <a:p>
            <a:r>
              <a:rPr dirty="0">
                <a:solidFill>
                  <a:schemeClr val="tx1"/>
                </a:solidFill>
              </a:rPr>
              <a:t>Recommender Systems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Recommender Systems: Users and Items representations"/>
          <p:cNvSpPr txBox="1">
            <a:spLocks noGrp="1"/>
          </p:cNvSpPr>
          <p:nvPr>
            <p:ph type="title"/>
          </p:nvPr>
        </p:nvSpPr>
        <p:spPr>
          <a:xfrm>
            <a:off x="999460" y="625441"/>
            <a:ext cx="21669154" cy="3037850"/>
          </a:xfrm>
          <a:prstGeom prst="rect">
            <a:avLst/>
          </a:prstGeom>
        </p:spPr>
        <p:txBody>
          <a:bodyPr>
            <a:normAutofit/>
          </a:bodyPr>
          <a:lstStyle>
            <a:lvl1pPr>
              <a:defRPr sz="5100" b="1">
                <a:solidFill>
                  <a:schemeClr val="accent4"/>
                </a:solidFill>
                <a:latin typeface="Helvetica"/>
                <a:ea typeface="Helvetica"/>
                <a:cs typeface="Helvetica"/>
                <a:sym typeface="Helvetica"/>
              </a:defRPr>
            </a:lvl1pPr>
          </a:lstStyle>
          <a:p>
            <a:r>
              <a:rPr sz="6000" dirty="0">
                <a:solidFill>
                  <a:schemeClr val="tx1"/>
                </a:solidFill>
              </a:rPr>
              <a:t>Recommender Systems: Users and Items representations</a:t>
            </a:r>
          </a:p>
        </p:txBody>
      </p:sp>
      <p:sp>
        <p:nvSpPr>
          <p:cNvPr id="379" name="Let’s assume that we consider 3 features of movies…"/>
          <p:cNvSpPr txBox="1">
            <a:spLocks noGrp="1"/>
          </p:cNvSpPr>
          <p:nvPr>
            <p:ph type="body" idx="1"/>
          </p:nvPr>
        </p:nvSpPr>
        <p:spPr>
          <a:prstGeom prst="rect">
            <a:avLst/>
          </a:prstGeom>
        </p:spPr>
        <p:txBody>
          <a:bodyPr>
            <a:normAutofit/>
          </a:bodyPr>
          <a:lstStyle/>
          <a:p>
            <a:pPr marL="0" indent="0" defTabSz="691915">
              <a:spcBef>
                <a:spcPts val="4878"/>
              </a:spcBef>
              <a:buSzTx/>
              <a:buNone/>
              <a:defRPr sz="3230"/>
            </a:pPr>
            <a:r>
              <a:t>Let’s assume that we consider 3 features of movies</a:t>
            </a:r>
          </a:p>
          <a:p>
            <a:pPr marL="0" indent="0" algn="ctr" defTabSz="691915">
              <a:spcBef>
                <a:spcPts val="4878"/>
              </a:spcBef>
              <a:buSzTx/>
              <a:buNone/>
              <a:defRPr sz="3230">
                <a:solidFill>
                  <a:schemeClr val="accent2"/>
                </a:solidFill>
                <a:latin typeface="American Typewriter"/>
                <a:ea typeface="American Typewriter"/>
                <a:cs typeface="American Typewriter"/>
                <a:sym typeface="American Typewriter"/>
              </a:defRPr>
            </a:pPr>
            <a:r>
              <a:t>Action, Romantic, Science fiction</a:t>
            </a:r>
          </a:p>
          <a:p>
            <a:pPr marL="0" indent="0" defTabSz="691915">
              <a:spcBef>
                <a:spcPts val="4878"/>
              </a:spcBef>
              <a:buSzTx/>
              <a:buNone/>
              <a:defRPr sz="3230"/>
            </a:pPr>
            <a:r>
              <a:t>All of them can be quantified (say 0-100)</a:t>
            </a:r>
          </a:p>
          <a:p>
            <a:pPr marL="0" indent="0" defTabSz="691915">
              <a:spcBef>
                <a:spcPts val="4878"/>
              </a:spcBef>
              <a:buSzTx/>
              <a:buNone/>
              <a:defRPr sz="3230"/>
            </a:pPr>
            <a:r>
              <a:t>This can be used both for users and for movies</a:t>
            </a:r>
          </a:p>
          <a:p>
            <a:pPr marL="0" indent="0" defTabSz="691915">
              <a:spcBef>
                <a:spcPts val="4878"/>
              </a:spcBef>
              <a:buSzTx/>
              <a:buNone/>
              <a:defRPr sz="3230"/>
            </a:pPr>
            <a:endParaRPr/>
          </a:p>
          <a:p>
            <a:pPr marL="0" indent="0" defTabSz="691915">
              <a:spcBef>
                <a:spcPts val="4878"/>
              </a:spcBef>
              <a:buSzTx/>
              <a:buNone/>
              <a:defRPr sz="3230"/>
            </a:pPr>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1-hot &amp; n-hot examples"/>
          <p:cNvSpPr txBox="1">
            <a:spLocks noGrp="1"/>
          </p:cNvSpPr>
          <p:nvPr>
            <p:ph type="title"/>
          </p:nvPr>
        </p:nvSpPr>
        <p:spPr>
          <a:prstGeom prst="rect">
            <a:avLst/>
          </a:prstGeom>
        </p:spPr>
        <p:txBody>
          <a:bodyPr/>
          <a:lstStyle/>
          <a:p>
            <a:r>
              <a:t>1-hot &amp; n-hot examples</a:t>
            </a:r>
          </a:p>
        </p:txBody>
      </p:sp>
      <p:graphicFrame>
        <p:nvGraphicFramePr>
          <p:cNvPr id="441" name="Tabla 1"/>
          <p:cNvGraphicFramePr/>
          <p:nvPr/>
        </p:nvGraphicFramePr>
        <p:xfrm>
          <a:off x="8243666" y="4035001"/>
          <a:ext cx="7294216" cy="4103379"/>
        </p:xfrm>
        <a:graphic>
          <a:graphicData uri="http://schemas.openxmlformats.org/drawingml/2006/table">
            <a:tbl>
              <a:tblPr bandRow="1">
                <a:tableStyleId>{4C3C2611-4C71-4FC5-86AE-919BDF0F9419}</a:tableStyleId>
              </a:tblPr>
              <a:tblGrid>
                <a:gridCol w="3700629">
                  <a:extLst>
                    <a:ext uri="{9D8B030D-6E8A-4147-A177-3AD203B41FA5}">
                      <a16:colId xmlns:a16="http://schemas.microsoft.com/office/drawing/2014/main" val="20000"/>
                    </a:ext>
                  </a:extLst>
                </a:gridCol>
                <a:gridCol w="638069">
                  <a:extLst>
                    <a:ext uri="{9D8B030D-6E8A-4147-A177-3AD203B41FA5}">
                      <a16:colId xmlns:a16="http://schemas.microsoft.com/office/drawing/2014/main" val="20001"/>
                    </a:ext>
                  </a:extLst>
                </a:gridCol>
                <a:gridCol w="424745">
                  <a:extLst>
                    <a:ext uri="{9D8B030D-6E8A-4147-A177-3AD203B41FA5}">
                      <a16:colId xmlns:a16="http://schemas.microsoft.com/office/drawing/2014/main" val="20002"/>
                    </a:ext>
                  </a:extLst>
                </a:gridCol>
                <a:gridCol w="424745">
                  <a:extLst>
                    <a:ext uri="{9D8B030D-6E8A-4147-A177-3AD203B41FA5}">
                      <a16:colId xmlns:a16="http://schemas.microsoft.com/office/drawing/2014/main" val="20003"/>
                    </a:ext>
                  </a:extLst>
                </a:gridCol>
                <a:gridCol w="424745">
                  <a:extLst>
                    <a:ext uri="{9D8B030D-6E8A-4147-A177-3AD203B41FA5}">
                      <a16:colId xmlns:a16="http://schemas.microsoft.com/office/drawing/2014/main" val="20004"/>
                    </a:ext>
                  </a:extLst>
                </a:gridCol>
                <a:gridCol w="424745">
                  <a:extLst>
                    <a:ext uri="{9D8B030D-6E8A-4147-A177-3AD203B41FA5}">
                      <a16:colId xmlns:a16="http://schemas.microsoft.com/office/drawing/2014/main" val="20005"/>
                    </a:ext>
                  </a:extLst>
                </a:gridCol>
                <a:gridCol w="424745">
                  <a:extLst>
                    <a:ext uri="{9D8B030D-6E8A-4147-A177-3AD203B41FA5}">
                      <a16:colId xmlns:a16="http://schemas.microsoft.com/office/drawing/2014/main" val="20006"/>
                    </a:ext>
                  </a:extLst>
                </a:gridCol>
                <a:gridCol w="424745">
                  <a:extLst>
                    <a:ext uri="{9D8B030D-6E8A-4147-A177-3AD203B41FA5}">
                      <a16:colId xmlns:a16="http://schemas.microsoft.com/office/drawing/2014/main" val="20007"/>
                    </a:ext>
                  </a:extLst>
                </a:gridCol>
                <a:gridCol w="407048">
                  <a:extLst>
                    <a:ext uri="{9D8B030D-6E8A-4147-A177-3AD203B41FA5}">
                      <a16:colId xmlns:a16="http://schemas.microsoft.com/office/drawing/2014/main" val="20008"/>
                    </a:ext>
                  </a:extLst>
                </a:gridCol>
              </a:tblGrid>
              <a:tr h="760004">
                <a:tc>
                  <a:txBody>
                    <a:bodyPr/>
                    <a:lstStyle/>
                    <a:p>
                      <a:pPr defTabSz="914400"/>
                      <a:r>
                        <a:rPr sz="2900"/>
                        <a:t>Index</a:t>
                      </a:r>
                    </a:p>
                  </a:txBody>
                  <a:tcPr marL="70791" marR="70791" marT="70791" marB="70791" anchor="ctr" horzOverflow="overflow">
                    <a:lnR w="12700">
                      <a:solidFill>
                        <a:srgbClr val="3797C6"/>
                      </a:solidFill>
                      <a:miter lim="400000"/>
                    </a:lnR>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2</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3</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4</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5</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6</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7</a:t>
                      </a:r>
                    </a:p>
                  </a:txBody>
                  <a:tcPr marL="70791" marR="70791" marT="70791" marB="70791" anchor="ctr" horzOverflow="overflow">
                    <a:lnL w="12700">
                      <a:solidFill>
                        <a:srgbClr val="3797C6"/>
                      </a:solidFill>
                      <a:miter lim="400000"/>
                    </a:lnL>
                    <a:lnR w="12700">
                      <a:solidFill>
                        <a:srgbClr val="3797C6"/>
                      </a:solidFill>
                      <a:miter lim="400000"/>
                    </a:lnR>
                    <a:lnB w="12700">
                      <a:solidFill>
                        <a:srgbClr val="3797C6"/>
                      </a:solidFill>
                      <a:miter lim="400000"/>
                    </a:lnB>
                  </a:tcPr>
                </a:tc>
                <a:tc>
                  <a:txBody>
                    <a:bodyPr/>
                    <a:lstStyle/>
                    <a:p>
                      <a:pPr defTabSz="914400"/>
                      <a:r>
                        <a:rPr sz="2900"/>
                        <a:t>8</a:t>
                      </a:r>
                    </a:p>
                  </a:txBody>
                  <a:tcPr marL="70791" marR="70791" marT="70791" marB="70791" anchor="ctr" horzOverflow="overflow">
                    <a:lnL w="12700">
                      <a:solidFill>
                        <a:srgbClr val="3797C6"/>
                      </a:solidFill>
                      <a:miter lim="400000"/>
                    </a:lnL>
                    <a:lnB w="12700">
                      <a:solidFill>
                        <a:srgbClr val="3797C6"/>
                      </a:solidFill>
                      <a:miter lim="400000"/>
                    </a:lnB>
                  </a:tcPr>
                </a:tc>
                <a:extLst>
                  <a:ext uri="{0D108BD9-81ED-4DB2-BD59-A6C34878D82A}">
                    <a16:rowId xmlns:a16="http://schemas.microsoft.com/office/drawing/2014/main" val="10000"/>
                  </a:ext>
                </a:extLst>
              </a:tr>
              <a:tr h="668675">
                <a:tc>
                  <a:txBody>
                    <a:bodyPr/>
                    <a:lstStyle/>
                    <a:p>
                      <a:pPr algn="l"/>
                      <a:r>
                        <a:rPr sz="3200" b="1">
                          <a:latin typeface="Helvetica"/>
                          <a:ea typeface="Helvetica"/>
                          <a:cs typeface="Helvetica"/>
                          <a:sym typeface="Helvetica"/>
                        </a:rPr>
                        <a:t>x1</a:t>
                      </a:r>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1"/>
                  </a:ext>
                </a:extLst>
              </a:tr>
              <a:tr h="668675">
                <a:tc>
                  <a:txBody>
                    <a:bodyPr/>
                    <a:lstStyle/>
                    <a:p>
                      <a:pPr algn="l"/>
                      <a:r>
                        <a:rPr sz="3200" b="1">
                          <a:latin typeface="Helvetica"/>
                          <a:ea typeface="Helvetica"/>
                          <a:cs typeface="Helvetica"/>
                          <a:sym typeface="Helvetica"/>
                        </a:rPr>
                        <a:t>x2</a:t>
                      </a:r>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2"/>
                  </a:ext>
                </a:extLst>
              </a:tr>
              <a:tr h="668675">
                <a:tc>
                  <a:txBody>
                    <a:bodyPr/>
                    <a:lstStyle/>
                    <a:p>
                      <a:pPr algn="l"/>
                      <a:r>
                        <a:rPr sz="3200" b="1">
                          <a:latin typeface="Helvetica"/>
                          <a:ea typeface="Helvetica"/>
                          <a:cs typeface="Helvetica"/>
                          <a:sym typeface="Helvetica"/>
                        </a:rPr>
                        <a:t>x3</a:t>
                      </a:r>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1</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900"/>
                        <a:t>0</a:t>
                      </a:r>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3"/>
                  </a:ext>
                </a:extLst>
              </a:tr>
              <a:tr h="668675">
                <a:tc>
                  <a:txBody>
                    <a:bodyPr/>
                    <a:lstStyle/>
                    <a:p>
                      <a:pPr algn="l"/>
                      <a:r>
                        <a:rPr sz="3200" b="1">
                          <a:latin typeface="Helvetica"/>
                          <a:ea typeface="Helvetica"/>
                          <a:cs typeface="Helvetica"/>
                          <a:sym typeface="Helvetica"/>
                        </a:rPr>
                        <a:t>…</a:t>
                      </a:r>
                    </a:p>
                  </a:txBody>
                  <a:tcPr marL="70791" marR="70791" marT="70791" marB="70791" anchor="ctr" horzOverflow="overflow">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defRPr sz="2100"/>
                      </a:pPr>
                      <a:endParaRPr sz="2900"/>
                    </a:p>
                  </a:txBody>
                  <a:tcPr marL="70791" marR="70791" marT="70791" marB="70791" anchor="ctr" horzOverflow="overflow">
                    <a:lnL w="12700">
                      <a:solidFill>
                        <a:srgbClr val="3797C6"/>
                      </a:solidFill>
                      <a:miter lim="400000"/>
                    </a:lnL>
                    <a:lnT w="12700">
                      <a:solidFill>
                        <a:srgbClr val="3797C6"/>
                      </a:solidFill>
                      <a:miter lim="400000"/>
                    </a:lnT>
                    <a:lnB w="12700">
                      <a:solidFill>
                        <a:srgbClr val="3797C6"/>
                      </a:solidFill>
                      <a:miter lim="400000"/>
                    </a:lnB>
                  </a:tcPr>
                </a:tc>
                <a:extLst>
                  <a:ext uri="{0D108BD9-81ED-4DB2-BD59-A6C34878D82A}">
                    <a16:rowId xmlns:a16="http://schemas.microsoft.com/office/drawing/2014/main" val="10004"/>
                  </a:ext>
                </a:extLst>
              </a:tr>
              <a:tr h="668675">
                <a:tc>
                  <a:txBody>
                    <a:bodyPr/>
                    <a:lstStyle/>
                    <a:p>
                      <a:pPr algn="l"/>
                      <a:r>
                        <a:rPr sz="3200" b="1">
                          <a:latin typeface="Helvetica"/>
                          <a:ea typeface="Helvetica"/>
                          <a:cs typeface="Helvetica"/>
                          <a:sym typeface="Helvetica"/>
                        </a:rPr>
                        <a:t>x8</a:t>
                      </a:r>
                    </a:p>
                  </a:txBody>
                  <a:tcPr marL="70791" marR="70791" marT="70791" marB="70791" anchor="ctr" horzOverflow="overflow">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0</a:t>
                      </a:r>
                    </a:p>
                  </a:txBody>
                  <a:tcPr marL="70791" marR="70791" marT="70791" marB="70791" anchor="ctr" horzOverflow="overflow">
                    <a:lnL w="12700">
                      <a:solidFill>
                        <a:srgbClr val="3797C6"/>
                      </a:solidFill>
                      <a:miter lim="400000"/>
                    </a:lnL>
                    <a:lnR w="12700">
                      <a:solidFill>
                        <a:srgbClr val="3797C6"/>
                      </a:solidFill>
                      <a:miter lim="400000"/>
                    </a:lnR>
                    <a:lnT w="12700">
                      <a:solidFill>
                        <a:srgbClr val="3797C6"/>
                      </a:solidFill>
                      <a:miter lim="400000"/>
                    </a:lnT>
                  </a:tcPr>
                </a:tc>
                <a:tc>
                  <a:txBody>
                    <a:bodyPr/>
                    <a:lstStyle/>
                    <a:p>
                      <a:pPr defTabSz="914400"/>
                      <a:r>
                        <a:rPr sz="2900"/>
                        <a:t>1</a:t>
                      </a:r>
                    </a:p>
                  </a:txBody>
                  <a:tcPr marL="70791" marR="70791" marT="70791" marB="70791" anchor="ctr" horzOverflow="overflow">
                    <a:lnL w="12700">
                      <a:solidFill>
                        <a:srgbClr val="3797C6"/>
                      </a:solidFill>
                      <a:miter lim="400000"/>
                    </a:lnL>
                    <a:lnT w="12700">
                      <a:solidFill>
                        <a:srgbClr val="3797C6"/>
                      </a:solidFill>
                      <a:miter lim="400000"/>
                    </a:lnT>
                  </a:tcPr>
                </a:tc>
                <a:extLst>
                  <a:ext uri="{0D108BD9-81ED-4DB2-BD59-A6C34878D82A}">
                    <a16:rowId xmlns:a16="http://schemas.microsoft.com/office/drawing/2014/main" val="10005"/>
                  </a:ext>
                </a:extLst>
              </a:tr>
            </a:tbl>
          </a:graphicData>
        </a:graphic>
      </p:graphicFrame>
      <p:sp>
        <p:nvSpPr>
          <p:cNvPr id="442" name="unknown | Action | Adventure | Animation | Children's | Comedy | Crime | Documentary | Drama | Fantasy | Film-Noir | Horror | Musical | Mystery | Romance | Sci-Fi | Thriller | War | Western |…"/>
          <p:cNvSpPr txBox="1"/>
          <p:nvPr/>
        </p:nvSpPr>
        <p:spPr>
          <a:xfrm>
            <a:off x="5429512" y="9158159"/>
            <a:ext cx="14067885" cy="37439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0791" tIns="70791" rIns="70791" bIns="70791" anchor="ctr">
            <a:spAutoFit/>
          </a:bodyPr>
          <a:lstStyle/>
          <a:p>
            <a:pPr algn="l" defTabSz="637059">
              <a:defRPr sz="2100">
                <a:latin typeface="Courier"/>
                <a:ea typeface="Courier"/>
                <a:cs typeface="Courier"/>
                <a:sym typeface="Courier"/>
              </a:defRPr>
            </a:pPr>
            <a:r>
              <a:rPr sz="2925"/>
              <a:t>unknown | Action | Adventure | Animation | Children's | Comedy | Crime | Documentary | Drama | Fantasy | Film-Noir | Horror | Musical | Mystery | Romance | Sci-Fi | Thriller | War | Western |</a:t>
            </a:r>
          </a:p>
          <a:p>
            <a:pPr algn="l" defTabSz="637059">
              <a:defRPr sz="2100">
                <a:latin typeface="Courier"/>
                <a:ea typeface="Courier"/>
                <a:cs typeface="Courier"/>
                <a:sym typeface="Courier"/>
              </a:defRPr>
            </a:pPr>
            <a:r>
              <a:rPr sz="2925"/>
              <a:t>             </a:t>
            </a:r>
          </a:p>
          <a:p>
            <a:pPr algn="l" defTabSz="637059">
              <a:defRPr sz="2100">
                <a:latin typeface="Courier"/>
                <a:ea typeface="Courier"/>
                <a:cs typeface="Courier"/>
                <a:sym typeface="Courier"/>
              </a:defRPr>
            </a:pPr>
            <a:r>
              <a:rPr sz="2925"/>
              <a:t>These are the genres, a 1 indicates the movie is of that genre, a 0 indicates it is not; </a:t>
            </a:r>
            <a:r>
              <a:rPr sz="2925" b="1">
                <a:solidFill>
                  <a:schemeClr val="accent1">
                    <a:satOff val="-3355"/>
                    <a:lumOff val="26614"/>
                  </a:schemeClr>
                </a:solidFill>
              </a:rPr>
              <a:t>movies can be in several genres at once.</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Affinity is a typical function to estimate if u is gonna like m-i.…"/>
          <p:cNvSpPr txBox="1">
            <a:spLocks noGrp="1"/>
          </p:cNvSpPr>
          <p:nvPr>
            <p:ph type="body" idx="1"/>
          </p:nvPr>
        </p:nvSpPr>
        <p:spPr>
          <a:prstGeom prst="rect">
            <a:avLst/>
          </a:prstGeom>
        </p:spPr>
        <p:txBody>
          <a:bodyPr/>
          <a:lstStyle/>
          <a:p>
            <a:pPr marL="0" indent="0">
              <a:buSzTx/>
              <a:buNone/>
              <a:defRPr sz="3800"/>
            </a:pPr>
            <a:r>
              <a:t>Affinity is a typical function to estimate if u is gonna like m-i.</a:t>
            </a:r>
          </a:p>
          <a:p>
            <a:pPr marL="0" indent="0" algn="ctr">
              <a:buSzTx/>
              <a:buNone/>
              <a:defRPr sz="3800"/>
            </a:pPr>
            <a:r>
              <a:t>affinity(u,m) = &lt;vec(u), vec(m)&gt;</a:t>
            </a:r>
          </a:p>
          <a:p>
            <a:pPr marL="0" indent="0" algn="ctr">
              <a:buSzTx/>
              <a:buNone/>
              <a:defRPr sz="3800"/>
            </a:pPr>
            <a:endParaRPr/>
          </a:p>
          <a:p>
            <a:pPr marL="0" indent="0">
              <a:buSzTx/>
              <a:buNone/>
              <a:defRPr sz="3800"/>
            </a:pPr>
            <a:endParaRPr/>
          </a:p>
        </p:txBody>
      </p:sp>
      <p:graphicFrame>
        <p:nvGraphicFramePr>
          <p:cNvPr id="385" name="Tabla 1"/>
          <p:cNvGraphicFramePr/>
          <p:nvPr>
            <p:extLst>
              <p:ext uri="{D42A27DB-BD31-4B8C-83A1-F6EECF244321}">
                <p14:modId xmlns:p14="http://schemas.microsoft.com/office/powerpoint/2010/main" val="1626413432"/>
              </p:ext>
            </p:extLst>
          </p:nvPr>
        </p:nvGraphicFramePr>
        <p:xfrm>
          <a:off x="1493328" y="9209059"/>
          <a:ext cx="20623788" cy="3008618"/>
        </p:xfrm>
        <a:graphic>
          <a:graphicData uri="http://schemas.openxmlformats.org/drawingml/2006/table">
            <a:tbl>
              <a:tblPr firstRow="1" firstCol="1">
                <a:tableStyleId>{C7B018BB-80A7-4F77-B60F-C8B233D01FF8}</a:tableStyleId>
              </a:tblPr>
              <a:tblGrid>
                <a:gridCol w="6508286">
                  <a:extLst>
                    <a:ext uri="{9D8B030D-6E8A-4147-A177-3AD203B41FA5}">
                      <a16:colId xmlns:a16="http://schemas.microsoft.com/office/drawing/2014/main" val="20000"/>
                    </a:ext>
                  </a:extLst>
                </a:gridCol>
                <a:gridCol w="7240906">
                  <a:extLst>
                    <a:ext uri="{9D8B030D-6E8A-4147-A177-3AD203B41FA5}">
                      <a16:colId xmlns:a16="http://schemas.microsoft.com/office/drawing/2014/main" val="20001"/>
                    </a:ext>
                  </a:extLst>
                </a:gridCol>
                <a:gridCol w="6874596">
                  <a:extLst>
                    <a:ext uri="{9D8B030D-6E8A-4147-A177-3AD203B41FA5}">
                      <a16:colId xmlns:a16="http://schemas.microsoft.com/office/drawing/2014/main" val="20002"/>
                    </a:ext>
                  </a:extLst>
                </a:gridCol>
              </a:tblGrid>
              <a:tr h="1331034">
                <a:tc>
                  <a:txBody>
                    <a:bodyPr/>
                    <a:lstStyle/>
                    <a:p>
                      <a:pPr defTabSz="914400">
                        <a:tabLst>
                          <a:tab pos="1181100" algn="l"/>
                        </a:tabLst>
                        <a:defRPr b="0">
                          <a:solidFill>
                            <a:srgbClr val="000000"/>
                          </a:solidFill>
                        </a:defRPr>
                      </a:pPr>
                      <a:r>
                        <a:rPr sz="4000" b="1" dirty="0">
                          <a:solidFill>
                            <a:srgbClr val="FFFFFF"/>
                          </a:solidFill>
                          <a:effectLst>
                            <a:outerShdw blurRad="25400" dist="25400" dir="5400000" rotWithShape="0">
                              <a:srgbClr val="000000">
                                <a:alpha val="60000"/>
                              </a:srgbClr>
                            </a:outerShdw>
                          </a:effectLst>
                          <a:sym typeface="Helvetica"/>
                        </a:rPr>
                        <a:t>Affinity</a:t>
                      </a:r>
                    </a:p>
                  </a:txBody>
                  <a:tcPr marL="70791" marR="70791" marT="70791" marB="70791" anchor="ctr" horzOverflow="overflow">
                    <a:solidFill>
                      <a:schemeClr val="accent4">
                        <a:hueOff val="384618"/>
                        <a:satOff val="3869"/>
                        <a:lumOff val="5802"/>
                      </a:schemeClr>
                    </a:solidFill>
                  </a:tcPr>
                </a:tc>
                <a:tc>
                  <a:txBody>
                    <a:bodyPr/>
                    <a:lstStyle/>
                    <a:p>
                      <a:pPr>
                        <a:spcBef>
                          <a:spcPts val="4200"/>
                        </a:spcBef>
                        <a:defRPr b="0">
                          <a:solidFill>
                            <a:srgbClr val="000000"/>
                          </a:solidFill>
                        </a:defRPr>
                      </a:pPr>
                      <a:r>
                        <a:rPr sz="4000">
                          <a:sym typeface="Helvetica"/>
                        </a:rPr>
                        <a:t>m1 = (0, 100, 0)</a:t>
                      </a:r>
                    </a:p>
                  </a:txBody>
                  <a:tcPr marL="70791" marR="70791" marT="70791" marB="70791" anchor="ctr" horzOverflow="overflow">
                    <a:solidFill>
                      <a:schemeClr val="accent2">
                        <a:hueOff val="-2473792"/>
                        <a:satOff val="-50209"/>
                        <a:lumOff val="23543"/>
                      </a:schemeClr>
                    </a:solidFill>
                  </a:tcPr>
                </a:tc>
                <a:tc>
                  <a:txBody>
                    <a:bodyPr/>
                    <a:lstStyle/>
                    <a:p>
                      <a:pPr>
                        <a:spcBef>
                          <a:spcPts val="4200"/>
                        </a:spcBef>
                        <a:defRPr b="0">
                          <a:solidFill>
                            <a:srgbClr val="000000"/>
                          </a:solidFill>
                        </a:defRPr>
                      </a:pPr>
                      <a:r>
                        <a:rPr sz="4000">
                          <a:sym typeface="Helvetica"/>
                        </a:rPr>
                        <a:t>m2 = (90,1, 100)</a:t>
                      </a:r>
                    </a:p>
                  </a:txBody>
                  <a:tcPr marL="70791" marR="70791" marT="70791" marB="70791" anchor="ctr" horzOverflow="overflow">
                    <a:solidFill>
                      <a:schemeClr val="accent2">
                        <a:hueOff val="-2473792"/>
                        <a:satOff val="-50209"/>
                        <a:lumOff val="23543"/>
                      </a:schemeClr>
                    </a:solidFill>
                  </a:tcPr>
                </a:tc>
                <a:extLst>
                  <a:ext uri="{0D108BD9-81ED-4DB2-BD59-A6C34878D82A}">
                    <a16:rowId xmlns:a16="http://schemas.microsoft.com/office/drawing/2014/main" val="10000"/>
                  </a:ext>
                </a:extLst>
              </a:tr>
              <a:tr h="1677584">
                <a:tc>
                  <a:txBody>
                    <a:bodyPr/>
                    <a:lstStyle/>
                    <a:p>
                      <a:pPr>
                        <a:spcBef>
                          <a:spcPts val="4200"/>
                        </a:spcBef>
                        <a:defRPr b="0">
                          <a:solidFill>
                            <a:srgbClr val="000000"/>
                          </a:solidFill>
                        </a:defRPr>
                      </a:pPr>
                      <a:r>
                        <a:rPr sz="4000">
                          <a:sym typeface="Helvetica"/>
                        </a:rPr>
                        <a:t>u = (100, 1, 80)</a:t>
                      </a:r>
                    </a:p>
                  </a:txBody>
                  <a:tcPr marL="70791" marR="70791" marT="70791" marB="70791" anchor="ctr" horzOverflow="overflow"/>
                </a:tc>
                <a:tc>
                  <a:txBody>
                    <a:bodyPr/>
                    <a:lstStyle/>
                    <a:p>
                      <a:pPr defTabSz="914400">
                        <a:defRPr sz="2100"/>
                      </a:pPr>
                      <a:r>
                        <a:rPr sz="4000"/>
                        <a:t>0*100+100*1+0*80 = </a:t>
                      </a:r>
                      <a:r>
                        <a:rPr sz="4000" b="1">
                          <a:solidFill>
                            <a:schemeClr val="accent5"/>
                          </a:solidFill>
                          <a:latin typeface="Helvetica"/>
                          <a:ea typeface="Helvetica"/>
                          <a:cs typeface="Helvetica"/>
                          <a:sym typeface="Helvetica"/>
                        </a:rPr>
                        <a:t>100</a:t>
                      </a:r>
                    </a:p>
                  </a:txBody>
                  <a:tcPr marL="70791" marR="70791" marT="70791" marB="70791" anchor="ctr" horzOverflow="overflow">
                    <a:lnB w="12700">
                      <a:solidFill>
                        <a:srgbClr val="606060"/>
                      </a:solidFill>
                      <a:miter lim="400000"/>
                    </a:lnB>
                  </a:tcPr>
                </a:tc>
                <a:tc>
                  <a:txBody>
                    <a:bodyPr/>
                    <a:lstStyle/>
                    <a:p>
                      <a:pPr defTabSz="914400">
                        <a:defRPr sz="2100"/>
                      </a:pPr>
                      <a:r>
                        <a:rPr sz="4000" dirty="0"/>
                        <a:t>90*100+1*1+100*80 = </a:t>
                      </a:r>
                      <a:r>
                        <a:rPr sz="4000" b="1" dirty="0">
                          <a:solidFill>
                            <a:schemeClr val="accent5"/>
                          </a:solidFill>
                          <a:latin typeface="Helvetica"/>
                          <a:ea typeface="Helvetica"/>
                          <a:cs typeface="Helvetica"/>
                          <a:sym typeface="Helvetica"/>
                        </a:rPr>
                        <a:t>17001</a:t>
                      </a:r>
                    </a:p>
                  </a:txBody>
                  <a:tcPr marL="70791" marR="70791" marT="70791" marB="70791" anchor="ctr" horzOverflow="overflow">
                    <a:lnR w="12700">
                      <a:solidFill>
                        <a:srgbClr val="606060"/>
                      </a:solidFill>
                      <a:miter lim="400000"/>
                    </a:lnR>
                    <a:lnB w="12700">
                      <a:solidFill>
                        <a:srgbClr val="606060"/>
                      </a:solidFill>
                      <a:miter lim="400000"/>
                    </a:lnB>
                  </a:tcPr>
                </a:tc>
                <a:extLst>
                  <a:ext uri="{0D108BD9-81ED-4DB2-BD59-A6C34878D82A}">
                    <a16:rowId xmlns:a16="http://schemas.microsoft.com/office/drawing/2014/main" val="10001"/>
                  </a:ext>
                </a:extLst>
              </a:tr>
            </a:tbl>
          </a:graphicData>
        </a:graphic>
      </p:graphicFrame>
      <p:sp>
        <p:nvSpPr>
          <p:cNvPr id="8" name="Recommender Systems: Users and Items representations">
            <a:extLst>
              <a:ext uri="{FF2B5EF4-FFF2-40B4-BE49-F238E27FC236}">
                <a16:creationId xmlns:a16="http://schemas.microsoft.com/office/drawing/2014/main" id="{01D96C7C-34D3-9223-102E-56834A88E2E2}"/>
              </a:ext>
            </a:extLst>
          </p:cNvPr>
          <p:cNvSpPr txBox="1">
            <a:spLocks noGrp="1"/>
          </p:cNvSpPr>
          <p:nvPr>
            <p:ph type="title"/>
          </p:nvPr>
        </p:nvSpPr>
        <p:spPr>
          <a:xfrm>
            <a:off x="999460" y="625441"/>
            <a:ext cx="21669154" cy="3037850"/>
          </a:xfrm>
          <a:prstGeom prst="rect">
            <a:avLst/>
          </a:prstGeom>
        </p:spPr>
        <p:txBody>
          <a:bodyPr>
            <a:normAutofit/>
          </a:bodyPr>
          <a:lstStyle>
            <a:lvl1pPr>
              <a:defRPr sz="5100" b="1">
                <a:solidFill>
                  <a:schemeClr val="accent4"/>
                </a:solidFill>
                <a:latin typeface="Helvetica"/>
                <a:ea typeface="Helvetica"/>
                <a:cs typeface="Helvetica"/>
                <a:sym typeface="Helvetica"/>
              </a:defRPr>
            </a:lvl1pPr>
          </a:lstStyle>
          <a:p>
            <a:r>
              <a:rPr sz="6000" dirty="0">
                <a:solidFill>
                  <a:schemeClr val="tx1"/>
                </a:solidFill>
              </a:rPr>
              <a:t>Recommender Systems: Users and Items representations</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How can we find out the features of users and movies?"/>
          <p:cNvSpPr txBox="1">
            <a:spLocks noGrp="1"/>
          </p:cNvSpPr>
          <p:nvPr>
            <p:ph type="body" idx="1"/>
          </p:nvPr>
        </p:nvSpPr>
        <p:spPr>
          <a:prstGeom prst="rect">
            <a:avLst/>
          </a:prstGeom>
        </p:spPr>
        <p:txBody>
          <a:bodyPr/>
          <a:lstStyle/>
          <a:p>
            <a:pPr marL="0" indent="0">
              <a:buSzTx/>
              <a:buNone/>
              <a:defRPr sz="3800"/>
            </a:pPr>
            <a:r>
              <a:t>How can we find out the features of users and movies?</a:t>
            </a:r>
          </a:p>
          <a:p>
            <a:pPr marL="0" indent="0">
              <a:buSzTx/>
              <a:buNone/>
              <a:defRPr sz="3800"/>
            </a:pPr>
            <a:endParaRPr/>
          </a:p>
          <a:p>
            <a:pPr marL="0" indent="0">
              <a:buSzTx/>
              <a:buNone/>
              <a:defRPr sz="3800"/>
            </a:pPr>
            <a:endParaRPr/>
          </a:p>
        </p:txBody>
      </p:sp>
      <p:sp>
        <p:nvSpPr>
          <p:cNvPr id="7" name="Recommender Systems: Users and Items representations">
            <a:extLst>
              <a:ext uri="{FF2B5EF4-FFF2-40B4-BE49-F238E27FC236}">
                <a16:creationId xmlns:a16="http://schemas.microsoft.com/office/drawing/2014/main" id="{006F0FEC-65D3-5FAA-F8B9-546E98EE2D60}"/>
              </a:ext>
            </a:extLst>
          </p:cNvPr>
          <p:cNvSpPr txBox="1">
            <a:spLocks noGrp="1"/>
          </p:cNvSpPr>
          <p:nvPr>
            <p:ph type="title"/>
          </p:nvPr>
        </p:nvSpPr>
        <p:spPr>
          <a:xfrm>
            <a:off x="999460" y="625441"/>
            <a:ext cx="21669154" cy="3037850"/>
          </a:xfrm>
          <a:prstGeom prst="rect">
            <a:avLst/>
          </a:prstGeom>
        </p:spPr>
        <p:txBody>
          <a:bodyPr>
            <a:normAutofit/>
          </a:bodyPr>
          <a:lstStyle>
            <a:lvl1pPr>
              <a:defRPr sz="5100" b="1">
                <a:solidFill>
                  <a:schemeClr val="accent4"/>
                </a:solidFill>
                <a:latin typeface="Helvetica"/>
                <a:ea typeface="Helvetica"/>
                <a:cs typeface="Helvetica"/>
                <a:sym typeface="Helvetica"/>
              </a:defRPr>
            </a:lvl1pPr>
          </a:lstStyle>
          <a:p>
            <a:r>
              <a:rPr sz="6000" dirty="0">
                <a:solidFill>
                  <a:schemeClr val="tx1"/>
                </a:solidFill>
              </a:rPr>
              <a:t>Recommender Systems: Users and Items representations</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1-hot embedding"/>
          <p:cNvSpPr txBox="1">
            <a:spLocks noGrp="1"/>
          </p:cNvSpPr>
          <p:nvPr>
            <p:ph type="title"/>
          </p:nvPr>
        </p:nvSpPr>
        <p:spPr>
          <a:prstGeom prst="rect">
            <a:avLst/>
          </a:prstGeom>
        </p:spPr>
        <p:txBody>
          <a:bodyPr>
            <a:normAutofit/>
          </a:bodyPr>
          <a:lstStyle/>
          <a:p>
            <a:r>
              <a:rPr sz="8000" dirty="0">
                <a:latin typeface="Helvetica Neue Medium" panose="02000503000000020004" pitchFamily="2" charset="0"/>
                <a:ea typeface="Helvetica Neue Medium" panose="02000503000000020004" pitchFamily="2" charset="0"/>
                <a:cs typeface="Helvetica Neue Medium" panose="02000503000000020004" pitchFamily="2" charset="0"/>
              </a:rPr>
              <a:t>1-hot embedding </a:t>
            </a:r>
          </a:p>
        </p:txBody>
      </p:sp>
      <p:pic>
        <p:nvPicPr>
          <p:cNvPr id="395" name="pasted-image.pdf" descr="pasted-image.pdf"/>
          <p:cNvPicPr>
            <a:picLocks noChangeAspect="1"/>
          </p:cNvPicPr>
          <p:nvPr/>
        </p:nvPicPr>
        <p:blipFill>
          <a:blip r:embed="rId2"/>
          <a:stretch>
            <a:fillRect/>
          </a:stretch>
        </p:blipFill>
        <p:spPr>
          <a:xfrm>
            <a:off x="4528011" y="8161442"/>
            <a:ext cx="12724690" cy="4088184"/>
          </a:xfrm>
          <a:prstGeom prst="rect">
            <a:avLst/>
          </a:prstGeom>
          <a:ln w="12700">
            <a:miter lim="400000"/>
          </a:ln>
        </p:spPr>
      </p:pic>
      <p:pic>
        <p:nvPicPr>
          <p:cNvPr id="396" name="pasted-image.pdf" descr="pasted-image.pdf"/>
          <p:cNvPicPr>
            <a:picLocks noChangeAspect="1"/>
          </p:cNvPicPr>
          <p:nvPr/>
        </p:nvPicPr>
        <p:blipFill>
          <a:blip r:embed="rId3"/>
          <a:stretch>
            <a:fillRect/>
          </a:stretch>
        </p:blipFill>
        <p:spPr>
          <a:xfrm>
            <a:off x="4863403" y="4560293"/>
            <a:ext cx="6335799" cy="2300710"/>
          </a:xfrm>
          <a:prstGeom prst="rect">
            <a:avLst/>
          </a:prstGeom>
          <a:ln w="12700">
            <a:miter lim="400000"/>
          </a:ln>
        </p:spPr>
      </p:pic>
      <p:sp>
        <p:nvSpPr>
          <p:cNvPr id="397" name="Línea"/>
          <p:cNvSpPr/>
          <p:nvPr/>
        </p:nvSpPr>
        <p:spPr>
          <a:xfrm flipV="1">
            <a:off x="17581940" y="3762659"/>
            <a:ext cx="3" cy="5319274"/>
          </a:xfrm>
          <a:prstGeom prst="line">
            <a:avLst/>
          </a:prstGeom>
          <a:ln w="38100">
            <a:solidFill>
              <a:srgbClr val="0433FF"/>
            </a:solidFill>
            <a:miter lim="400000"/>
          </a:ln>
        </p:spPr>
        <p:txBody>
          <a:bodyPr lIns="70791" tIns="70791" rIns="70791" bIns="70791" anchor="ctr"/>
          <a:lstStyle/>
          <a:p>
            <a:pPr>
              <a:defRPr sz="2400"/>
            </a:pPr>
            <a:endParaRPr sz="3345"/>
          </a:p>
        </p:txBody>
      </p:sp>
      <p:sp>
        <p:nvSpPr>
          <p:cNvPr id="398" name="Línea"/>
          <p:cNvSpPr/>
          <p:nvPr/>
        </p:nvSpPr>
        <p:spPr>
          <a:xfrm>
            <a:off x="14028769" y="6447869"/>
            <a:ext cx="6541846" cy="3"/>
          </a:xfrm>
          <a:prstGeom prst="line">
            <a:avLst/>
          </a:prstGeom>
          <a:ln w="38100">
            <a:solidFill>
              <a:srgbClr val="0433FF"/>
            </a:solidFill>
            <a:miter lim="400000"/>
          </a:ln>
        </p:spPr>
        <p:txBody>
          <a:bodyPr lIns="70791" tIns="70791" rIns="70791" bIns="70791" anchor="ctr"/>
          <a:lstStyle/>
          <a:p>
            <a:pPr>
              <a:defRPr sz="2400"/>
            </a:pPr>
            <a:endParaRPr sz="3345"/>
          </a:p>
        </p:txBody>
      </p:sp>
      <p:sp>
        <p:nvSpPr>
          <p:cNvPr id="399" name="Estrella"/>
          <p:cNvSpPr/>
          <p:nvPr/>
        </p:nvSpPr>
        <p:spPr>
          <a:xfrm>
            <a:off x="19367647" y="4904319"/>
            <a:ext cx="474245" cy="426061"/>
          </a:xfrm>
          <a:prstGeom prst="star5">
            <a:avLst>
              <a:gd name="adj" fmla="val 19100"/>
              <a:gd name="hf" fmla="val 105146"/>
              <a:gd name="vf" fmla="val 110557"/>
            </a:avLst>
          </a:prstGeom>
          <a:solidFill>
            <a:schemeClr val="accent4">
              <a:hueOff val="384618"/>
              <a:satOff val="3869"/>
              <a:lumOff val="5802"/>
            </a:schemeClr>
          </a:solidFill>
          <a:ln w="12700">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9300"/>
                </a:solidFill>
              </a:defRPr>
            </a:pPr>
            <a:endParaRPr sz="3345"/>
          </a:p>
        </p:txBody>
      </p:sp>
      <p:sp>
        <p:nvSpPr>
          <p:cNvPr id="400" name="Estrella"/>
          <p:cNvSpPr/>
          <p:nvPr/>
        </p:nvSpPr>
        <p:spPr>
          <a:xfrm>
            <a:off x="17834825" y="4613664"/>
            <a:ext cx="474242" cy="426061"/>
          </a:xfrm>
          <a:prstGeom prst="star5">
            <a:avLst>
              <a:gd name="adj" fmla="val 19100"/>
              <a:gd name="hf" fmla="val 105146"/>
              <a:gd name="vf" fmla="val 110557"/>
            </a:avLst>
          </a:prstGeom>
          <a:solidFill>
            <a:schemeClr val="accent4">
              <a:hueOff val="384618"/>
              <a:satOff val="3869"/>
              <a:lumOff val="5802"/>
            </a:schemeClr>
          </a:solidFill>
          <a:ln w="12700">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9300"/>
                </a:solidFill>
              </a:defRPr>
            </a:pPr>
            <a:endParaRPr sz="3345"/>
          </a:p>
        </p:txBody>
      </p:sp>
      <p:sp>
        <p:nvSpPr>
          <p:cNvPr id="401" name="Estrella"/>
          <p:cNvSpPr/>
          <p:nvPr/>
        </p:nvSpPr>
        <p:spPr>
          <a:xfrm>
            <a:off x="16348454" y="6648942"/>
            <a:ext cx="474245" cy="426059"/>
          </a:xfrm>
          <a:prstGeom prst="star5">
            <a:avLst>
              <a:gd name="adj" fmla="val 19100"/>
              <a:gd name="hf" fmla="val 105146"/>
              <a:gd name="vf" fmla="val 110557"/>
            </a:avLst>
          </a:prstGeom>
          <a:solidFill>
            <a:schemeClr val="accent4">
              <a:hueOff val="384618"/>
              <a:satOff val="3869"/>
              <a:lumOff val="5802"/>
            </a:schemeClr>
          </a:solidFill>
          <a:ln w="12700">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9300"/>
                </a:solidFill>
              </a:defRPr>
            </a:pPr>
            <a:endParaRPr sz="3345"/>
          </a:p>
        </p:txBody>
      </p:sp>
      <p:sp>
        <p:nvSpPr>
          <p:cNvPr id="402" name="Número de diapositiva"/>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fld id="{86CB4B4D-7CA3-9044-876B-883B54F8677D}" type="slidenum">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How can we find out the features of users and movies?…"/>
          <p:cNvSpPr txBox="1">
            <a:spLocks noGrp="1"/>
          </p:cNvSpPr>
          <p:nvPr>
            <p:ph type="body" idx="1"/>
          </p:nvPr>
        </p:nvSpPr>
        <p:spPr>
          <a:prstGeom prst="rect">
            <a:avLst/>
          </a:prstGeom>
        </p:spPr>
        <p:txBody>
          <a:bodyPr>
            <a:normAutofit/>
          </a:bodyPr>
          <a:lstStyle/>
          <a:p>
            <a:pPr marL="0" indent="0">
              <a:buSzTx/>
              <a:buNone/>
              <a:defRPr sz="3800"/>
            </a:pPr>
            <a:r>
              <a:t>How can we find out the features of users and movies?</a:t>
            </a:r>
          </a:p>
          <a:p>
            <a:pPr marL="0" indent="0" algn="ctr">
              <a:buSzTx/>
              <a:buNone/>
              <a:defRPr sz="3800"/>
            </a:pPr>
            <a:r>
              <a:t>affinity(u,m) = &lt;vec(u), vec(m)&gt; = &lt;Wu,Vm&gt;</a:t>
            </a:r>
          </a:p>
          <a:p>
            <a:pPr marL="0" lvl="3" indent="955586">
              <a:spcBef>
                <a:spcPts val="835"/>
              </a:spcBef>
              <a:buSzTx/>
              <a:buNone/>
              <a:defRPr sz="3800">
                <a:latin typeface="American Typewriter"/>
                <a:ea typeface="American Typewriter"/>
                <a:cs typeface="American Typewriter"/>
                <a:sym typeface="American Typewriter"/>
              </a:defRPr>
            </a:pPr>
            <a:endParaRPr/>
          </a:p>
          <a:p>
            <a:pPr marL="0" lvl="3" indent="955586">
              <a:spcBef>
                <a:spcPts val="835"/>
              </a:spcBef>
              <a:buSzTx/>
              <a:buNone/>
              <a:defRPr sz="3800">
                <a:latin typeface="American Typewriter"/>
                <a:ea typeface="American Typewriter"/>
                <a:cs typeface="American Typewriter"/>
                <a:sym typeface="American Typewriter"/>
              </a:defRPr>
            </a:pPr>
            <a:r>
              <a:t>W = 3 rows, one column for each user</a:t>
            </a:r>
          </a:p>
          <a:p>
            <a:pPr marL="0" lvl="3" indent="955586">
              <a:spcBef>
                <a:spcPts val="835"/>
              </a:spcBef>
              <a:buSzTx/>
              <a:buNone/>
              <a:defRPr sz="3800">
                <a:latin typeface="American Typewriter"/>
                <a:ea typeface="American Typewriter"/>
                <a:cs typeface="American Typewriter"/>
                <a:sym typeface="American Typewriter"/>
              </a:defRPr>
            </a:pPr>
            <a:r>
              <a:t>V =  3 rows, one column for each movie</a:t>
            </a:r>
          </a:p>
        </p:txBody>
      </p:sp>
      <p:grpSp>
        <p:nvGrpSpPr>
          <p:cNvPr id="408" name="We must learn the matrices W and V"/>
          <p:cNvGrpSpPr/>
          <p:nvPr/>
        </p:nvGrpSpPr>
        <p:grpSpPr>
          <a:xfrm rot="21480000">
            <a:off x="5949913" y="10986400"/>
            <a:ext cx="12263512" cy="1486614"/>
            <a:chOff x="0" y="0"/>
            <a:chExt cx="8800356" cy="1066800"/>
          </a:xfrm>
        </p:grpSpPr>
        <p:sp>
          <p:nvSpPr>
            <p:cNvPr id="407" name="We must learn the matrices W and V"/>
            <p:cNvSpPr txBox="1"/>
            <p:nvPr/>
          </p:nvSpPr>
          <p:spPr>
            <a:xfrm>
              <a:off x="146179" y="189695"/>
              <a:ext cx="8508001" cy="687415"/>
            </a:xfrm>
            <a:prstGeom prst="rect">
              <a:avLst/>
            </a:prstGeom>
            <a:noFill/>
            <a:ln>
              <a:noFill/>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numCol="1" anchor="ctr">
              <a:spAutoFit/>
            </a:bodyPr>
            <a:lstStyle>
              <a:lvl1pPr algn="l">
                <a:spcBef>
                  <a:spcPts val="4200"/>
                </a:spcBef>
                <a:defRPr sz="3800" b="1">
                  <a:solidFill>
                    <a:schemeClr val="accent1"/>
                  </a:solidFill>
                  <a:latin typeface="Helvetica"/>
                  <a:ea typeface="Helvetica"/>
                  <a:cs typeface="Helvetica"/>
                  <a:sym typeface="Helvetica"/>
                </a:defRPr>
              </a:lvl1pPr>
            </a:lstStyle>
            <a:p>
              <a:r>
                <a:rPr sz="5296"/>
                <a:t>We must learn the matrices W and V</a:t>
              </a:r>
            </a:p>
          </p:txBody>
        </p:sp>
        <p:pic>
          <p:nvPicPr>
            <p:cNvPr id="406" name="We must learn the matrices W and V We must learn the matrices W and V" descr="We must learn the matrices W and V We must learn the matrices W and V"/>
            <p:cNvPicPr>
              <a:picLocks/>
            </p:cNvPicPr>
            <p:nvPr/>
          </p:nvPicPr>
          <p:blipFill>
            <a:blip r:embed="rId3"/>
            <a:stretch>
              <a:fillRect/>
            </a:stretch>
          </p:blipFill>
          <p:spPr>
            <a:xfrm>
              <a:off x="0" y="0"/>
              <a:ext cx="8800356" cy="1066800"/>
            </a:xfrm>
            <a:prstGeom prst="rect">
              <a:avLst/>
            </a:prstGeom>
            <a:effectLst/>
          </p:spPr>
        </p:pic>
      </p:grpSp>
      <p:sp>
        <p:nvSpPr>
          <p:cNvPr id="7" name="Recommender Systems: Users and Items representations">
            <a:extLst>
              <a:ext uri="{FF2B5EF4-FFF2-40B4-BE49-F238E27FC236}">
                <a16:creationId xmlns:a16="http://schemas.microsoft.com/office/drawing/2014/main" id="{7320FDE7-F23F-E6F4-D87F-43AA7D7D7799}"/>
              </a:ext>
            </a:extLst>
          </p:cNvPr>
          <p:cNvSpPr txBox="1">
            <a:spLocks noGrp="1"/>
          </p:cNvSpPr>
          <p:nvPr>
            <p:ph type="title"/>
          </p:nvPr>
        </p:nvSpPr>
        <p:spPr>
          <a:xfrm>
            <a:off x="999460" y="625441"/>
            <a:ext cx="21669154" cy="3037850"/>
          </a:xfrm>
          <a:prstGeom prst="rect">
            <a:avLst/>
          </a:prstGeom>
        </p:spPr>
        <p:txBody>
          <a:bodyPr>
            <a:normAutofit/>
          </a:bodyPr>
          <a:lstStyle>
            <a:lvl1pPr>
              <a:defRPr sz="5100" b="1">
                <a:solidFill>
                  <a:schemeClr val="accent4"/>
                </a:solidFill>
                <a:latin typeface="Helvetica"/>
                <a:ea typeface="Helvetica"/>
                <a:cs typeface="Helvetica"/>
                <a:sym typeface="Helvetica"/>
              </a:defRPr>
            </a:lvl1pPr>
          </a:lstStyle>
          <a:p>
            <a:r>
              <a:rPr sz="6000" dirty="0">
                <a:solidFill>
                  <a:schemeClr val="tx1"/>
                </a:solidFill>
              </a:rPr>
              <a:t>Recommender Systems: Users and Items representations</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 name="affinity(u,m) = &lt;vec(u), vec(m)&gt; = &lt;Wu,Vm&gt;"/>
          <p:cNvSpPr txBox="1">
            <a:spLocks noGrp="1"/>
          </p:cNvSpPr>
          <p:nvPr>
            <p:ph type="body" idx="1"/>
          </p:nvPr>
        </p:nvSpPr>
        <p:spPr>
          <a:xfrm>
            <a:off x="4347750" y="3702919"/>
            <a:ext cx="15467839" cy="8760388"/>
          </a:xfrm>
          <a:prstGeom prst="rect">
            <a:avLst/>
          </a:prstGeom>
        </p:spPr>
        <p:txBody>
          <a:bodyPr/>
          <a:lstStyle/>
          <a:p>
            <a:pPr marL="0" indent="0" algn="ctr">
              <a:buSzTx/>
              <a:buNone/>
              <a:defRPr sz="3300"/>
            </a:pPr>
            <a:r>
              <a:rPr dirty="0"/>
              <a:t>affinity(</a:t>
            </a:r>
            <a:r>
              <a:rPr dirty="0" err="1"/>
              <a:t>u,m</a:t>
            </a:r>
            <a:r>
              <a:rPr dirty="0"/>
              <a:t>) = &lt;</a:t>
            </a:r>
            <a:r>
              <a:rPr dirty="0" err="1"/>
              <a:t>vec</a:t>
            </a:r>
            <a:r>
              <a:rPr dirty="0"/>
              <a:t>(u), </a:t>
            </a:r>
            <a:r>
              <a:rPr dirty="0" err="1"/>
              <a:t>vec</a:t>
            </a:r>
            <a:r>
              <a:rPr dirty="0"/>
              <a:t>(m)&gt; = &lt;</a:t>
            </a:r>
            <a:r>
              <a:rPr dirty="0" err="1"/>
              <a:t>Wu,Vm</a:t>
            </a:r>
            <a:r>
              <a:rPr dirty="0"/>
              <a:t>&gt;</a:t>
            </a:r>
            <a:endParaRPr lang="es-ES" dirty="0"/>
          </a:p>
          <a:p>
            <a:pPr marL="0" indent="0" algn="ctr">
              <a:buSzTx/>
              <a:buNone/>
              <a:defRPr sz="3300"/>
            </a:pPr>
            <a:endParaRPr dirty="0"/>
          </a:p>
          <a:p>
            <a:pPr marL="0" indent="0" algn="ctr">
              <a:buSzTx/>
              <a:buNone/>
              <a:defRPr sz="3800"/>
            </a:pPr>
            <a:endParaRPr dirty="0"/>
          </a:p>
          <a:p>
            <a:pPr marL="0" indent="0" algn="ctr">
              <a:buSzTx/>
              <a:buNone/>
              <a:defRPr sz="3800"/>
            </a:pPr>
            <a:endParaRPr dirty="0"/>
          </a:p>
          <a:p>
            <a:pPr marL="0" indent="0" algn="ctr">
              <a:buSzTx/>
              <a:buNone/>
              <a:defRPr sz="3800"/>
            </a:pPr>
            <a:endParaRPr dirty="0"/>
          </a:p>
          <a:p>
            <a:pPr marL="0" indent="0" algn="ctr">
              <a:buSzTx/>
              <a:buNone/>
              <a:defRPr sz="3800"/>
            </a:pPr>
            <a:endParaRPr dirty="0"/>
          </a:p>
        </p:txBody>
      </p:sp>
      <p:pic>
        <p:nvPicPr>
          <p:cNvPr id="415" name="pasted-image.pdf" descr="pasted-image.pdf"/>
          <p:cNvPicPr>
            <a:picLocks noChangeAspect="1"/>
          </p:cNvPicPr>
          <p:nvPr/>
        </p:nvPicPr>
        <p:blipFill>
          <a:blip r:embed="rId3"/>
          <a:stretch>
            <a:fillRect/>
          </a:stretch>
        </p:blipFill>
        <p:spPr>
          <a:xfrm>
            <a:off x="4516651" y="5776282"/>
            <a:ext cx="7565019" cy="3592402"/>
          </a:xfrm>
          <a:prstGeom prst="rect">
            <a:avLst/>
          </a:prstGeom>
          <a:ln w="12700">
            <a:miter lim="400000"/>
          </a:ln>
        </p:spPr>
      </p:pic>
      <p:pic>
        <p:nvPicPr>
          <p:cNvPr id="416" name="pasted-image.pdf" descr="pasted-image.pdf"/>
          <p:cNvPicPr>
            <a:picLocks noChangeAspect="1"/>
          </p:cNvPicPr>
          <p:nvPr/>
        </p:nvPicPr>
        <p:blipFill>
          <a:blip r:embed="rId4"/>
          <a:stretch>
            <a:fillRect/>
          </a:stretch>
        </p:blipFill>
        <p:spPr>
          <a:xfrm>
            <a:off x="12965148" y="6268659"/>
            <a:ext cx="7340877" cy="1842307"/>
          </a:xfrm>
          <a:prstGeom prst="rect">
            <a:avLst/>
          </a:prstGeom>
          <a:ln w="12700">
            <a:miter lim="400000"/>
          </a:ln>
        </p:spPr>
      </p:pic>
      <p:sp>
        <p:nvSpPr>
          <p:cNvPr id="7" name="Recommender Systems: Users and Items representations">
            <a:extLst>
              <a:ext uri="{FF2B5EF4-FFF2-40B4-BE49-F238E27FC236}">
                <a16:creationId xmlns:a16="http://schemas.microsoft.com/office/drawing/2014/main" id="{3E3AD370-7F81-7CA5-F492-908AA56E37E9}"/>
              </a:ext>
            </a:extLst>
          </p:cNvPr>
          <p:cNvSpPr txBox="1">
            <a:spLocks noGrp="1"/>
          </p:cNvSpPr>
          <p:nvPr>
            <p:ph type="title"/>
          </p:nvPr>
        </p:nvSpPr>
        <p:spPr>
          <a:xfrm>
            <a:off x="999460" y="625441"/>
            <a:ext cx="21669154" cy="3037850"/>
          </a:xfrm>
          <a:prstGeom prst="rect">
            <a:avLst/>
          </a:prstGeom>
        </p:spPr>
        <p:txBody>
          <a:bodyPr>
            <a:normAutofit/>
          </a:bodyPr>
          <a:lstStyle>
            <a:lvl1pPr>
              <a:defRPr sz="5100" b="1">
                <a:solidFill>
                  <a:schemeClr val="accent4"/>
                </a:solidFill>
                <a:latin typeface="Helvetica"/>
                <a:ea typeface="Helvetica"/>
                <a:cs typeface="Helvetica"/>
                <a:sym typeface="Helvetica"/>
              </a:defRPr>
            </a:lvl1pPr>
          </a:lstStyle>
          <a:p>
            <a:r>
              <a:rPr sz="6000" dirty="0">
                <a:solidFill>
                  <a:schemeClr val="tx1"/>
                </a:solidFill>
              </a:rPr>
              <a:t>Recommender Systems: Users and Items representations</a:t>
            </a:r>
          </a:p>
        </p:txBody>
      </p:sp>
      <p:graphicFrame>
        <p:nvGraphicFramePr>
          <p:cNvPr id="8" name="Tabla 1">
            <a:extLst>
              <a:ext uri="{FF2B5EF4-FFF2-40B4-BE49-F238E27FC236}">
                <a16:creationId xmlns:a16="http://schemas.microsoft.com/office/drawing/2014/main" id="{266DD8F1-ED1F-68B9-BFDA-B0BEA6BFF8FF}"/>
              </a:ext>
            </a:extLst>
          </p:cNvPr>
          <p:cNvGraphicFramePr/>
          <p:nvPr>
            <p:extLst>
              <p:ext uri="{D42A27DB-BD31-4B8C-83A1-F6EECF244321}">
                <p14:modId xmlns:p14="http://schemas.microsoft.com/office/powerpoint/2010/main" val="3914791844"/>
              </p:ext>
            </p:extLst>
          </p:nvPr>
        </p:nvGraphicFramePr>
        <p:xfrm>
          <a:off x="1522143" y="9937738"/>
          <a:ext cx="20623788" cy="3008618"/>
        </p:xfrm>
        <a:graphic>
          <a:graphicData uri="http://schemas.openxmlformats.org/drawingml/2006/table">
            <a:tbl>
              <a:tblPr firstRow="1" firstCol="1">
                <a:tableStyleId>{C7B018BB-80A7-4F77-B60F-C8B233D01FF8}</a:tableStyleId>
              </a:tblPr>
              <a:tblGrid>
                <a:gridCol w="6508286">
                  <a:extLst>
                    <a:ext uri="{9D8B030D-6E8A-4147-A177-3AD203B41FA5}">
                      <a16:colId xmlns:a16="http://schemas.microsoft.com/office/drawing/2014/main" val="20000"/>
                    </a:ext>
                  </a:extLst>
                </a:gridCol>
                <a:gridCol w="7240906">
                  <a:extLst>
                    <a:ext uri="{9D8B030D-6E8A-4147-A177-3AD203B41FA5}">
                      <a16:colId xmlns:a16="http://schemas.microsoft.com/office/drawing/2014/main" val="20001"/>
                    </a:ext>
                  </a:extLst>
                </a:gridCol>
                <a:gridCol w="6874596">
                  <a:extLst>
                    <a:ext uri="{9D8B030D-6E8A-4147-A177-3AD203B41FA5}">
                      <a16:colId xmlns:a16="http://schemas.microsoft.com/office/drawing/2014/main" val="20002"/>
                    </a:ext>
                  </a:extLst>
                </a:gridCol>
              </a:tblGrid>
              <a:tr h="1331034">
                <a:tc>
                  <a:txBody>
                    <a:bodyPr/>
                    <a:lstStyle/>
                    <a:p>
                      <a:pPr defTabSz="914400">
                        <a:tabLst>
                          <a:tab pos="1181100" algn="l"/>
                        </a:tabLst>
                        <a:defRPr b="0">
                          <a:solidFill>
                            <a:srgbClr val="000000"/>
                          </a:solidFill>
                        </a:defRPr>
                      </a:pPr>
                      <a:r>
                        <a:rPr sz="4000" b="1" dirty="0">
                          <a:solidFill>
                            <a:srgbClr val="FFFFFF"/>
                          </a:solidFill>
                          <a:effectLst>
                            <a:outerShdw blurRad="25400" dist="25400" dir="5400000" rotWithShape="0">
                              <a:srgbClr val="000000">
                                <a:alpha val="60000"/>
                              </a:srgbClr>
                            </a:outerShdw>
                          </a:effectLst>
                          <a:sym typeface="Helvetica"/>
                        </a:rPr>
                        <a:t>Affinity</a:t>
                      </a:r>
                    </a:p>
                  </a:txBody>
                  <a:tcPr marL="70791" marR="70791" marT="70791" marB="70791" anchor="ctr" horzOverflow="overflow">
                    <a:solidFill>
                      <a:schemeClr val="accent4">
                        <a:hueOff val="384618"/>
                        <a:satOff val="3869"/>
                        <a:lumOff val="5802"/>
                      </a:schemeClr>
                    </a:solidFill>
                  </a:tcPr>
                </a:tc>
                <a:tc>
                  <a:txBody>
                    <a:bodyPr/>
                    <a:lstStyle/>
                    <a:p>
                      <a:pPr>
                        <a:spcBef>
                          <a:spcPts val="4200"/>
                        </a:spcBef>
                        <a:defRPr b="0">
                          <a:solidFill>
                            <a:srgbClr val="000000"/>
                          </a:solidFill>
                        </a:defRPr>
                      </a:pPr>
                      <a:r>
                        <a:rPr sz="4000">
                          <a:sym typeface="Helvetica"/>
                        </a:rPr>
                        <a:t>m1 = (0, 100, 0)</a:t>
                      </a:r>
                    </a:p>
                  </a:txBody>
                  <a:tcPr marL="70791" marR="70791" marT="70791" marB="70791" anchor="ctr" horzOverflow="overflow">
                    <a:solidFill>
                      <a:schemeClr val="accent2">
                        <a:hueOff val="-2473792"/>
                        <a:satOff val="-50209"/>
                        <a:lumOff val="23543"/>
                      </a:schemeClr>
                    </a:solidFill>
                  </a:tcPr>
                </a:tc>
                <a:tc>
                  <a:txBody>
                    <a:bodyPr/>
                    <a:lstStyle/>
                    <a:p>
                      <a:pPr>
                        <a:spcBef>
                          <a:spcPts val="4200"/>
                        </a:spcBef>
                        <a:defRPr b="0">
                          <a:solidFill>
                            <a:srgbClr val="000000"/>
                          </a:solidFill>
                        </a:defRPr>
                      </a:pPr>
                      <a:r>
                        <a:rPr sz="4000">
                          <a:sym typeface="Helvetica"/>
                        </a:rPr>
                        <a:t>m2 = (90,1, 100)</a:t>
                      </a:r>
                    </a:p>
                  </a:txBody>
                  <a:tcPr marL="70791" marR="70791" marT="70791" marB="70791" anchor="ctr" horzOverflow="overflow">
                    <a:solidFill>
                      <a:schemeClr val="accent2">
                        <a:hueOff val="-2473792"/>
                        <a:satOff val="-50209"/>
                        <a:lumOff val="23543"/>
                      </a:schemeClr>
                    </a:solidFill>
                  </a:tcPr>
                </a:tc>
                <a:extLst>
                  <a:ext uri="{0D108BD9-81ED-4DB2-BD59-A6C34878D82A}">
                    <a16:rowId xmlns:a16="http://schemas.microsoft.com/office/drawing/2014/main" val="10000"/>
                  </a:ext>
                </a:extLst>
              </a:tr>
              <a:tr h="1677584">
                <a:tc>
                  <a:txBody>
                    <a:bodyPr/>
                    <a:lstStyle/>
                    <a:p>
                      <a:pPr>
                        <a:spcBef>
                          <a:spcPts val="4200"/>
                        </a:spcBef>
                        <a:defRPr b="0">
                          <a:solidFill>
                            <a:srgbClr val="000000"/>
                          </a:solidFill>
                        </a:defRPr>
                      </a:pPr>
                      <a:r>
                        <a:rPr sz="4000">
                          <a:sym typeface="Helvetica"/>
                        </a:rPr>
                        <a:t>u = (100, 1, 80)</a:t>
                      </a:r>
                    </a:p>
                  </a:txBody>
                  <a:tcPr marL="70791" marR="70791" marT="70791" marB="70791" anchor="ctr" horzOverflow="overflow"/>
                </a:tc>
                <a:tc>
                  <a:txBody>
                    <a:bodyPr/>
                    <a:lstStyle/>
                    <a:p>
                      <a:pPr defTabSz="914400">
                        <a:defRPr sz="2100"/>
                      </a:pPr>
                      <a:r>
                        <a:rPr sz="4000"/>
                        <a:t>0*100+100*1+0*80 = </a:t>
                      </a:r>
                      <a:r>
                        <a:rPr sz="4000" b="1">
                          <a:solidFill>
                            <a:schemeClr val="accent5"/>
                          </a:solidFill>
                          <a:latin typeface="Helvetica"/>
                          <a:ea typeface="Helvetica"/>
                          <a:cs typeface="Helvetica"/>
                          <a:sym typeface="Helvetica"/>
                        </a:rPr>
                        <a:t>100</a:t>
                      </a:r>
                    </a:p>
                  </a:txBody>
                  <a:tcPr marL="70791" marR="70791" marT="70791" marB="70791" anchor="ctr" horzOverflow="overflow">
                    <a:lnB w="12700">
                      <a:solidFill>
                        <a:srgbClr val="606060"/>
                      </a:solidFill>
                      <a:miter lim="400000"/>
                    </a:lnB>
                  </a:tcPr>
                </a:tc>
                <a:tc>
                  <a:txBody>
                    <a:bodyPr/>
                    <a:lstStyle/>
                    <a:p>
                      <a:pPr defTabSz="914400">
                        <a:defRPr sz="2100"/>
                      </a:pPr>
                      <a:r>
                        <a:rPr sz="4000" dirty="0"/>
                        <a:t>90*100+1*1+100*80 = </a:t>
                      </a:r>
                      <a:r>
                        <a:rPr sz="4000" b="1" dirty="0">
                          <a:solidFill>
                            <a:schemeClr val="accent5"/>
                          </a:solidFill>
                          <a:latin typeface="Helvetica"/>
                          <a:ea typeface="Helvetica"/>
                          <a:cs typeface="Helvetica"/>
                          <a:sym typeface="Helvetica"/>
                        </a:rPr>
                        <a:t>17001</a:t>
                      </a:r>
                    </a:p>
                  </a:txBody>
                  <a:tcPr marL="70791" marR="70791" marT="70791" marB="70791" anchor="ctr" horzOverflow="overflow">
                    <a:lnR w="12700">
                      <a:solidFill>
                        <a:srgbClr val="606060"/>
                      </a:solidFill>
                      <a:miter lim="400000"/>
                    </a:lnR>
                    <a:lnB w="12700">
                      <a:solidFill>
                        <a:srgbClr val="606060"/>
                      </a:solidFill>
                      <a:miter lim="400000"/>
                    </a:lnB>
                  </a:tcPr>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Users,…"/>
          <p:cNvSpPr txBox="1">
            <a:spLocks noGrp="1"/>
          </p:cNvSpPr>
          <p:nvPr>
            <p:ph type="body" sz="half" idx="1"/>
          </p:nvPr>
        </p:nvSpPr>
        <p:spPr>
          <a:xfrm>
            <a:off x="10470344" y="3409271"/>
            <a:ext cx="10110058" cy="8970013"/>
          </a:xfrm>
          <a:prstGeom prst="rect">
            <a:avLst/>
          </a:prstGeom>
        </p:spPr>
        <p:txBody>
          <a:bodyPr>
            <a:normAutofit/>
          </a:bodyPr>
          <a:lstStyle/>
          <a:p>
            <a:pPr marL="0" lvl="8" indent="2548231" defTabSz="906039">
              <a:spcBef>
                <a:spcPts val="1393"/>
              </a:spcBef>
              <a:buSzTx/>
              <a:buNone/>
              <a:defRPr sz="4400">
                <a:latin typeface="Mistral"/>
                <a:ea typeface="Mistral"/>
                <a:cs typeface="Mistral"/>
                <a:sym typeface="Mistral"/>
              </a:defRPr>
            </a:pPr>
            <a:r>
              <a:rPr>
                <a:latin typeface="Calibri"/>
                <a:ea typeface="Calibri"/>
                <a:cs typeface="Calibri"/>
                <a:sym typeface="Calibri"/>
              </a:rPr>
              <a:t>Users, </a:t>
            </a:r>
            <a:r>
              <a:rPr>
                <a:latin typeface="Noteworthy Bold"/>
                <a:ea typeface="Noteworthy Bold"/>
                <a:cs typeface="Noteworthy Bold"/>
                <a:sym typeface="Noteworthy Bold"/>
              </a:rPr>
              <a:t>     </a:t>
            </a:r>
          </a:p>
          <a:p>
            <a:pPr marL="0" lvl="8" indent="2548231" defTabSz="906039">
              <a:spcBef>
                <a:spcPts val="1393"/>
              </a:spcBef>
              <a:buSzTx/>
              <a:buNone/>
              <a:defRPr sz="4400">
                <a:latin typeface="Mistral"/>
                <a:ea typeface="Mistral"/>
                <a:cs typeface="Mistral"/>
                <a:sym typeface="Mistral"/>
              </a:defRPr>
            </a:pPr>
            <a:r>
              <a:rPr>
                <a:latin typeface="Calibri"/>
                <a:ea typeface="Calibri"/>
                <a:cs typeface="Calibri"/>
                <a:sym typeface="Calibri"/>
              </a:rPr>
              <a:t>Movies </a:t>
            </a:r>
          </a:p>
          <a:p>
            <a:pPr marL="0" indent="0">
              <a:buSzTx/>
              <a:buNone/>
              <a:defRPr sz="3800"/>
            </a:pPr>
            <a:endParaRPr>
              <a:latin typeface="Calibri"/>
              <a:ea typeface="Calibri"/>
              <a:cs typeface="Calibri"/>
              <a:sym typeface="Calibri"/>
            </a:endParaRPr>
          </a:p>
          <a:p>
            <a:pPr marL="0" indent="0">
              <a:buSzTx/>
              <a:buNone/>
              <a:defRPr sz="3800"/>
            </a:pPr>
            <a:r>
              <a:t>The goal is to fill this matrix </a:t>
            </a:r>
            <a:r>
              <a:rPr b="1" i="1"/>
              <a:t>according</a:t>
            </a:r>
            <a:r>
              <a:t> to the assessments of users about movies</a:t>
            </a:r>
          </a:p>
        </p:txBody>
      </p:sp>
      <p:sp>
        <p:nvSpPr>
          <p:cNvPr id="421" name="Número de diapositiva"/>
          <p:cNvSpPr txBox="1">
            <a:spLocks noGrp="1"/>
          </p:cNvSpPr>
          <p:nvPr>
            <p:ph type="sldNum" sz="quarter" idx="2"/>
          </p:nvPr>
        </p:nvSpPr>
        <p:spPr>
          <a:xfrm>
            <a:off x="22535317" y="12788269"/>
            <a:ext cx="419857" cy="47448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25</a:t>
            </a:fld>
            <a:endParaRPr/>
          </a:p>
        </p:txBody>
      </p:sp>
      <p:graphicFrame>
        <p:nvGraphicFramePr>
          <p:cNvPr id="422" name="Tabla 1"/>
          <p:cNvGraphicFramePr/>
          <p:nvPr/>
        </p:nvGraphicFramePr>
        <p:xfrm>
          <a:off x="5070188" y="3898360"/>
          <a:ext cx="4655819" cy="4857455"/>
        </p:xfrm>
        <a:graphic>
          <a:graphicData uri="http://schemas.openxmlformats.org/drawingml/2006/table">
            <a:tbl>
              <a:tblPr>
                <a:tableStyleId>{4C3C2611-4C71-4FC5-86AE-919BDF0F9419}</a:tableStyleId>
              </a:tblPr>
              <a:tblGrid>
                <a:gridCol w="926227">
                  <a:extLst>
                    <a:ext uri="{9D8B030D-6E8A-4147-A177-3AD203B41FA5}">
                      <a16:colId xmlns:a16="http://schemas.microsoft.com/office/drawing/2014/main" val="20000"/>
                    </a:ext>
                  </a:extLst>
                </a:gridCol>
                <a:gridCol w="930553">
                  <a:extLst>
                    <a:ext uri="{9D8B030D-6E8A-4147-A177-3AD203B41FA5}">
                      <a16:colId xmlns:a16="http://schemas.microsoft.com/office/drawing/2014/main" val="20001"/>
                    </a:ext>
                  </a:extLst>
                </a:gridCol>
                <a:gridCol w="930553">
                  <a:extLst>
                    <a:ext uri="{9D8B030D-6E8A-4147-A177-3AD203B41FA5}">
                      <a16:colId xmlns:a16="http://schemas.microsoft.com/office/drawing/2014/main" val="20002"/>
                    </a:ext>
                  </a:extLst>
                </a:gridCol>
                <a:gridCol w="930553">
                  <a:extLst>
                    <a:ext uri="{9D8B030D-6E8A-4147-A177-3AD203B41FA5}">
                      <a16:colId xmlns:a16="http://schemas.microsoft.com/office/drawing/2014/main" val="20003"/>
                    </a:ext>
                  </a:extLst>
                </a:gridCol>
                <a:gridCol w="937933">
                  <a:extLst>
                    <a:ext uri="{9D8B030D-6E8A-4147-A177-3AD203B41FA5}">
                      <a16:colId xmlns:a16="http://schemas.microsoft.com/office/drawing/2014/main" val="20004"/>
                    </a:ext>
                  </a:extLst>
                </a:gridCol>
              </a:tblGrid>
              <a:tr h="971491">
                <a:tc>
                  <a:txBody>
                    <a:bodyPr/>
                    <a:lstStyle/>
                    <a:p>
                      <a:pPr algn="l" defTabSz="650240">
                        <a:defRPr sz="2400">
                          <a:latin typeface="Calibri"/>
                          <a:ea typeface="Calibri"/>
                          <a:cs typeface="Calibri"/>
                          <a:sym typeface="Calibri"/>
                        </a:defRPr>
                      </a:pPr>
                      <a:endParaRPr sz="3400"/>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m1</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m2</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m3</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m4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0"/>
                  </a:ext>
                </a:extLst>
              </a:tr>
              <a:tr h="971491">
                <a:tc>
                  <a:txBody>
                    <a:bodyPr/>
                    <a:lstStyle/>
                    <a:p>
                      <a:pPr algn="l" defTabSz="650240"/>
                      <a:r>
                        <a:rPr sz="3400">
                          <a:latin typeface="Calibri"/>
                          <a:ea typeface="Calibri"/>
                          <a:cs typeface="Calibri"/>
                          <a:sym typeface="Calibri"/>
                        </a:rPr>
                        <a:t>u1</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1"/>
                  </a:ext>
                </a:extLst>
              </a:tr>
              <a:tr h="971491">
                <a:tc>
                  <a:txBody>
                    <a:bodyPr/>
                    <a:lstStyle/>
                    <a:p>
                      <a:pPr algn="l" defTabSz="650240"/>
                      <a:r>
                        <a:rPr sz="3400">
                          <a:latin typeface="Calibri"/>
                          <a:ea typeface="Calibri"/>
                          <a:cs typeface="Calibri"/>
                          <a:sym typeface="Calibri"/>
                        </a:rPr>
                        <a:t>u2</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2"/>
                  </a:ext>
                </a:extLst>
              </a:tr>
              <a:tr h="971491">
                <a:tc>
                  <a:txBody>
                    <a:bodyPr/>
                    <a:lstStyle/>
                    <a:p>
                      <a:pPr algn="l" defTabSz="650240"/>
                      <a:r>
                        <a:rPr sz="3400">
                          <a:latin typeface="Calibri"/>
                          <a:ea typeface="Calibri"/>
                          <a:cs typeface="Calibri"/>
                          <a:sym typeface="Calibri"/>
                        </a:rPr>
                        <a:t>u3</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3"/>
                  </a:ext>
                </a:extLst>
              </a:tr>
              <a:tr h="971491">
                <a:tc>
                  <a:txBody>
                    <a:bodyPr/>
                    <a:lstStyle/>
                    <a:p>
                      <a:pPr algn="l" defTabSz="650240"/>
                      <a:r>
                        <a:rPr sz="3400">
                          <a:latin typeface="Calibri"/>
                          <a:ea typeface="Calibri"/>
                          <a:cs typeface="Calibri"/>
                          <a:sym typeface="Calibri"/>
                        </a:rPr>
                        <a:t>u4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4"/>
                  </a:ext>
                </a:extLst>
              </a:tr>
            </a:tbl>
          </a:graphicData>
        </a:graphic>
      </p:graphicFrame>
      <p:sp>
        <p:nvSpPr>
          <p:cNvPr id="423" name="Recommender Systems"/>
          <p:cNvSpPr txBox="1">
            <a:spLocks noGrp="1"/>
          </p:cNvSpPr>
          <p:nvPr>
            <p:ph type="title"/>
          </p:nvPr>
        </p:nvSpPr>
        <p:spPr>
          <a:xfrm>
            <a:off x="4347750" y="685452"/>
            <a:ext cx="15467839" cy="3008618"/>
          </a:xfrm>
          <a:prstGeom prst="rect">
            <a:avLst/>
          </a:prstGeom>
        </p:spPr>
        <p:txBody>
          <a:bodyPr lIns="70791" tIns="70791" rIns="70791" bIns="70791" anchor="ctr">
            <a:normAutofit/>
          </a:bodyPr>
          <a:lstStyle>
            <a:lvl1pPr defTabSz="584200">
              <a:defRPr sz="5100" b="1">
                <a:solidFill>
                  <a:schemeClr val="accent4"/>
                </a:solidFill>
                <a:latin typeface="Helvetica"/>
                <a:ea typeface="Helvetica"/>
                <a:cs typeface="Helvetica"/>
                <a:sym typeface="Helvetica"/>
              </a:defRPr>
            </a:lvl1pPr>
          </a:lstStyle>
          <a:p>
            <a:r>
              <a:rPr dirty="0">
                <a:solidFill>
                  <a:schemeClr val="tx1"/>
                </a:solidFill>
              </a:rPr>
              <a:t>Recommender Systems</a:t>
            </a:r>
          </a:p>
        </p:txBody>
      </p:sp>
      <p:grpSp>
        <p:nvGrpSpPr>
          <p:cNvPr id="426" name="sign (affinity(u, m) + b) = sign (&lt;Wu,Vm&gt;+ b)"/>
          <p:cNvGrpSpPr/>
          <p:nvPr/>
        </p:nvGrpSpPr>
        <p:grpSpPr>
          <a:xfrm>
            <a:off x="5298473" y="10650255"/>
            <a:ext cx="13566396" cy="1433520"/>
            <a:chOff x="0" y="0"/>
            <a:chExt cx="9735312" cy="1028700"/>
          </a:xfrm>
        </p:grpSpPr>
        <p:sp>
          <p:nvSpPr>
            <p:cNvPr id="425" name="sign (affinity(u, m) + b) = sign (&lt;Wu,Vm&gt;+ b)"/>
            <p:cNvSpPr txBox="1"/>
            <p:nvPr/>
          </p:nvSpPr>
          <p:spPr>
            <a:xfrm>
              <a:off x="1883036" y="289127"/>
              <a:ext cx="5969239" cy="450449"/>
            </a:xfrm>
            <a:prstGeom prst="rect">
              <a:avLst/>
            </a:prstGeom>
            <a:noFill/>
            <a:ln>
              <a:noFill/>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numCol="1" anchor="ctr">
              <a:spAutoFit/>
            </a:bodyPr>
            <a:lstStyle>
              <a:lvl1pPr>
                <a:spcBef>
                  <a:spcPts val="600"/>
                </a:spcBef>
              </a:lvl1pPr>
            </a:lstStyle>
            <a:p>
              <a:r>
                <a:rPr sz="3150"/>
                <a:t>sign (affinity(u, m) + b) = sign (&lt;Wu,Vm&gt;+ b)</a:t>
              </a:r>
            </a:p>
          </p:txBody>
        </p:sp>
        <p:pic>
          <p:nvPicPr>
            <p:cNvPr id="424" name="sign (affinity(u, m) + b) = sign (&lt;Wu,Vm&gt;+ b) sign (affinity(u, m) + b) = sign (&lt;Wu,Vm&gt;+ b)" descr="sign (affinity(u, m) + b) = sign (&lt;Wu,Vm&gt;+ b) sign (affinity(u, m) + b) = sign (&lt;Wu,Vm&gt;+ b)"/>
            <p:cNvPicPr>
              <a:picLocks/>
            </p:cNvPicPr>
            <p:nvPr/>
          </p:nvPicPr>
          <p:blipFill>
            <a:blip r:embed="rId3"/>
            <a:stretch>
              <a:fillRect/>
            </a:stretch>
          </p:blipFill>
          <p:spPr>
            <a:xfrm>
              <a:off x="0" y="0"/>
              <a:ext cx="9735312" cy="1028700"/>
            </a:xfrm>
            <a:prstGeom prst="rect">
              <a:avLst/>
            </a:prstGeom>
            <a:effectLst/>
          </p:spPr>
        </p:pic>
      </p:gr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30" name="Haz doble clic para editar"/>
              <p:cNvSpPr txBox="1">
                <a:spLocks noGrp="1"/>
              </p:cNvSpPr>
              <p:nvPr>
                <p:ph type="body" idx="1"/>
              </p:nvPr>
            </p:nvSpPr>
            <p:spPr>
              <a:xfrm>
                <a:off x="4067196" y="3516112"/>
                <a:ext cx="16028952" cy="8970013"/>
              </a:xfrm>
              <a:prstGeom prst="rect">
                <a:avLst/>
              </a:prstGeom>
            </p:spPr>
            <p:txBody>
              <a:bodyPr/>
              <a:lstStyle/>
              <a:p>
                <a:pPr marL="0" indent="0" algn="ctr">
                  <a:buSzTx/>
                  <a:buNone/>
                  <a:defRPr>
                    <a:latin typeface="Mistral"/>
                    <a:ea typeface="Mistral"/>
                    <a:cs typeface="Mistral"/>
                    <a:sym typeface="Mistral"/>
                  </a:defRPr>
                </a:pPr>
                <a14:m>
                  <m:oMathPara xmlns:m="http://schemas.openxmlformats.org/officeDocument/2006/math">
                    <m:oMathParaPr>
                      <m:jc m:val="center"/>
                    </m:oMathParaPr>
                    <m:oMath xmlns:m="http://schemas.openxmlformats.org/officeDocument/2006/math">
                      <m:r>
                        <a:rPr sz="6619" i="1">
                          <a:latin typeface="Cambria Math" panose="02040503050406030204" pitchFamily="18" charset="0"/>
                        </a:rPr>
                        <m:t>&lt;</m:t>
                      </m:r>
                      <m:r>
                        <a:rPr sz="6619" i="1">
                          <a:latin typeface="Cambria Math" panose="02040503050406030204" pitchFamily="18" charset="0"/>
                        </a:rPr>
                        <m:t>𝑊𝑢</m:t>
                      </m:r>
                      <m:r>
                        <a:rPr sz="6619" i="1">
                          <a:latin typeface="Cambria Math" panose="02040503050406030204" pitchFamily="18" charset="0"/>
                        </a:rPr>
                        <m:t>,</m:t>
                      </m:r>
                      <m:r>
                        <a:rPr sz="6619" i="1">
                          <a:latin typeface="Cambria Math" panose="02040503050406030204" pitchFamily="18" charset="0"/>
                        </a:rPr>
                        <m:t>𝑉𝑚</m:t>
                      </m:r>
                      <m:r>
                        <a:rPr sz="6619" i="1">
                          <a:latin typeface="Cambria Math" panose="02040503050406030204" pitchFamily="18" charset="0"/>
                        </a:rPr>
                        <m:t>&gt;=(</m:t>
                      </m:r>
                      <m:r>
                        <a:rPr sz="6619" i="1">
                          <a:latin typeface="Cambria Math" panose="02040503050406030204" pitchFamily="18" charset="0"/>
                        </a:rPr>
                        <m:t>𝑊𝑢</m:t>
                      </m:r>
                      <m:sSup>
                        <m:sSupPr>
                          <m:ctrlPr>
                            <a:rPr sz="6619" i="1">
                              <a:latin typeface="Cambria Math" panose="02040503050406030204" pitchFamily="18" charset="0"/>
                            </a:rPr>
                          </m:ctrlPr>
                        </m:sSupPr>
                        <m:e>
                          <m:r>
                            <a:rPr sz="6619" i="1">
                              <a:latin typeface="Cambria Math" panose="02040503050406030204" pitchFamily="18" charset="0"/>
                            </a:rPr>
                            <m:t>)</m:t>
                          </m:r>
                        </m:e>
                        <m:sup>
                          <m:r>
                            <a:rPr sz="6619" i="1">
                              <a:latin typeface="Cambria Math" panose="02040503050406030204" pitchFamily="18" charset="0"/>
                            </a:rPr>
                            <m:t>𝑇</m:t>
                          </m:r>
                        </m:sup>
                      </m:sSup>
                      <m:r>
                        <a:rPr sz="6619" i="1">
                          <a:latin typeface="Cambria Math" panose="02040503050406030204" pitchFamily="18" charset="0"/>
                        </a:rPr>
                        <m:t>(</m:t>
                      </m:r>
                      <m:r>
                        <a:rPr sz="6619" i="1">
                          <a:latin typeface="Cambria Math" panose="02040503050406030204" pitchFamily="18" charset="0"/>
                        </a:rPr>
                        <m:t>𝑉𝑚</m:t>
                      </m:r>
                      <m:r>
                        <a:rPr sz="6619" i="1">
                          <a:latin typeface="Cambria Math" panose="02040503050406030204" pitchFamily="18" charset="0"/>
                        </a:rPr>
                        <m:t>)=</m:t>
                      </m:r>
                      <m:sSup>
                        <m:sSupPr>
                          <m:ctrlPr>
                            <a:rPr sz="6619" i="1">
                              <a:latin typeface="Cambria Math" panose="02040503050406030204" pitchFamily="18" charset="0"/>
                            </a:rPr>
                          </m:ctrlPr>
                        </m:sSupPr>
                        <m:e>
                          <m:r>
                            <a:rPr sz="6619" i="1">
                              <a:latin typeface="Cambria Math" panose="02040503050406030204" pitchFamily="18" charset="0"/>
                            </a:rPr>
                            <m:t>𝑢</m:t>
                          </m:r>
                        </m:e>
                        <m:sup>
                          <m:r>
                            <a:rPr sz="6619" i="1">
                              <a:latin typeface="Cambria Math" panose="02040503050406030204" pitchFamily="18" charset="0"/>
                            </a:rPr>
                            <m:t>𝑇</m:t>
                          </m:r>
                        </m:sup>
                      </m:sSup>
                      <m:r>
                        <a:rPr sz="6619" i="1">
                          <a:latin typeface="Cambria Math" panose="02040503050406030204" pitchFamily="18" charset="0"/>
                        </a:rPr>
                        <m:t>(</m:t>
                      </m:r>
                      <m:sSup>
                        <m:sSupPr>
                          <m:ctrlPr>
                            <a:rPr sz="6619" i="1">
                              <a:latin typeface="Cambria Math" panose="02040503050406030204" pitchFamily="18" charset="0"/>
                            </a:rPr>
                          </m:ctrlPr>
                        </m:sSupPr>
                        <m:e>
                          <m:r>
                            <a:rPr sz="6619" i="1">
                              <a:latin typeface="Cambria Math" panose="02040503050406030204" pitchFamily="18" charset="0"/>
                            </a:rPr>
                            <m:t>𝑊</m:t>
                          </m:r>
                        </m:e>
                        <m:sup>
                          <m:r>
                            <a:rPr sz="6619" i="1">
                              <a:latin typeface="Cambria Math" panose="02040503050406030204" pitchFamily="18" charset="0"/>
                            </a:rPr>
                            <m:t>𝑇</m:t>
                          </m:r>
                        </m:sup>
                      </m:sSup>
                      <m:r>
                        <a:rPr sz="6619" i="1">
                          <a:latin typeface="Cambria Math" panose="02040503050406030204" pitchFamily="18" charset="0"/>
                        </a:rPr>
                        <m:t>𝑉</m:t>
                      </m:r>
                      <m:r>
                        <a:rPr sz="6619" i="1">
                          <a:latin typeface="Cambria Math" panose="02040503050406030204" pitchFamily="18" charset="0"/>
                        </a:rPr>
                        <m:t>)</m:t>
                      </m:r>
                      <m:r>
                        <a:rPr sz="6619" i="1">
                          <a:latin typeface="Cambria Math" panose="02040503050406030204" pitchFamily="18" charset="0"/>
                        </a:rPr>
                        <m:t>𝑚</m:t>
                      </m:r>
                    </m:oMath>
                  </m:oMathPara>
                </a14:m>
                <a:endParaRPr>
                  <a:latin typeface="Calibri"/>
                  <a:ea typeface="Calibri"/>
                  <a:cs typeface="Calibri"/>
                  <a:sym typeface="Calibri"/>
                </a:endParaRPr>
              </a:p>
              <a:p>
                <a:pPr marL="0" indent="0">
                  <a:buSzTx/>
                  <a:buNone/>
                  <a:defRPr sz="3800"/>
                </a:pPr>
                <a:endParaRPr>
                  <a:latin typeface="Calibri"/>
                  <a:ea typeface="Calibri"/>
                  <a:cs typeface="Calibri"/>
                  <a:sym typeface="Calibri"/>
                </a:endParaRPr>
              </a:p>
            </p:txBody>
          </p:sp>
        </mc:Choice>
        <mc:Fallback>
          <p:sp>
            <p:nvSpPr>
              <p:cNvPr id="430" name="Haz doble clic para editar"/>
              <p:cNvSpPr txBox="1">
                <a:spLocks noGrp="1" noRot="1" noChangeAspect="1" noMove="1" noResize="1" noEditPoints="1" noAdjustHandles="1" noChangeArrowheads="1" noChangeShapeType="1" noTextEdit="1"/>
              </p:cNvSpPr>
              <p:nvPr>
                <p:ph type="body" idx="1"/>
              </p:nvPr>
            </p:nvSpPr>
            <p:spPr>
              <a:xfrm>
                <a:off x="4067196" y="3516112"/>
                <a:ext cx="16028952" cy="8970013"/>
              </a:xfrm>
              <a:prstGeom prst="rect">
                <a:avLst/>
              </a:prstGeom>
              <a:blipFill>
                <a:blip r:embed="rId3"/>
                <a:stretch>
                  <a:fillRect/>
                </a:stretch>
              </a:blipFill>
            </p:spPr>
            <p:txBody>
              <a:bodyPr/>
              <a:lstStyle/>
              <a:p>
                <a:r>
                  <a:rPr lang="es-ES">
                    <a:noFill/>
                  </a:rPr>
                  <a:t> </a:t>
                </a:r>
              </a:p>
            </p:txBody>
          </p:sp>
        </mc:Fallback>
      </mc:AlternateContent>
      <p:sp>
        <p:nvSpPr>
          <p:cNvPr id="431" name="Número de diapositiva"/>
          <p:cNvSpPr txBox="1">
            <a:spLocks noGrp="1"/>
          </p:cNvSpPr>
          <p:nvPr>
            <p:ph type="sldNum" sz="quarter" idx="2"/>
          </p:nvPr>
        </p:nvSpPr>
        <p:spPr>
          <a:xfrm>
            <a:off x="22535317" y="12788269"/>
            <a:ext cx="419857" cy="47448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26</a:t>
            </a:fld>
            <a:endParaRPr/>
          </a:p>
        </p:txBody>
      </p:sp>
      <p:sp>
        <p:nvSpPr>
          <p:cNvPr id="432" name="Matrix factorization"/>
          <p:cNvSpPr txBox="1">
            <a:spLocks noGrp="1"/>
          </p:cNvSpPr>
          <p:nvPr>
            <p:ph type="title"/>
          </p:nvPr>
        </p:nvSpPr>
        <p:spPr>
          <a:xfrm>
            <a:off x="4347750" y="685452"/>
            <a:ext cx="15467839" cy="3008618"/>
          </a:xfrm>
          <a:prstGeom prst="rect">
            <a:avLst/>
          </a:prstGeom>
        </p:spPr>
        <p:txBody>
          <a:bodyPr lIns="70791" tIns="70791" rIns="70791" bIns="70791" anchor="ctr">
            <a:normAutofit/>
          </a:bodyPr>
          <a:lstStyle>
            <a:lvl1pPr defTabSz="584200">
              <a:defRPr sz="5100" b="1">
                <a:solidFill>
                  <a:schemeClr val="accent4"/>
                </a:solidFill>
                <a:latin typeface="Helvetica"/>
                <a:ea typeface="Helvetica"/>
                <a:cs typeface="Helvetica"/>
                <a:sym typeface="Helvetica"/>
              </a:defRPr>
            </a:lvl1pPr>
          </a:lstStyle>
          <a:p>
            <a:r>
              <a:t>Matrix factorization</a:t>
            </a:r>
          </a:p>
        </p:txBody>
      </p:sp>
      <mc:AlternateContent xmlns:mc="http://schemas.openxmlformats.org/markup-compatibility/2006">
        <mc:Choice xmlns:a14="http://schemas.microsoft.com/office/drawing/2010/main" Requires="a14">
          <p:sp>
            <p:nvSpPr>
              <p:cNvPr id="433" name="Ecuación"/>
              <p:cNvSpPr txBox="1"/>
              <p:nvPr/>
            </p:nvSpPr>
            <p:spPr>
              <a:xfrm>
                <a:off x="7843541" y="8397020"/>
                <a:ext cx="8237832" cy="1934312"/>
              </a:xfrm>
              <a:prstGeom prst="rect">
                <a:avLst/>
              </a:prstGeom>
              <a:ln w="12700">
                <a:miter lim="400000"/>
              </a:ln>
            </p:spPr>
            <p:txBody>
              <a:bodyPr wrap="none" lIns="0" tIns="0" rIns="0" bIns="0">
                <a:spAutoFit/>
              </a:bodyPr>
              <a:lstStyle/>
              <a:p>
                <a:pPr algn="l" defTabSz="1274116" latinLnBrk="1">
                  <a:defRPr sz="1800"/>
                </a:pPr>
                <a14:m>
                  <m:oMathPara xmlns:m="http://schemas.openxmlformats.org/officeDocument/2006/math">
                    <m:oMathParaPr>
                      <m:jc m:val="centerGroup"/>
                    </m:oMathParaPr>
                    <m:oMath xmlns:m="http://schemas.openxmlformats.org/officeDocument/2006/math">
                      <m:sSup>
                        <m:sSupPr>
                          <m:ctrlPr>
                            <a:rPr sz="7803">
                              <a:latin typeface="Cambria Math" panose="02040503050406030204" pitchFamily="18" charset="0"/>
                            </a:rPr>
                          </m:ctrlPr>
                        </m:sSupPr>
                        <m:e>
                          <m:r>
                            <a:rPr sz="7803" i="1">
                              <a:latin typeface="Cambria Math" panose="02040503050406030204" pitchFamily="18" charset="0"/>
                            </a:rPr>
                            <m:t>𝑢</m:t>
                          </m:r>
                        </m:e>
                        <m:sup>
                          <m:r>
                            <a:rPr sz="7803" i="1">
                              <a:latin typeface="Cambria Math" panose="02040503050406030204" pitchFamily="18" charset="0"/>
                            </a:rPr>
                            <m:t>𝑇</m:t>
                          </m:r>
                        </m:sup>
                      </m:sSup>
                      <m:r>
                        <a:rPr sz="7803" i="1">
                          <a:latin typeface="Cambria Math" panose="02040503050406030204" pitchFamily="18" charset="0"/>
                        </a:rPr>
                        <m:t>𝑋𝑚</m:t>
                      </m:r>
                      <m:r>
                        <a:rPr sz="7803" i="1">
                          <a:latin typeface="Cambria Math" panose="02040503050406030204" pitchFamily="18" charset="0"/>
                        </a:rPr>
                        <m:t>=</m:t>
                      </m:r>
                      <m:limLow>
                        <m:limLowPr>
                          <m:ctrlPr>
                            <a:rPr sz="7803" i="1">
                              <a:latin typeface="Cambria Math" panose="02040503050406030204" pitchFamily="18" charset="0"/>
                            </a:rPr>
                          </m:ctrlPr>
                        </m:limLowPr>
                        <m:e>
                          <m:r>
                            <a:rPr sz="7803" i="1">
                              <a:latin typeface="Cambria Math" panose="02040503050406030204" pitchFamily="18" charset="0"/>
                            </a:rPr>
                            <m:t>∑</m:t>
                          </m:r>
                        </m:e>
                        <m:lim>
                          <m:r>
                            <a:rPr sz="7803" i="1">
                              <a:latin typeface="Cambria Math" panose="02040503050406030204" pitchFamily="18" charset="0"/>
                            </a:rPr>
                            <m:t>𝑖</m:t>
                          </m:r>
                          <m:r>
                            <a:rPr sz="7803" i="1">
                              <a:latin typeface="Cambria Math" panose="02040503050406030204" pitchFamily="18" charset="0"/>
                            </a:rPr>
                            <m:t>,</m:t>
                          </m:r>
                          <m:r>
                            <a:rPr sz="7803" i="1">
                              <a:latin typeface="Cambria Math" panose="02040503050406030204" pitchFamily="18" charset="0"/>
                            </a:rPr>
                            <m:t>𝑗</m:t>
                          </m:r>
                        </m:lim>
                      </m:limLow>
                      <m:sSub>
                        <m:sSubPr>
                          <m:ctrlPr>
                            <a:rPr sz="7803" i="1">
                              <a:latin typeface="Cambria Math" panose="02040503050406030204" pitchFamily="18" charset="0"/>
                            </a:rPr>
                          </m:ctrlPr>
                        </m:sSubPr>
                        <m:e>
                          <m:r>
                            <a:rPr sz="7803" i="1">
                              <a:latin typeface="Cambria Math" panose="02040503050406030204" pitchFamily="18" charset="0"/>
                            </a:rPr>
                            <m:t>𝑥</m:t>
                          </m:r>
                        </m:e>
                        <m:sub>
                          <m:r>
                            <a:rPr sz="7803" i="1">
                              <a:latin typeface="Cambria Math" panose="02040503050406030204" pitchFamily="18" charset="0"/>
                            </a:rPr>
                            <m:t>𝑖𝑗</m:t>
                          </m:r>
                        </m:sub>
                      </m:sSub>
                      <m:sSub>
                        <m:sSubPr>
                          <m:ctrlPr>
                            <a:rPr sz="7803" i="1">
                              <a:latin typeface="Cambria Math" panose="02040503050406030204" pitchFamily="18" charset="0"/>
                            </a:rPr>
                          </m:ctrlPr>
                        </m:sSubPr>
                        <m:e>
                          <m:r>
                            <a:rPr sz="7803" i="1">
                              <a:latin typeface="Cambria Math" panose="02040503050406030204" pitchFamily="18" charset="0"/>
                            </a:rPr>
                            <m:t>𝑢</m:t>
                          </m:r>
                        </m:e>
                        <m:sub>
                          <m:r>
                            <a:rPr sz="7803" i="1">
                              <a:latin typeface="Cambria Math" panose="02040503050406030204" pitchFamily="18" charset="0"/>
                            </a:rPr>
                            <m:t>𝑖</m:t>
                          </m:r>
                        </m:sub>
                      </m:sSub>
                      <m:sSub>
                        <m:sSubPr>
                          <m:ctrlPr>
                            <a:rPr sz="7803" i="1">
                              <a:latin typeface="Cambria Math" panose="02040503050406030204" pitchFamily="18" charset="0"/>
                            </a:rPr>
                          </m:ctrlPr>
                        </m:sSubPr>
                        <m:e>
                          <m:r>
                            <a:rPr sz="7803" i="1">
                              <a:latin typeface="Cambria Math" panose="02040503050406030204" pitchFamily="18" charset="0"/>
                            </a:rPr>
                            <m:t>𝑚</m:t>
                          </m:r>
                        </m:e>
                        <m:sub>
                          <m:r>
                            <a:rPr sz="7803" i="1">
                              <a:latin typeface="Cambria Math" panose="02040503050406030204" pitchFamily="18" charset="0"/>
                            </a:rPr>
                            <m:t>𝑗</m:t>
                          </m:r>
                        </m:sub>
                      </m:sSub>
                    </m:oMath>
                  </m:oMathPara>
                </a14:m>
                <a:endParaRPr sz="7803"/>
              </a:p>
            </p:txBody>
          </p:sp>
        </mc:Choice>
        <mc:Fallback>
          <p:sp>
            <p:nvSpPr>
              <p:cNvPr id="433" name="Ecuación"/>
              <p:cNvSpPr txBox="1">
                <a:spLocks noRot="1" noChangeAspect="1" noMove="1" noResize="1" noEditPoints="1" noAdjustHandles="1" noChangeArrowheads="1" noChangeShapeType="1" noTextEdit="1"/>
              </p:cNvSpPr>
              <p:nvPr/>
            </p:nvSpPr>
            <p:spPr>
              <a:xfrm>
                <a:off x="7843541" y="8397020"/>
                <a:ext cx="8237832" cy="1934312"/>
              </a:xfrm>
              <a:prstGeom prst="rect">
                <a:avLst/>
              </a:prstGeom>
              <a:blipFill>
                <a:blip r:embed="rId4"/>
                <a:stretch>
                  <a:fillRect l="-769" r="-923" b="-15584"/>
                </a:stretch>
              </a:blipFill>
              <a:ln w="12700">
                <a:miter lim="400000"/>
              </a:ln>
            </p:spPr>
            <p:txBody>
              <a:bodyPr/>
              <a:lstStyle/>
              <a:p>
                <a:r>
                  <a:rPr lang="es-ES">
                    <a:noFill/>
                  </a:rPr>
                  <a:t> </a:t>
                </a:r>
              </a:p>
            </p:txBody>
          </p:sp>
        </mc:Fallback>
      </mc:AlternateContent>
      <mc:AlternateContent xmlns:mc="http://schemas.openxmlformats.org/markup-compatibility/2006">
        <mc:Choice xmlns:a14="http://schemas.microsoft.com/office/drawing/2010/main" Requires="a14">
          <p:sp>
            <p:nvSpPr>
              <p:cNvPr id="434" name="Ecuación"/>
              <p:cNvSpPr txBox="1"/>
              <p:nvPr/>
            </p:nvSpPr>
            <p:spPr>
              <a:xfrm>
                <a:off x="10076210" y="5903164"/>
                <a:ext cx="4831001" cy="1308179"/>
              </a:xfrm>
              <a:prstGeom prst="rect">
                <a:avLst/>
              </a:prstGeom>
              <a:ln w="12700">
                <a:miter lim="400000"/>
              </a:ln>
            </p:spPr>
            <p:txBody>
              <a:bodyPr wrap="none" lIns="0" tIns="0" rIns="0" bIns="0">
                <a:spAutoFit/>
              </a:bodyPr>
              <a:lstStyle/>
              <a:p>
                <a:pPr algn="l" defTabSz="1274116" latinLnBrk="1">
                  <a:defRPr sz="1800"/>
                </a:pPr>
                <a14:m>
                  <m:oMathPara xmlns:m="http://schemas.openxmlformats.org/officeDocument/2006/math">
                    <m:oMathParaPr>
                      <m:jc m:val="centerGroup"/>
                    </m:oMathParaPr>
                    <m:oMath xmlns:m="http://schemas.openxmlformats.org/officeDocument/2006/math">
                      <m:sSup>
                        <m:sSupPr>
                          <m:ctrlPr>
                            <a:rPr sz="8501">
                              <a:latin typeface="Cambria Math" panose="02040503050406030204" pitchFamily="18" charset="0"/>
                            </a:rPr>
                          </m:ctrlPr>
                        </m:sSupPr>
                        <m:e>
                          <m:r>
                            <a:rPr sz="8501" i="1">
                              <a:latin typeface="Cambria Math" panose="02040503050406030204" pitchFamily="18" charset="0"/>
                            </a:rPr>
                            <m:t>𝑊</m:t>
                          </m:r>
                        </m:e>
                        <m:sup>
                          <m:r>
                            <a:rPr sz="8501" i="1">
                              <a:latin typeface="Cambria Math" panose="02040503050406030204" pitchFamily="18" charset="0"/>
                            </a:rPr>
                            <m:t>𝑇</m:t>
                          </m:r>
                        </m:sup>
                      </m:sSup>
                      <m:r>
                        <a:rPr sz="8501" i="1">
                          <a:latin typeface="Cambria Math" panose="02040503050406030204" pitchFamily="18" charset="0"/>
                        </a:rPr>
                        <m:t>𝑉</m:t>
                      </m:r>
                      <m:r>
                        <a:rPr sz="8501" i="1">
                          <a:latin typeface="Cambria Math" panose="02040503050406030204" pitchFamily="18" charset="0"/>
                        </a:rPr>
                        <m:t>=</m:t>
                      </m:r>
                      <m:r>
                        <a:rPr sz="8501" i="1">
                          <a:latin typeface="Cambria Math" panose="02040503050406030204" pitchFamily="18" charset="0"/>
                        </a:rPr>
                        <m:t>𝑋</m:t>
                      </m:r>
                    </m:oMath>
                  </m:oMathPara>
                </a14:m>
                <a:endParaRPr sz="8501"/>
              </a:p>
            </p:txBody>
          </p:sp>
        </mc:Choice>
        <mc:Fallback>
          <p:sp>
            <p:nvSpPr>
              <p:cNvPr id="434" name="Ecuación"/>
              <p:cNvSpPr txBox="1">
                <a:spLocks noRot="1" noChangeAspect="1" noMove="1" noResize="1" noEditPoints="1" noAdjustHandles="1" noChangeArrowheads="1" noChangeShapeType="1" noTextEdit="1"/>
              </p:cNvSpPr>
              <p:nvPr/>
            </p:nvSpPr>
            <p:spPr>
              <a:xfrm>
                <a:off x="10076210" y="5903164"/>
                <a:ext cx="4831001" cy="1308179"/>
              </a:xfrm>
              <a:prstGeom prst="rect">
                <a:avLst/>
              </a:prstGeom>
              <a:blipFill>
                <a:blip r:embed="rId5"/>
                <a:stretch>
                  <a:fillRect l="-4199" r="-3412" b="-7692"/>
                </a:stretch>
              </a:blipFill>
              <a:ln w="12700">
                <a:miter lim="400000"/>
              </a:ln>
            </p:spPr>
            <p:txBody>
              <a:bodyPr/>
              <a:lstStyle/>
              <a:p>
                <a:r>
                  <a:rPr lang="es-ES">
                    <a:noFill/>
                  </a:rPr>
                  <a:t> </a:t>
                </a:r>
              </a:p>
            </p:txBody>
          </p:sp>
        </mc:Fallback>
      </mc:AlternateContent>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8" name="Additional examples"/>
          <p:cNvSpPr txBox="1">
            <a:spLocks noGrp="1"/>
          </p:cNvSpPr>
          <p:nvPr>
            <p:ph type="title"/>
          </p:nvPr>
        </p:nvSpPr>
        <p:spPr>
          <a:prstGeom prst="rect">
            <a:avLst/>
          </a:prstGeom>
        </p:spPr>
        <p:txBody>
          <a:bodyPr/>
          <a:lstStyle/>
          <a:p>
            <a:r>
              <a:t>Additional examples</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Rectángulo"/>
          <p:cNvSpPr/>
          <p:nvPr/>
        </p:nvSpPr>
        <p:spPr>
          <a:xfrm>
            <a:off x="12977252" y="7530793"/>
            <a:ext cx="6645792" cy="3492350"/>
          </a:xfrm>
          <a:prstGeom prst="rect">
            <a:avLst/>
          </a:prstGeom>
          <a:gradFill>
            <a:gsLst>
              <a:gs pos="0">
                <a:srgbClr val="FBFBFB"/>
              </a:gs>
              <a:gs pos="100000">
                <a:schemeClr val="accent2"/>
              </a:gs>
            </a:gsLst>
            <a:lin ang="5400000"/>
          </a:gradFill>
          <a:ln w="12700">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FFFF"/>
                </a:solidFill>
              </a:defRPr>
            </a:pPr>
            <a:endParaRPr sz="3345"/>
          </a:p>
        </p:txBody>
      </p:sp>
      <p:sp>
        <p:nvSpPr>
          <p:cNvPr id="445" name="Rectángulo"/>
          <p:cNvSpPr/>
          <p:nvPr/>
        </p:nvSpPr>
        <p:spPr>
          <a:xfrm>
            <a:off x="9096975" y="5234915"/>
            <a:ext cx="6645792" cy="2146938"/>
          </a:xfrm>
          <a:prstGeom prst="rect">
            <a:avLst/>
          </a:prstGeom>
          <a:gradFill>
            <a:gsLst>
              <a:gs pos="0">
                <a:srgbClr val="FBFBFB"/>
              </a:gs>
              <a:gs pos="100000">
                <a:schemeClr val="accent3"/>
              </a:gs>
            </a:gsLst>
            <a:lin ang="5400000"/>
          </a:gradFill>
          <a:ln w="12700">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FFFF"/>
                </a:solidFill>
              </a:defRPr>
            </a:pPr>
            <a:endParaRPr sz="3345"/>
          </a:p>
        </p:txBody>
      </p:sp>
      <p:sp>
        <p:nvSpPr>
          <p:cNvPr id="446" name="Mixed"/>
          <p:cNvSpPr txBox="1">
            <a:spLocks noGrp="1"/>
          </p:cNvSpPr>
          <p:nvPr>
            <p:ph type="title"/>
          </p:nvPr>
        </p:nvSpPr>
        <p:spPr>
          <a:prstGeom prst="rect">
            <a:avLst/>
          </a:prstGeom>
        </p:spPr>
        <p:txBody>
          <a:bodyPr/>
          <a:lstStyle/>
          <a:p>
            <a:r>
              <a:t>Mixed</a:t>
            </a:r>
          </a:p>
        </p:txBody>
      </p:sp>
      <p:pic>
        <p:nvPicPr>
          <p:cNvPr id="447" name="pasted-image.pdf" descr="pasted-image.pdf"/>
          <p:cNvPicPr>
            <a:picLocks noChangeAspect="1"/>
          </p:cNvPicPr>
          <p:nvPr/>
        </p:nvPicPr>
        <p:blipFill>
          <a:blip r:embed="rId2"/>
          <a:stretch>
            <a:fillRect/>
          </a:stretch>
        </p:blipFill>
        <p:spPr>
          <a:xfrm>
            <a:off x="11747321" y="5021403"/>
            <a:ext cx="3557251" cy="6105727"/>
          </a:xfrm>
          <a:prstGeom prst="rect">
            <a:avLst/>
          </a:prstGeom>
          <a:ln w="12700">
            <a:miter lim="400000"/>
          </a:ln>
        </p:spPr>
      </p:pic>
      <p:sp>
        <p:nvSpPr>
          <p:cNvPr id="448" name="1-hot"/>
          <p:cNvSpPr txBox="1"/>
          <p:nvPr/>
        </p:nvSpPr>
        <p:spPr>
          <a:xfrm>
            <a:off x="9736656" y="5994528"/>
            <a:ext cx="1063088"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r>
              <a:rPr sz="3150"/>
              <a:t>1-hot</a:t>
            </a:r>
          </a:p>
        </p:txBody>
      </p:sp>
      <p:sp>
        <p:nvSpPr>
          <p:cNvPr id="449" name="Continuous"/>
          <p:cNvSpPr txBox="1"/>
          <p:nvPr/>
        </p:nvSpPr>
        <p:spPr>
          <a:xfrm>
            <a:off x="16148324" y="8963109"/>
            <a:ext cx="2185190" cy="6277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anchor="ctr">
            <a:spAutoFit/>
          </a:bodyPr>
          <a:lstStyle/>
          <a:p>
            <a:r>
              <a:rPr sz="3150"/>
              <a:t>Continuous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In addition to feature descriptions of consumers and items, we added a binary identification…"/>
          <p:cNvSpPr txBox="1">
            <a:spLocks noGrp="1"/>
          </p:cNvSpPr>
          <p:nvPr>
            <p:ph type="body" idx="1"/>
          </p:nvPr>
        </p:nvSpPr>
        <p:spPr>
          <a:xfrm>
            <a:off x="4379605" y="3053513"/>
            <a:ext cx="15404128" cy="9677417"/>
          </a:xfrm>
          <a:prstGeom prst="rect">
            <a:avLst/>
          </a:prstGeom>
        </p:spPr>
        <p:txBody>
          <a:bodyPr lIns="96653" tIns="96653" rIns="96653" bIns="96653" anchor="t">
            <a:noAutofit/>
          </a:bodyPr>
          <a:lstStyle/>
          <a:p>
            <a:pPr marL="0" indent="0" defTabSz="637059">
              <a:lnSpc>
                <a:spcPts val="4878"/>
              </a:lnSpc>
              <a:spcBef>
                <a:spcPts val="5015"/>
              </a:spcBef>
              <a:buSzTx/>
              <a:buNone/>
              <a:defRPr sz="2500">
                <a:latin typeface="Verdana"/>
                <a:ea typeface="Verdana"/>
                <a:cs typeface="Verdana"/>
                <a:sym typeface="Verdana"/>
              </a:defRPr>
            </a:pPr>
            <a:r>
              <a:rPr sz="3900" dirty="0"/>
              <a:t>In addition to feature descriptions of consumers and items, we added a </a:t>
            </a:r>
            <a:r>
              <a:rPr sz="3900" b="1" dirty="0">
                <a:solidFill>
                  <a:srgbClr val="0433FF"/>
                </a:solidFill>
              </a:rPr>
              <a:t>binary identification</a:t>
            </a:r>
            <a:r>
              <a:rPr sz="3900" dirty="0"/>
              <a:t> each object (consumer or item) includes in its description a vector with all components 0 but the one (index the ordinal of the object) that has value 1. </a:t>
            </a:r>
          </a:p>
          <a:p>
            <a:pPr marL="0" indent="0" defTabSz="637059">
              <a:lnSpc>
                <a:spcPts val="6688"/>
              </a:lnSpc>
              <a:spcBef>
                <a:spcPts val="5015"/>
              </a:spcBef>
              <a:buSzTx/>
              <a:buNone/>
              <a:defRPr sz="2500">
                <a:latin typeface="Verdana"/>
                <a:ea typeface="Verdana"/>
                <a:cs typeface="Verdana"/>
                <a:sym typeface="Verdana"/>
              </a:defRPr>
            </a:pPr>
            <a:r>
              <a:rPr sz="3900" b="1" dirty="0">
                <a:solidFill>
                  <a:srgbClr val="0433FF"/>
                </a:solidFill>
              </a:rPr>
              <a:t>Example.</a:t>
            </a:r>
            <a:r>
              <a:rPr sz="3900" dirty="0"/>
              <a:t> </a:t>
            </a:r>
            <a:r>
              <a:rPr lang="es-ES" sz="3900" dirty="0"/>
              <a:t> </a:t>
            </a:r>
            <a:r>
              <a:rPr sz="3900" dirty="0"/>
              <a:t>If we have only 3 consumers, </a:t>
            </a:r>
          </a:p>
          <a:p>
            <a:pPr marL="0" lvl="8" indent="2548231" defTabSz="637059">
              <a:lnSpc>
                <a:spcPts val="2788"/>
              </a:lnSpc>
              <a:spcBef>
                <a:spcPts val="5015"/>
              </a:spcBef>
              <a:buSzTx/>
              <a:buNone/>
              <a:defRPr sz="2500">
                <a:latin typeface="Arial"/>
                <a:ea typeface="Arial"/>
                <a:cs typeface="Arial"/>
                <a:sym typeface="Arial"/>
              </a:defRPr>
            </a:pPr>
            <a:r>
              <a:rPr sz="4458" dirty="0"/>
              <a:t>consumer</a:t>
            </a:r>
            <a:r>
              <a:rPr sz="4458" baseline="-11999" dirty="0"/>
              <a:t>1 </a:t>
            </a:r>
            <a:r>
              <a:rPr sz="4458" dirty="0"/>
              <a:t>=(1,0,0,sex</a:t>
            </a:r>
            <a:r>
              <a:rPr sz="4458" baseline="-11999" dirty="0"/>
              <a:t>1</a:t>
            </a:r>
            <a:r>
              <a:rPr sz="4458" dirty="0"/>
              <a:t>,age</a:t>
            </a:r>
            <a:r>
              <a:rPr sz="4458" baseline="-11999" dirty="0"/>
              <a:t>1</a:t>
            </a:r>
            <a:r>
              <a:rPr sz="4458" dirty="0"/>
              <a:t>,job</a:t>
            </a:r>
            <a:r>
              <a:rPr sz="4458" baseline="-11999" dirty="0"/>
              <a:t>1</a:t>
            </a:r>
            <a:r>
              <a:rPr sz="4458" dirty="0"/>
              <a:t>)</a:t>
            </a:r>
            <a:r>
              <a:rPr sz="4458" baseline="31999" dirty="0"/>
              <a:t>T</a:t>
            </a:r>
            <a:r>
              <a:rPr sz="4458" dirty="0"/>
              <a:t>, </a:t>
            </a:r>
          </a:p>
          <a:p>
            <a:pPr marL="0" lvl="8" indent="2548231" defTabSz="637059">
              <a:lnSpc>
                <a:spcPts val="2788"/>
              </a:lnSpc>
              <a:spcBef>
                <a:spcPts val="5015"/>
              </a:spcBef>
              <a:buSzTx/>
              <a:buNone/>
              <a:defRPr sz="2500">
                <a:latin typeface="Arial"/>
                <a:ea typeface="Arial"/>
                <a:cs typeface="Arial"/>
                <a:sym typeface="Arial"/>
              </a:defRPr>
            </a:pPr>
            <a:r>
              <a:rPr sz="4458" dirty="0"/>
              <a:t>consumer</a:t>
            </a:r>
            <a:r>
              <a:rPr sz="4458" baseline="-11999" dirty="0"/>
              <a:t>2 </a:t>
            </a:r>
            <a:r>
              <a:rPr sz="4458" dirty="0"/>
              <a:t>=(0,1,0,sex</a:t>
            </a:r>
            <a:r>
              <a:rPr sz="4458" baseline="-11999" dirty="0"/>
              <a:t>2</a:t>
            </a:r>
            <a:r>
              <a:rPr sz="4458" dirty="0"/>
              <a:t>,age</a:t>
            </a:r>
            <a:r>
              <a:rPr sz="4458" baseline="-11999" dirty="0"/>
              <a:t>2</a:t>
            </a:r>
            <a:r>
              <a:rPr sz="4458" dirty="0"/>
              <a:t>,job</a:t>
            </a:r>
            <a:r>
              <a:rPr sz="4458" baseline="-11999" dirty="0"/>
              <a:t>2</a:t>
            </a:r>
            <a:r>
              <a:rPr sz="4458" dirty="0"/>
              <a:t>)</a:t>
            </a:r>
            <a:r>
              <a:rPr sz="4458" baseline="31999" dirty="0"/>
              <a:t>T</a:t>
            </a:r>
            <a:r>
              <a:rPr sz="4458" dirty="0"/>
              <a:t>, </a:t>
            </a:r>
          </a:p>
          <a:p>
            <a:pPr marL="0" lvl="8" indent="2548231" defTabSz="637059">
              <a:lnSpc>
                <a:spcPts val="2788"/>
              </a:lnSpc>
              <a:spcBef>
                <a:spcPts val="5015"/>
              </a:spcBef>
              <a:buSzTx/>
              <a:buNone/>
              <a:defRPr sz="2500">
                <a:latin typeface="Arial"/>
                <a:ea typeface="Arial"/>
                <a:cs typeface="Arial"/>
                <a:sym typeface="Arial"/>
              </a:defRPr>
            </a:pPr>
            <a:r>
              <a:rPr sz="4458" dirty="0"/>
              <a:t>consumer</a:t>
            </a:r>
            <a:r>
              <a:rPr sz="4458" baseline="-11999" dirty="0"/>
              <a:t>3 </a:t>
            </a:r>
            <a:r>
              <a:rPr sz="4458" dirty="0"/>
              <a:t>=(0,0,1,sex</a:t>
            </a:r>
            <a:r>
              <a:rPr sz="4458" baseline="-11999" dirty="0"/>
              <a:t>3</a:t>
            </a:r>
            <a:r>
              <a:rPr sz="4458" dirty="0"/>
              <a:t>,age</a:t>
            </a:r>
            <a:r>
              <a:rPr sz="4458" baseline="-11999" dirty="0"/>
              <a:t>3</a:t>
            </a:r>
            <a:r>
              <a:rPr sz="4458" dirty="0"/>
              <a:t>,job</a:t>
            </a:r>
            <a:r>
              <a:rPr sz="4458" baseline="-11999" dirty="0"/>
              <a:t>3</a:t>
            </a:r>
            <a:r>
              <a:rPr sz="4458" dirty="0"/>
              <a:t>)</a:t>
            </a:r>
            <a:r>
              <a:rPr sz="4458" baseline="31999" dirty="0"/>
              <a:t>T</a:t>
            </a:r>
            <a:r>
              <a:rPr sz="4458" dirty="0"/>
              <a:t>. </a:t>
            </a:r>
            <a:endParaRPr sz="2230" dirty="0"/>
          </a:p>
          <a:p>
            <a:pPr marL="0" indent="0" defTabSz="637059">
              <a:lnSpc>
                <a:spcPts val="5156"/>
              </a:lnSpc>
              <a:spcBef>
                <a:spcPts val="1673"/>
              </a:spcBef>
              <a:buSzTx/>
              <a:buNone/>
              <a:defRPr sz="1600">
                <a:latin typeface="Times Roman"/>
                <a:ea typeface="Times Roman"/>
                <a:cs typeface="Times Roman"/>
                <a:sym typeface="Times Roman"/>
              </a:defRPr>
            </a:pPr>
            <a:endParaRPr sz="1673" dirty="0"/>
          </a:p>
          <a:p>
            <a:pPr marL="0" indent="0">
              <a:spcBef>
                <a:spcPts val="0"/>
              </a:spcBef>
              <a:buSzTx/>
              <a:buNone/>
              <a:defRPr sz="3500"/>
            </a:pPr>
            <a:r>
              <a:rPr dirty="0"/>
              <a:t> </a:t>
            </a:r>
          </a:p>
        </p:txBody>
      </p:sp>
      <p:sp>
        <p:nvSpPr>
          <p:cNvPr id="452" name="Número de diapositiva"/>
          <p:cNvSpPr txBox="1">
            <a:spLocks noGrp="1"/>
          </p:cNvSpPr>
          <p:nvPr>
            <p:ph type="sldNum" sz="quarter" idx="4294967295"/>
          </p:nvPr>
        </p:nvSpPr>
        <p:spPr>
          <a:xfrm>
            <a:off x="20215001" y="12358499"/>
            <a:ext cx="551019" cy="581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6653" tIns="96653" rIns="96653" bIns="96653" anchor="ctr">
            <a:spAutoFit/>
          </a:bodyPr>
          <a:lstStyle>
            <a:lvl1pPr defTabSz="637059">
              <a:defRPr>
                <a:uFill>
                  <a:solidFill>
                    <a:srgbClr val="000000"/>
                  </a:solidFill>
                </a:uFill>
                <a:latin typeface="Arial"/>
                <a:ea typeface="Arial"/>
                <a:cs typeface="Arial"/>
                <a:sym typeface="Arial"/>
              </a:defRPr>
            </a:lvl1pPr>
          </a:lstStyle>
          <a:p>
            <a:fld id="{86CB4B4D-7CA3-9044-876B-883B54F8677D}" type="slidenum">
              <a:rPr/>
              <a:t>29</a:t>
            </a:fld>
            <a:endParaRPr/>
          </a:p>
        </p:txBody>
      </p:sp>
      <p:sp>
        <p:nvSpPr>
          <p:cNvPr id="453" name="Consumer preferences of food products"/>
          <p:cNvSpPr txBox="1">
            <a:spLocks noGrp="1"/>
          </p:cNvSpPr>
          <p:nvPr>
            <p:ph type="title"/>
          </p:nvPr>
        </p:nvSpPr>
        <p:spPr>
          <a:xfrm>
            <a:off x="3989969" y="679177"/>
            <a:ext cx="16814665" cy="2053886"/>
          </a:xfrm>
          <a:prstGeom prst="rect">
            <a:avLst/>
          </a:prstGeom>
          <a:ln w="25400">
            <a:solidFill>
              <a:srgbClr val="008F00"/>
            </a:solidFill>
          </a:ln>
        </p:spPr>
        <p:txBody>
          <a:bodyPr lIns="96653" tIns="96653" rIns="96653" bIns="96653" anchor="ctr">
            <a:noAutofit/>
          </a:bodyPr>
          <a:lstStyle>
            <a:lvl1pPr marL="40639" marR="40639" defTabSz="914400">
              <a:spcBef>
                <a:spcPts val="300"/>
              </a:spcBef>
              <a:defRPr sz="4700" b="1">
                <a:uFill>
                  <a:solidFill>
                    <a:srgbClr val="000000"/>
                  </a:solidFill>
                </a:uFill>
                <a:latin typeface="Arial"/>
                <a:ea typeface="Arial"/>
                <a:cs typeface="Arial"/>
                <a:sym typeface="Arial"/>
              </a:defRPr>
            </a:lvl1pPr>
          </a:lstStyle>
          <a:p>
            <a:r>
              <a:t>Consumer preferences of food products</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5" name="Preferencias"/>
          <p:cNvSpPr txBox="1">
            <a:spLocks noGrp="1"/>
          </p:cNvSpPr>
          <p:nvPr>
            <p:ph type="title"/>
          </p:nvPr>
        </p:nvSpPr>
        <p:spPr>
          <a:prstGeom prst="rect">
            <a:avLst/>
          </a:prstGeom>
        </p:spPr>
        <p:txBody>
          <a:bodyPr/>
          <a:lstStyle/>
          <a:p>
            <a:r>
              <a:t>Preferencias</a:t>
            </a:r>
          </a:p>
        </p:txBody>
      </p:sp>
      <p:sp>
        <p:nvSpPr>
          <p:cNvPr id="456" name="Val(p,c) &gt; Val(p’,c)…"/>
          <p:cNvSpPr txBox="1">
            <a:spLocks noGrp="1"/>
          </p:cNvSpPr>
          <p:nvPr>
            <p:ph type="body" idx="1"/>
          </p:nvPr>
        </p:nvSpPr>
        <p:spPr>
          <a:prstGeom prst="rect">
            <a:avLst/>
          </a:prstGeom>
        </p:spPr>
        <p:txBody>
          <a:bodyPr/>
          <a:lstStyle/>
          <a:p>
            <a:pPr marL="0" indent="0" algn="ctr">
              <a:buSzTx/>
              <a:buNone/>
            </a:pPr>
            <a:r>
              <a:t>Val(p,c) &gt; Val(p’,c)</a:t>
            </a:r>
          </a:p>
          <a:p>
            <a:pPr marL="0" indent="0" algn="ctr">
              <a:buSzTx/>
              <a:buNone/>
            </a:pPr>
            <a:r>
              <a:t>D = {(p,p’,c): Val(p,c) &gt; Val(p’,c)}</a:t>
            </a:r>
          </a:p>
          <a:p>
            <a:pPr marL="0" indent="0" algn="ctr">
              <a:buSzTx/>
              <a:buNone/>
            </a:pPr>
            <a:endParaRPr/>
          </a:p>
          <a:p>
            <a:pPr marL="0" indent="0" algn="ctr">
              <a:buSzTx/>
              <a:buNone/>
            </a:pPr>
            <a:r>
              <a:t>Clasificación binaria</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8" name="graders,…"/>
          <p:cNvSpPr txBox="1">
            <a:spLocks noGrp="1"/>
          </p:cNvSpPr>
          <p:nvPr>
            <p:ph type="body" sz="half" idx="1"/>
          </p:nvPr>
        </p:nvSpPr>
        <p:spPr>
          <a:xfrm>
            <a:off x="10126739" y="3237470"/>
            <a:ext cx="10110060" cy="8970013"/>
          </a:xfrm>
          <a:prstGeom prst="rect">
            <a:avLst/>
          </a:prstGeom>
        </p:spPr>
        <p:txBody>
          <a:bodyPr>
            <a:normAutofit/>
          </a:bodyPr>
          <a:lstStyle/>
          <a:p>
            <a:pPr marL="0" lvl="8" indent="2548231" defTabSz="906039">
              <a:spcBef>
                <a:spcPts val="1393"/>
              </a:spcBef>
              <a:buSzTx/>
              <a:buNone/>
              <a:defRPr sz="4400">
                <a:latin typeface="Mistral"/>
                <a:ea typeface="Mistral"/>
                <a:cs typeface="Mistral"/>
                <a:sym typeface="Mistral"/>
              </a:defRPr>
            </a:pPr>
            <a:r>
              <a:rPr>
                <a:latin typeface="Calibri"/>
                <a:ea typeface="Calibri"/>
                <a:cs typeface="Calibri"/>
                <a:sym typeface="Calibri"/>
              </a:rPr>
              <a:t>graders, </a:t>
            </a:r>
            <a:r>
              <a:rPr>
                <a:latin typeface="Noteworthy Bold"/>
                <a:ea typeface="Noteworthy Bold"/>
                <a:cs typeface="Noteworthy Bold"/>
                <a:sym typeface="Noteworthy Bold"/>
              </a:rPr>
              <a:t>     </a:t>
            </a:r>
          </a:p>
          <a:p>
            <a:pPr marL="0" lvl="8" indent="2548231" defTabSz="906039">
              <a:spcBef>
                <a:spcPts val="1393"/>
              </a:spcBef>
              <a:buSzTx/>
              <a:buNone/>
              <a:defRPr sz="4400">
                <a:latin typeface="Mistral"/>
                <a:ea typeface="Mistral"/>
                <a:cs typeface="Mistral"/>
                <a:sym typeface="Mistral"/>
              </a:defRPr>
            </a:pPr>
            <a:r>
              <a:rPr>
                <a:latin typeface="Calibri"/>
                <a:ea typeface="Calibri"/>
                <a:cs typeface="Calibri"/>
                <a:sym typeface="Calibri"/>
              </a:rPr>
              <a:t>answers </a:t>
            </a:r>
          </a:p>
          <a:p>
            <a:pPr marL="0" indent="0">
              <a:buSzTx/>
              <a:buNone/>
              <a:defRPr>
                <a:latin typeface="Mistral"/>
                <a:ea typeface="Mistral"/>
                <a:cs typeface="Mistral"/>
                <a:sym typeface="Mistral"/>
              </a:defRPr>
            </a:pPr>
            <a:endParaRPr>
              <a:latin typeface="Calibri"/>
              <a:ea typeface="Calibri"/>
              <a:cs typeface="Calibri"/>
              <a:sym typeface="Calibri"/>
            </a:endParaRPr>
          </a:p>
          <a:p>
            <a:pPr marL="0" indent="0">
              <a:buSzTx/>
              <a:buNone/>
              <a:defRPr>
                <a:latin typeface="Mistral"/>
                <a:ea typeface="Mistral"/>
                <a:cs typeface="Mistral"/>
                <a:sym typeface="Mistral"/>
              </a:defRPr>
            </a:pPr>
            <a:endParaRPr>
              <a:latin typeface="Calibri"/>
              <a:ea typeface="Calibri"/>
              <a:cs typeface="Calibri"/>
              <a:sym typeface="Calibri"/>
            </a:endParaRPr>
          </a:p>
          <a:p>
            <a:pPr marL="0" indent="0">
              <a:buSzTx/>
              <a:buNone/>
              <a:defRPr sz="3800"/>
            </a:pPr>
            <a:endParaRPr>
              <a:latin typeface="Calibri"/>
              <a:ea typeface="Calibri"/>
              <a:cs typeface="Calibri"/>
              <a:sym typeface="Calibri"/>
            </a:endParaRPr>
          </a:p>
          <a:p>
            <a:pPr marL="0" indent="0">
              <a:buSzTx/>
              <a:buNone/>
              <a:defRPr sz="3800"/>
            </a:pPr>
            <a:r>
              <a:t>The goal is to fill this matrix </a:t>
            </a:r>
            <a:r>
              <a:rPr b="1" i="1"/>
              <a:t>according</a:t>
            </a:r>
            <a:r>
              <a:t> to the assessments of graders</a:t>
            </a:r>
          </a:p>
        </p:txBody>
      </p:sp>
      <p:sp>
        <p:nvSpPr>
          <p:cNvPr id="459" name="Número de diapositiva"/>
          <p:cNvSpPr txBox="1">
            <a:spLocks noGrp="1"/>
          </p:cNvSpPr>
          <p:nvPr>
            <p:ph type="sldNum" sz="quarter" idx="2"/>
          </p:nvPr>
        </p:nvSpPr>
        <p:spPr>
          <a:xfrm>
            <a:off x="22535317" y="12788269"/>
            <a:ext cx="419857" cy="47448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31</a:t>
            </a:fld>
            <a:endParaRPr/>
          </a:p>
        </p:txBody>
      </p:sp>
      <p:graphicFrame>
        <p:nvGraphicFramePr>
          <p:cNvPr id="460" name="Tabla 1"/>
          <p:cNvGraphicFramePr/>
          <p:nvPr/>
        </p:nvGraphicFramePr>
        <p:xfrm>
          <a:off x="4822030" y="5139154"/>
          <a:ext cx="4655821" cy="4857457"/>
        </p:xfrm>
        <a:graphic>
          <a:graphicData uri="http://schemas.openxmlformats.org/drawingml/2006/table">
            <a:tbl>
              <a:tblPr>
                <a:tableStyleId>{4C3C2611-4C71-4FC5-86AE-919BDF0F9419}</a:tableStyleId>
              </a:tblPr>
              <a:tblGrid>
                <a:gridCol w="926227">
                  <a:extLst>
                    <a:ext uri="{9D8B030D-6E8A-4147-A177-3AD203B41FA5}">
                      <a16:colId xmlns:a16="http://schemas.microsoft.com/office/drawing/2014/main" val="20000"/>
                    </a:ext>
                  </a:extLst>
                </a:gridCol>
                <a:gridCol w="930553">
                  <a:extLst>
                    <a:ext uri="{9D8B030D-6E8A-4147-A177-3AD203B41FA5}">
                      <a16:colId xmlns:a16="http://schemas.microsoft.com/office/drawing/2014/main" val="20001"/>
                    </a:ext>
                  </a:extLst>
                </a:gridCol>
                <a:gridCol w="930553">
                  <a:extLst>
                    <a:ext uri="{9D8B030D-6E8A-4147-A177-3AD203B41FA5}">
                      <a16:colId xmlns:a16="http://schemas.microsoft.com/office/drawing/2014/main" val="20002"/>
                    </a:ext>
                  </a:extLst>
                </a:gridCol>
                <a:gridCol w="930553">
                  <a:extLst>
                    <a:ext uri="{9D8B030D-6E8A-4147-A177-3AD203B41FA5}">
                      <a16:colId xmlns:a16="http://schemas.microsoft.com/office/drawing/2014/main" val="20003"/>
                    </a:ext>
                  </a:extLst>
                </a:gridCol>
                <a:gridCol w="937933">
                  <a:extLst>
                    <a:ext uri="{9D8B030D-6E8A-4147-A177-3AD203B41FA5}">
                      <a16:colId xmlns:a16="http://schemas.microsoft.com/office/drawing/2014/main" val="20004"/>
                    </a:ext>
                  </a:extLst>
                </a:gridCol>
              </a:tblGrid>
              <a:tr h="971491">
                <a:tc>
                  <a:txBody>
                    <a:bodyPr/>
                    <a:lstStyle/>
                    <a:p>
                      <a:pPr algn="l" defTabSz="650240">
                        <a:defRPr sz="2400">
                          <a:latin typeface="Calibri"/>
                          <a:ea typeface="Calibri"/>
                          <a:cs typeface="Calibri"/>
                          <a:sym typeface="Calibri"/>
                        </a:defRPr>
                      </a:pPr>
                      <a:endParaRPr sz="3400"/>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a1</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a2</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a3</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defTabSz="650240"/>
                      <a:r>
                        <a:rPr sz="3400">
                          <a:latin typeface="Calibri"/>
                          <a:ea typeface="Calibri"/>
                          <a:cs typeface="Calibri"/>
                          <a:sym typeface="Calibri"/>
                        </a:rPr>
                        <a:t>a4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0"/>
                  </a:ext>
                </a:extLst>
              </a:tr>
              <a:tr h="971491">
                <a:tc>
                  <a:txBody>
                    <a:bodyPr/>
                    <a:lstStyle/>
                    <a:p>
                      <a:pPr algn="l" defTabSz="650240"/>
                      <a:r>
                        <a:rPr sz="3400">
                          <a:latin typeface="Calibri"/>
                          <a:ea typeface="Calibri"/>
                          <a:cs typeface="Calibri"/>
                          <a:sym typeface="Calibri"/>
                        </a:rPr>
                        <a:t>g1</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9</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1"/>
                  </a:ext>
                </a:extLst>
              </a:tr>
              <a:tr h="971491">
                <a:tc>
                  <a:txBody>
                    <a:bodyPr/>
                    <a:lstStyle/>
                    <a:p>
                      <a:pPr algn="l" defTabSz="650240"/>
                      <a:r>
                        <a:rPr sz="3400">
                          <a:latin typeface="Calibri"/>
                          <a:ea typeface="Calibri"/>
                          <a:cs typeface="Calibri"/>
                          <a:sym typeface="Calibri"/>
                        </a:rPr>
                        <a:t>g2</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7</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2"/>
                  </a:ext>
                </a:extLst>
              </a:tr>
              <a:tr h="971491">
                <a:tc>
                  <a:txBody>
                    <a:bodyPr/>
                    <a:lstStyle/>
                    <a:p>
                      <a:pPr algn="l" defTabSz="650240"/>
                      <a:r>
                        <a:rPr sz="3400">
                          <a:latin typeface="Calibri"/>
                          <a:ea typeface="Calibri"/>
                          <a:cs typeface="Calibri"/>
                          <a:sym typeface="Calibri"/>
                        </a:rPr>
                        <a:t>g3</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3</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8</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3"/>
                  </a:ext>
                </a:extLst>
              </a:tr>
              <a:tr h="971491">
                <a:tc>
                  <a:txBody>
                    <a:bodyPr/>
                    <a:lstStyle/>
                    <a:p>
                      <a:pPr algn="l" defTabSz="650240"/>
                      <a:r>
                        <a:rPr sz="3400">
                          <a:latin typeface="Calibri"/>
                          <a:ea typeface="Calibri"/>
                          <a:cs typeface="Calibri"/>
                          <a:sym typeface="Calibri"/>
                        </a:rPr>
                        <a:t>g4</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5</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latin typeface="Calibri"/>
                          <a:ea typeface="Calibri"/>
                          <a:cs typeface="Calibri"/>
                          <a:sym typeface="Calibri"/>
                        </a:rPr>
                        <a:t>5</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defTabSz="650240"/>
                      <a:r>
                        <a:rPr sz="3400">
                          <a:solidFill>
                            <a:srgbClr val="0000FF"/>
                          </a:solidFill>
                          <a:latin typeface="Calibri"/>
                          <a:ea typeface="Calibri"/>
                          <a:cs typeface="Calibri"/>
                          <a:sym typeface="Calibri"/>
                        </a:rPr>
                        <a:t>*</a:t>
                      </a:r>
                    </a:p>
                  </a:txBody>
                  <a:tcPr marL="63712" marR="63712" marT="63712" marB="63712" horzOverflow="overflow">
                    <a:lnL w="12700">
                      <a:solidFill>
                        <a:srgbClr val="000000"/>
                      </a:solidFill>
                    </a:lnL>
                    <a:lnR w="12700">
                      <a:solidFill>
                        <a:srgbClr val="000000"/>
                      </a:solidFill>
                    </a:lnR>
                    <a:lnT w="12700">
                      <a:solidFill>
                        <a:srgbClr val="000000"/>
                      </a:solidFill>
                    </a:lnT>
                    <a:lnB w="12700">
                      <a:solidFill>
                        <a:srgbClr val="000000"/>
                      </a:solidFill>
                    </a:lnB>
                    <a:noFill/>
                  </a:tcPr>
                </a:tc>
                <a:extLst>
                  <a:ext uri="{0D108BD9-81ED-4DB2-BD59-A6C34878D82A}">
                    <a16:rowId xmlns:a16="http://schemas.microsoft.com/office/drawing/2014/main" val="10004"/>
                  </a:ext>
                </a:extLst>
              </a:tr>
            </a:tbl>
          </a:graphicData>
        </a:graphic>
      </p:graphicFrame>
      <p:pic>
        <p:nvPicPr>
          <p:cNvPr id="461" name="latex-image-1.pdf" descr="latex-image-1.pdf"/>
          <p:cNvPicPr>
            <a:picLocks noChangeAspect="1"/>
          </p:cNvPicPr>
          <p:nvPr/>
        </p:nvPicPr>
        <p:blipFill>
          <a:blip r:embed="rId3"/>
          <a:stretch>
            <a:fillRect/>
          </a:stretch>
        </p:blipFill>
        <p:spPr>
          <a:xfrm>
            <a:off x="11799555" y="6896993"/>
            <a:ext cx="4808795" cy="717443"/>
          </a:xfrm>
          <a:prstGeom prst="rect">
            <a:avLst/>
          </a:prstGeom>
          <a:ln w="12700">
            <a:miter lim="400000"/>
          </a:ln>
        </p:spPr>
      </p:pic>
      <p:pic>
        <p:nvPicPr>
          <p:cNvPr id="462" name="pasted-image.pdf" descr="pasted-image.pdf"/>
          <p:cNvPicPr>
            <a:picLocks noChangeAspect="1"/>
          </p:cNvPicPr>
          <p:nvPr/>
        </p:nvPicPr>
        <p:blipFill>
          <a:blip r:embed="rId4"/>
          <a:stretch>
            <a:fillRect/>
          </a:stretch>
        </p:blipFill>
        <p:spPr>
          <a:xfrm>
            <a:off x="11817381" y="3674591"/>
            <a:ext cx="528576" cy="780277"/>
          </a:xfrm>
          <a:prstGeom prst="rect">
            <a:avLst/>
          </a:prstGeom>
          <a:ln w="12700">
            <a:miter lim="400000"/>
          </a:ln>
        </p:spPr>
      </p:pic>
      <p:pic>
        <p:nvPicPr>
          <p:cNvPr id="463" name="pasted-image.pdf" descr="pasted-image.pdf"/>
          <p:cNvPicPr>
            <a:picLocks noChangeAspect="1"/>
          </p:cNvPicPr>
          <p:nvPr/>
        </p:nvPicPr>
        <p:blipFill>
          <a:blip r:embed="rId5"/>
          <a:stretch>
            <a:fillRect/>
          </a:stretch>
        </p:blipFill>
        <p:spPr>
          <a:xfrm>
            <a:off x="11729290" y="5024755"/>
            <a:ext cx="704764" cy="729937"/>
          </a:xfrm>
          <a:prstGeom prst="rect">
            <a:avLst/>
          </a:prstGeom>
          <a:ln w="12700">
            <a:miter lim="400000"/>
          </a:ln>
        </p:spPr>
      </p:pic>
      <p:sp>
        <p:nvSpPr>
          <p:cNvPr id="464" name="Automatic assessment of open response answers (Peer assessment)"/>
          <p:cNvSpPr txBox="1">
            <a:spLocks noGrp="1"/>
          </p:cNvSpPr>
          <p:nvPr>
            <p:ph type="title"/>
          </p:nvPr>
        </p:nvSpPr>
        <p:spPr>
          <a:xfrm>
            <a:off x="3989969" y="679177"/>
            <a:ext cx="16814665" cy="2053886"/>
          </a:xfrm>
          <a:prstGeom prst="rect">
            <a:avLst/>
          </a:prstGeom>
          <a:ln w="25400">
            <a:solidFill>
              <a:srgbClr val="008F00"/>
            </a:solidFill>
          </a:ln>
        </p:spPr>
        <p:txBody>
          <a:bodyPr lIns="96653" tIns="96653" rIns="96653" bIns="96653" anchor="ctr">
            <a:noAutofit/>
          </a:bodyPr>
          <a:lstStyle/>
          <a:p>
            <a:pPr>
              <a:defRPr sz="4600"/>
            </a:pPr>
            <a:r>
              <a:t>Automatic assessment of open response answers</a:t>
            </a:r>
            <a:br/>
            <a:r>
              <a:t>(Peer assessment)</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8" name="vectorial representation…"/>
          <p:cNvSpPr txBox="1">
            <a:spLocks noGrp="1"/>
          </p:cNvSpPr>
          <p:nvPr>
            <p:ph type="body" idx="1"/>
          </p:nvPr>
        </p:nvSpPr>
        <p:spPr>
          <a:xfrm>
            <a:off x="3926544" y="3237470"/>
            <a:ext cx="16310255" cy="8970013"/>
          </a:xfrm>
          <a:prstGeom prst="rect">
            <a:avLst/>
          </a:prstGeom>
        </p:spPr>
        <p:txBody>
          <a:bodyPr>
            <a:normAutofit/>
          </a:bodyPr>
          <a:lstStyle/>
          <a:p>
            <a:pPr marL="0" indent="0">
              <a:buSzTx/>
              <a:buNone/>
              <a:defRPr>
                <a:latin typeface="Mistral"/>
                <a:ea typeface="Mistral"/>
                <a:cs typeface="Mistral"/>
                <a:sym typeface="Mistral"/>
              </a:defRPr>
            </a:pPr>
            <a:r>
              <a:rPr>
                <a:latin typeface="Calibri"/>
                <a:ea typeface="Calibri"/>
                <a:cs typeface="Calibri"/>
                <a:sym typeface="Calibri"/>
              </a:rPr>
              <a:t>vectorial representation</a:t>
            </a:r>
          </a:p>
          <a:p>
            <a:pPr marL="1061764" lvl="1" indent="-530881">
              <a:spcBef>
                <a:spcPts val="1255"/>
              </a:spcBef>
              <a:buClr>
                <a:srgbClr val="434ED6"/>
              </a:buClr>
              <a:buFont typeface="Tahoma"/>
              <a:buChar char="•"/>
              <a:defRPr sz="3800"/>
            </a:pPr>
            <a:r>
              <a:t>the simple </a:t>
            </a:r>
            <a:r>
              <a:rPr i="1"/>
              <a:t>binary</a:t>
            </a:r>
            <a:r>
              <a:t> codification </a:t>
            </a:r>
          </a:p>
          <a:p>
            <a:pPr marL="1061764" lvl="1" indent="-530881">
              <a:spcBef>
                <a:spcPts val="1255"/>
              </a:spcBef>
              <a:buClr>
                <a:srgbClr val="434ED6"/>
              </a:buClr>
              <a:buFont typeface="Tahoma"/>
              <a:buChar char="•"/>
              <a:defRPr sz="3800"/>
            </a:pPr>
            <a:endParaRPr/>
          </a:p>
          <a:p>
            <a:pPr marL="1061764" lvl="1" indent="-530881">
              <a:spcBef>
                <a:spcPts val="1255"/>
              </a:spcBef>
              <a:buClr>
                <a:srgbClr val="434ED6"/>
              </a:buClr>
              <a:buFont typeface="Tahoma"/>
              <a:buChar char="•"/>
              <a:defRPr sz="3800"/>
            </a:pPr>
            <a:endParaRPr/>
          </a:p>
          <a:p>
            <a:pPr marL="1061764" lvl="1" indent="-530881">
              <a:spcBef>
                <a:spcPts val="1255"/>
              </a:spcBef>
              <a:buClr>
                <a:srgbClr val="434ED6"/>
              </a:buClr>
              <a:buFont typeface="Tahoma"/>
              <a:buChar char="•"/>
              <a:defRPr sz="3800"/>
            </a:pPr>
            <a:endParaRPr/>
          </a:p>
          <a:p>
            <a:pPr marL="0" lvl="4" indent="1274116">
              <a:spcBef>
                <a:spcPts val="1255"/>
              </a:spcBef>
              <a:buSzTx/>
              <a:buNone/>
              <a:defRPr sz="3800"/>
            </a:pPr>
            <a:r>
              <a:t>collaborative filter</a:t>
            </a:r>
          </a:p>
          <a:p>
            <a:pPr marL="0" indent="0">
              <a:buSzTx/>
              <a:buNone/>
              <a:defRPr>
                <a:latin typeface="Mistral"/>
                <a:ea typeface="Mistral"/>
                <a:cs typeface="Mistral"/>
                <a:sym typeface="Mistral"/>
              </a:defRPr>
            </a:pPr>
            <a:endParaRPr sz="2230"/>
          </a:p>
        </p:txBody>
      </p:sp>
      <p:sp>
        <p:nvSpPr>
          <p:cNvPr id="469" name="Número de diapositiva"/>
          <p:cNvSpPr txBox="1">
            <a:spLocks noGrp="1"/>
          </p:cNvSpPr>
          <p:nvPr>
            <p:ph type="sldNum" sz="quarter" idx="2"/>
          </p:nvPr>
        </p:nvSpPr>
        <p:spPr>
          <a:xfrm>
            <a:off x="22535317" y="12788269"/>
            <a:ext cx="419857" cy="47448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32</a:t>
            </a:fld>
            <a:endParaRPr/>
          </a:p>
        </p:txBody>
      </p:sp>
      <p:pic>
        <p:nvPicPr>
          <p:cNvPr id="470" name="pasted-image.pdf" descr="pasted-image.pdf"/>
          <p:cNvPicPr>
            <a:picLocks noChangeAspect="1"/>
          </p:cNvPicPr>
          <p:nvPr/>
        </p:nvPicPr>
        <p:blipFill>
          <a:blip r:embed="rId3"/>
          <a:stretch>
            <a:fillRect/>
          </a:stretch>
        </p:blipFill>
        <p:spPr>
          <a:xfrm>
            <a:off x="8164710" y="6077670"/>
            <a:ext cx="7833924" cy="1851656"/>
          </a:xfrm>
          <a:prstGeom prst="rect">
            <a:avLst/>
          </a:prstGeom>
          <a:ln w="12700">
            <a:miter lim="400000"/>
          </a:ln>
        </p:spPr>
      </p:pic>
      <p:sp>
        <p:nvSpPr>
          <p:cNvPr id="471" name="Automatic assessment of open response answers (Peer assessment)"/>
          <p:cNvSpPr txBox="1">
            <a:spLocks noGrp="1"/>
          </p:cNvSpPr>
          <p:nvPr>
            <p:ph type="title"/>
          </p:nvPr>
        </p:nvSpPr>
        <p:spPr>
          <a:xfrm>
            <a:off x="3989969" y="679177"/>
            <a:ext cx="16814665" cy="2053886"/>
          </a:xfrm>
          <a:prstGeom prst="rect">
            <a:avLst/>
          </a:prstGeom>
          <a:ln w="25400">
            <a:solidFill>
              <a:srgbClr val="008F00"/>
            </a:solidFill>
          </a:ln>
        </p:spPr>
        <p:txBody>
          <a:bodyPr lIns="96653" tIns="96653" rIns="96653" bIns="96653" anchor="ctr">
            <a:noAutofit/>
          </a:bodyPr>
          <a:lstStyle/>
          <a:p>
            <a:pPr>
              <a:defRPr sz="4600"/>
            </a:pPr>
            <a:r>
              <a:t>Automatic assessment of open response answers</a:t>
            </a:r>
            <a:br/>
            <a:r>
              <a:t>(Peer assessment)</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5" name="Add content-based codification in answers…"/>
          <p:cNvSpPr txBox="1">
            <a:spLocks noGrp="1"/>
          </p:cNvSpPr>
          <p:nvPr>
            <p:ph type="body" idx="1"/>
          </p:nvPr>
        </p:nvSpPr>
        <p:spPr>
          <a:xfrm>
            <a:off x="3926544" y="3237470"/>
            <a:ext cx="16310255" cy="8970013"/>
          </a:xfrm>
          <a:prstGeom prst="rect">
            <a:avLst/>
          </a:prstGeom>
        </p:spPr>
        <p:txBody>
          <a:bodyPr/>
          <a:lstStyle/>
          <a:p>
            <a:pPr marL="0" indent="0">
              <a:buSzTx/>
              <a:buNone/>
              <a:defRPr>
                <a:latin typeface="Mistral"/>
                <a:ea typeface="Mistral"/>
                <a:cs typeface="Mistral"/>
                <a:sym typeface="Mistral"/>
              </a:defRPr>
            </a:pPr>
            <a:r>
              <a:rPr>
                <a:latin typeface="Calibri"/>
                <a:ea typeface="Calibri"/>
                <a:cs typeface="Calibri"/>
                <a:sym typeface="Calibri"/>
              </a:rPr>
              <a:t>Add </a:t>
            </a:r>
            <a:r>
              <a:rPr b="1">
                <a:solidFill>
                  <a:srgbClr val="0433FF"/>
                </a:solidFill>
                <a:latin typeface="Calibri"/>
                <a:ea typeface="Calibri"/>
                <a:cs typeface="Calibri"/>
                <a:sym typeface="Calibri"/>
              </a:rPr>
              <a:t>content-based</a:t>
            </a:r>
            <a:r>
              <a:rPr>
                <a:latin typeface="Calibri"/>
                <a:ea typeface="Calibri"/>
                <a:cs typeface="Calibri"/>
                <a:sym typeface="Calibri"/>
              </a:rPr>
              <a:t> codification in answers</a:t>
            </a:r>
          </a:p>
          <a:p>
            <a:pPr marL="1061764" lvl="1" indent="-530881">
              <a:spcBef>
                <a:spcPts val="1255"/>
              </a:spcBef>
              <a:buClr>
                <a:srgbClr val="434ED6"/>
              </a:buClr>
              <a:buFont typeface="Tahoma"/>
              <a:buChar char="•"/>
              <a:defRPr sz="3800"/>
            </a:pPr>
            <a:endParaRPr>
              <a:latin typeface="Calibri"/>
              <a:ea typeface="Calibri"/>
              <a:cs typeface="Calibri"/>
              <a:sym typeface="Calibri"/>
            </a:endParaRPr>
          </a:p>
          <a:p>
            <a:pPr marL="1061764" lvl="1" indent="-530881">
              <a:spcBef>
                <a:spcPts val="1255"/>
              </a:spcBef>
              <a:buClr>
                <a:srgbClr val="434ED6"/>
              </a:buClr>
              <a:buFont typeface="Tahoma"/>
              <a:buChar char="•"/>
              <a:defRPr sz="3800"/>
            </a:pPr>
            <a:endParaRPr>
              <a:latin typeface="Calibri"/>
              <a:ea typeface="Calibri"/>
              <a:cs typeface="Calibri"/>
              <a:sym typeface="Calibri"/>
            </a:endParaRPr>
          </a:p>
          <a:p>
            <a:pPr marL="0" indent="0">
              <a:spcBef>
                <a:spcPts val="1255"/>
              </a:spcBef>
              <a:buSzTx/>
              <a:buNone/>
              <a:defRPr sz="3800"/>
            </a:pPr>
            <a:r>
              <a:t>where</a:t>
            </a:r>
          </a:p>
          <a:p>
            <a:pPr marL="1061764" lvl="1" indent="-530881">
              <a:spcBef>
                <a:spcPts val="1255"/>
              </a:spcBef>
              <a:buClr>
                <a:srgbClr val="434ED6"/>
              </a:buClr>
              <a:buFont typeface="Tahoma"/>
              <a:buChar char="•"/>
              <a:defRPr sz="3800"/>
            </a:pPr>
            <a:endParaRPr/>
          </a:p>
          <a:p>
            <a:pPr marL="1061764" lvl="1" indent="-530881">
              <a:spcBef>
                <a:spcPts val="1255"/>
              </a:spcBef>
              <a:buClr>
                <a:srgbClr val="434ED6"/>
              </a:buClr>
              <a:buFont typeface="Tahoma"/>
              <a:buChar char="•"/>
              <a:defRPr sz="3800"/>
            </a:pPr>
            <a:endParaRPr/>
          </a:p>
          <a:p>
            <a:pPr marL="0" indent="0">
              <a:spcBef>
                <a:spcPts val="1255"/>
              </a:spcBef>
              <a:buSzTx/>
              <a:buNone/>
              <a:defRPr sz="3800"/>
            </a:pPr>
            <a:endParaRPr/>
          </a:p>
          <a:p>
            <a:pPr marL="0" indent="0">
              <a:buSzTx/>
              <a:buNone/>
              <a:defRPr>
                <a:latin typeface="Mistral"/>
                <a:ea typeface="Mistral"/>
                <a:cs typeface="Mistral"/>
                <a:sym typeface="Mistral"/>
              </a:defRPr>
            </a:pPr>
            <a:endParaRPr sz="2230"/>
          </a:p>
        </p:txBody>
      </p:sp>
      <p:sp>
        <p:nvSpPr>
          <p:cNvPr id="476" name="Número de diapositiva"/>
          <p:cNvSpPr txBox="1">
            <a:spLocks noGrp="1"/>
          </p:cNvSpPr>
          <p:nvPr>
            <p:ph type="sldNum" sz="quarter" idx="2"/>
          </p:nvPr>
        </p:nvSpPr>
        <p:spPr>
          <a:xfrm>
            <a:off x="22535317" y="12788269"/>
            <a:ext cx="419857" cy="474487"/>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33</a:t>
            </a:fld>
            <a:endParaRPr/>
          </a:p>
        </p:txBody>
      </p:sp>
      <p:pic>
        <p:nvPicPr>
          <p:cNvPr id="477" name="pasted-image.pdf" descr="pasted-image.pdf"/>
          <p:cNvPicPr>
            <a:picLocks noChangeAspect="1"/>
          </p:cNvPicPr>
          <p:nvPr/>
        </p:nvPicPr>
        <p:blipFill>
          <a:blip r:embed="rId3"/>
          <a:stretch>
            <a:fillRect/>
          </a:stretch>
        </p:blipFill>
        <p:spPr>
          <a:xfrm>
            <a:off x="4570325" y="5122630"/>
            <a:ext cx="15547633" cy="868894"/>
          </a:xfrm>
          <a:prstGeom prst="rect">
            <a:avLst/>
          </a:prstGeom>
          <a:ln w="12700">
            <a:miter lim="400000"/>
          </a:ln>
        </p:spPr>
      </p:pic>
      <p:pic>
        <p:nvPicPr>
          <p:cNvPr id="478" name="pasted-image.pdf" descr="pasted-image.pdf"/>
          <p:cNvPicPr>
            <a:picLocks noChangeAspect="1"/>
          </p:cNvPicPr>
          <p:nvPr/>
        </p:nvPicPr>
        <p:blipFill>
          <a:blip r:embed="rId4"/>
          <a:stretch>
            <a:fillRect/>
          </a:stretch>
        </p:blipFill>
        <p:spPr>
          <a:xfrm>
            <a:off x="7880448" y="7645828"/>
            <a:ext cx="7252791" cy="1696219"/>
          </a:xfrm>
          <a:prstGeom prst="rect">
            <a:avLst/>
          </a:prstGeom>
          <a:ln w="12700">
            <a:miter lim="400000"/>
          </a:ln>
        </p:spPr>
      </p:pic>
      <p:sp>
        <p:nvSpPr>
          <p:cNvPr id="479" name="Automatic assessment of open response answers (Peer assessment)"/>
          <p:cNvSpPr txBox="1">
            <a:spLocks noGrp="1"/>
          </p:cNvSpPr>
          <p:nvPr>
            <p:ph type="title"/>
          </p:nvPr>
        </p:nvSpPr>
        <p:spPr>
          <a:xfrm>
            <a:off x="3989969" y="679177"/>
            <a:ext cx="16814665" cy="2053886"/>
          </a:xfrm>
          <a:prstGeom prst="rect">
            <a:avLst/>
          </a:prstGeom>
          <a:ln w="25400">
            <a:solidFill>
              <a:srgbClr val="008F00"/>
            </a:solidFill>
          </a:ln>
        </p:spPr>
        <p:txBody>
          <a:bodyPr lIns="96653" tIns="96653" rIns="96653" bIns="96653" anchor="ctr">
            <a:noAutofit/>
          </a:bodyPr>
          <a:lstStyle/>
          <a:p>
            <a:pPr>
              <a:defRPr sz="4600"/>
            </a:pPr>
            <a:r>
              <a:t>Automatic assessment of open response answers</a:t>
            </a:r>
            <a:br/>
            <a:r>
              <a:t>(Peer assessment)</a:t>
            </a:r>
          </a:p>
        </p:txBody>
      </p:sp>
      <p:grpSp>
        <p:nvGrpSpPr>
          <p:cNvPr id="482" name="1-hot"/>
          <p:cNvGrpSpPr/>
          <p:nvPr/>
        </p:nvGrpSpPr>
        <p:grpSpPr>
          <a:xfrm>
            <a:off x="4730229" y="10058491"/>
            <a:ext cx="2142208" cy="1433520"/>
            <a:chOff x="0" y="0"/>
            <a:chExt cx="1537259" cy="1028700"/>
          </a:xfrm>
        </p:grpSpPr>
        <p:sp>
          <p:nvSpPr>
            <p:cNvPr id="481" name="1-hot"/>
            <p:cNvSpPr txBox="1"/>
            <p:nvPr/>
          </p:nvSpPr>
          <p:spPr>
            <a:xfrm>
              <a:off x="387193" y="289127"/>
              <a:ext cx="762877" cy="450449"/>
            </a:xfrm>
            <a:prstGeom prst="rect">
              <a:avLst/>
            </a:prstGeom>
            <a:noFill/>
            <a:ln>
              <a:noFill/>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numCol="1" anchor="ctr">
              <a:spAutoFit/>
            </a:bodyPr>
            <a:lstStyle/>
            <a:p>
              <a:r>
                <a:rPr sz="3150"/>
                <a:t>1-hot</a:t>
              </a:r>
            </a:p>
          </p:txBody>
        </p:sp>
        <p:pic>
          <p:nvPicPr>
            <p:cNvPr id="480" name="1-hot 1-hot" descr="1-hot 1-hot"/>
            <p:cNvPicPr>
              <a:picLocks/>
            </p:cNvPicPr>
            <p:nvPr/>
          </p:nvPicPr>
          <p:blipFill>
            <a:blip r:embed="rId5"/>
            <a:stretch>
              <a:fillRect/>
            </a:stretch>
          </p:blipFill>
          <p:spPr>
            <a:xfrm>
              <a:off x="0" y="0"/>
              <a:ext cx="1537259" cy="1028700"/>
            </a:xfrm>
            <a:prstGeom prst="rect">
              <a:avLst/>
            </a:prstGeom>
            <a:effectLst/>
          </p:spPr>
        </p:pic>
      </p:grpSp>
      <p:sp>
        <p:nvSpPr>
          <p:cNvPr id="483" name="Línea"/>
          <p:cNvSpPr/>
          <p:nvPr/>
        </p:nvSpPr>
        <p:spPr>
          <a:xfrm>
            <a:off x="14494391" y="6357380"/>
            <a:ext cx="2498643" cy="3184746"/>
          </a:xfrm>
          <a:prstGeom prst="line">
            <a:avLst/>
          </a:prstGeom>
          <a:ln w="25400">
            <a:solidFill>
              <a:srgbClr val="000000"/>
            </a:solidFill>
            <a:miter lim="400000"/>
            <a:tailEnd type="triangle"/>
          </a:ln>
        </p:spPr>
        <p:txBody>
          <a:bodyPr lIns="70791" tIns="70791" rIns="70791" bIns="70791" anchor="ctr"/>
          <a:lstStyle/>
          <a:p>
            <a:pPr>
              <a:defRPr sz="2400"/>
            </a:pPr>
            <a:endParaRPr sz="3345"/>
          </a:p>
        </p:txBody>
      </p:sp>
      <p:sp>
        <p:nvSpPr>
          <p:cNvPr id="484" name="Rectángulo"/>
          <p:cNvSpPr/>
          <p:nvPr/>
        </p:nvSpPr>
        <p:spPr>
          <a:xfrm>
            <a:off x="10318678" y="5060801"/>
            <a:ext cx="5730532" cy="1143129"/>
          </a:xfrm>
          <a:prstGeom prst="rect">
            <a:avLst/>
          </a:prstGeom>
          <a:ln w="12700">
            <a:solidFill>
              <a:srgbClr val="000000"/>
            </a:solidFill>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FFFF"/>
                </a:solidFill>
              </a:defRPr>
            </a:pPr>
            <a:endParaRPr sz="3345"/>
          </a:p>
        </p:txBody>
      </p:sp>
      <p:grpSp>
        <p:nvGrpSpPr>
          <p:cNvPr id="487" name="BoW"/>
          <p:cNvGrpSpPr/>
          <p:nvPr/>
        </p:nvGrpSpPr>
        <p:grpSpPr>
          <a:xfrm>
            <a:off x="17062940" y="9758238"/>
            <a:ext cx="2035812" cy="1433520"/>
            <a:chOff x="0" y="0"/>
            <a:chExt cx="1460907" cy="1028700"/>
          </a:xfrm>
        </p:grpSpPr>
        <p:sp>
          <p:nvSpPr>
            <p:cNvPr id="486" name="BoW"/>
            <p:cNvSpPr txBox="1"/>
            <p:nvPr/>
          </p:nvSpPr>
          <p:spPr>
            <a:xfrm>
              <a:off x="373172" y="289127"/>
              <a:ext cx="714563" cy="450449"/>
            </a:xfrm>
            <a:prstGeom prst="rect">
              <a:avLst/>
            </a:prstGeom>
            <a:noFill/>
            <a:ln>
              <a:noFill/>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70791" tIns="70791" rIns="70791" bIns="70791" numCol="1" anchor="ctr">
              <a:spAutoFit/>
            </a:bodyPr>
            <a:lstStyle/>
            <a:p>
              <a:r>
                <a:rPr sz="3150"/>
                <a:t>BoW</a:t>
              </a:r>
            </a:p>
          </p:txBody>
        </p:sp>
        <p:pic>
          <p:nvPicPr>
            <p:cNvPr id="485" name="BoW BoW" descr="BoW BoW"/>
            <p:cNvPicPr>
              <a:picLocks/>
            </p:cNvPicPr>
            <p:nvPr/>
          </p:nvPicPr>
          <p:blipFill>
            <a:blip r:embed="rId6"/>
            <a:stretch>
              <a:fillRect/>
            </a:stretch>
          </p:blipFill>
          <p:spPr>
            <a:xfrm>
              <a:off x="0" y="0"/>
              <a:ext cx="1460907" cy="1028700"/>
            </a:xfrm>
            <a:prstGeom prst="rect">
              <a:avLst/>
            </a:prstGeom>
            <a:effectLst/>
          </p:spPr>
        </p:pic>
      </p:grpSp>
      <p:sp>
        <p:nvSpPr>
          <p:cNvPr id="488" name="Línea"/>
          <p:cNvSpPr/>
          <p:nvPr/>
        </p:nvSpPr>
        <p:spPr>
          <a:xfrm flipH="1">
            <a:off x="6155404" y="6357381"/>
            <a:ext cx="1109368" cy="3486669"/>
          </a:xfrm>
          <a:prstGeom prst="line">
            <a:avLst/>
          </a:prstGeom>
          <a:ln w="25400">
            <a:solidFill>
              <a:srgbClr val="000000"/>
            </a:solidFill>
            <a:miter lim="400000"/>
            <a:tailEnd type="triangle"/>
          </a:ln>
        </p:spPr>
        <p:txBody>
          <a:bodyPr lIns="70791" tIns="70791" rIns="70791" bIns="70791" anchor="ctr"/>
          <a:lstStyle/>
          <a:p>
            <a:pPr>
              <a:defRPr sz="2400"/>
            </a:pPr>
            <a:endParaRPr sz="3345"/>
          </a:p>
        </p:txBody>
      </p:sp>
      <p:sp>
        <p:nvSpPr>
          <p:cNvPr id="489" name="Rectángulo"/>
          <p:cNvSpPr/>
          <p:nvPr/>
        </p:nvSpPr>
        <p:spPr>
          <a:xfrm>
            <a:off x="6021477" y="4985510"/>
            <a:ext cx="3990463" cy="1143129"/>
          </a:xfrm>
          <a:prstGeom prst="rect">
            <a:avLst/>
          </a:prstGeom>
          <a:ln w="12700">
            <a:solidFill>
              <a:srgbClr val="000000"/>
            </a:solidFill>
            <a:miter lim="400000"/>
          </a:ln>
          <a:effectLst>
            <a:outerShdw blurRad="38100" dist="25400" dir="5400000" rotWithShape="0">
              <a:srgbClr val="000000">
                <a:alpha val="50000"/>
              </a:srgbClr>
            </a:outerShdw>
          </a:effectLst>
        </p:spPr>
        <p:txBody>
          <a:bodyPr lIns="70791" tIns="70791" rIns="70791" bIns="70791" anchor="ctr"/>
          <a:lstStyle/>
          <a:p>
            <a:pPr>
              <a:defRPr sz="2400">
                <a:solidFill>
                  <a:srgbClr val="FFFFFF"/>
                </a:solidFill>
              </a:defRPr>
            </a:pPr>
            <a:endParaRPr sz="3345"/>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20</TotalTime>
  <Words>2012</Words>
  <Application>Microsoft Macintosh PowerPoint</Application>
  <PresentationFormat>Personalizado</PresentationFormat>
  <Paragraphs>462</Paragraphs>
  <Slides>33</Slides>
  <Notes>13</Notes>
  <HiddenSlides>6</HiddenSlides>
  <MMClips>0</MMClips>
  <ScaleCrop>false</ScaleCrop>
  <HeadingPairs>
    <vt:vector size="6" baseType="variant">
      <vt:variant>
        <vt:lpstr>Fuentes usadas</vt:lpstr>
      </vt:variant>
      <vt:variant>
        <vt:i4>16</vt:i4>
      </vt:variant>
      <vt:variant>
        <vt:lpstr>Tema</vt:lpstr>
      </vt:variant>
      <vt:variant>
        <vt:i4>2</vt:i4>
      </vt:variant>
      <vt:variant>
        <vt:lpstr>Títulos de diapositiva</vt:lpstr>
      </vt:variant>
      <vt:variant>
        <vt:i4>33</vt:i4>
      </vt:variant>
    </vt:vector>
  </HeadingPairs>
  <TitlesOfParts>
    <vt:vector size="51" baseType="lpstr">
      <vt:lpstr>Abadi MT Condensed Light</vt:lpstr>
      <vt:lpstr>Arial</vt:lpstr>
      <vt:lpstr>Avenir</vt:lpstr>
      <vt:lpstr>Calibri</vt:lpstr>
      <vt:lpstr>Cambria Math</vt:lpstr>
      <vt:lpstr>Helvetica</vt:lpstr>
      <vt:lpstr>Helvetica Light</vt:lpstr>
      <vt:lpstr>Helvetica Neue</vt:lpstr>
      <vt:lpstr>Helvetica Neue Light</vt:lpstr>
      <vt:lpstr>HELVETICA NEUE MEDIUM</vt:lpstr>
      <vt:lpstr>HELVETICA NEUE MEDIUM</vt:lpstr>
      <vt:lpstr>Noteworthy Bold</vt:lpstr>
      <vt:lpstr>Tahoma</vt:lpstr>
      <vt:lpstr>Times New Roman</vt:lpstr>
      <vt:lpstr>Verdana</vt:lpstr>
      <vt:lpstr>Wingdings</vt:lpstr>
      <vt:lpstr>White</vt:lpstr>
      <vt:lpstr>1_White</vt:lpstr>
      <vt:lpstr>6. Representaciones Vectoriales</vt:lpstr>
      <vt:lpstr>Continuous/Discrete</vt:lpstr>
      <vt:lpstr>Vectors</vt:lpstr>
      <vt:lpstr>Continuous</vt:lpstr>
      <vt:lpstr>Consumer preferences of food products</vt:lpstr>
      <vt:lpstr>Consumer preferences of food products</vt:lpstr>
      <vt:lpstr>Consumer preferences of food products</vt:lpstr>
      <vt:lpstr>Consumer preferences of food products</vt:lpstr>
      <vt:lpstr>Discrete</vt:lpstr>
      <vt:lpstr>Discrete, n-hot: Text Representation</vt:lpstr>
      <vt:lpstr>Document classification</vt:lpstr>
      <vt:lpstr>Document classification</vt:lpstr>
      <vt:lpstr>Dealing with 2 Documents </vt:lpstr>
      <vt:lpstr>Discrete, n-hot: Text Representation</vt:lpstr>
      <vt:lpstr>Dealing with 2 Documents </vt:lpstr>
      <vt:lpstr>Recommender Systems </vt:lpstr>
      <vt:lpstr>Recommender Systems</vt:lpstr>
      <vt:lpstr>Recommender Systems: Users and Items representations</vt:lpstr>
      <vt:lpstr>1-hot &amp; n-hot examples</vt:lpstr>
      <vt:lpstr>Recommender Systems: Users and Items representations</vt:lpstr>
      <vt:lpstr>Recommender Systems: Users and Items representations</vt:lpstr>
      <vt:lpstr>1-hot embedding </vt:lpstr>
      <vt:lpstr>Recommender Systems: Users and Items representations</vt:lpstr>
      <vt:lpstr>Recommender Systems: Users and Items representations</vt:lpstr>
      <vt:lpstr>Recommender Systems</vt:lpstr>
      <vt:lpstr>Matrix factorization</vt:lpstr>
      <vt:lpstr>Additional examples</vt:lpstr>
      <vt:lpstr>Mixed</vt:lpstr>
      <vt:lpstr>Consumer preferences of food products</vt:lpstr>
      <vt:lpstr>Preferencias</vt:lpstr>
      <vt:lpstr>Automatic assessment of open response answers (Peer assessment)</vt:lpstr>
      <vt:lpstr>Automatic assessment of open response answers (Peer assessment)</vt:lpstr>
      <vt:lpstr>Automatic assessment of open response answers (Peer assessment)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ANTONIO BAHAMONDE RIONDA</cp:lastModifiedBy>
  <cp:revision>2</cp:revision>
  <dcterms:modified xsi:type="dcterms:W3CDTF">2025-09-10T10:12:52Z</dcterms:modified>
</cp:coreProperties>
</file>